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4213D"/>
                </a:solidFill>
                <a:latin typeface="Arial"/>
              </a:defRPr>
            </a:pPr>
            <a:r>
              <a:rPr sz="1000" b="0" i="0" u="none" strike="noStrike">
                <a:solidFill>
                  <a:srgbClr val="14213D"/>
                </a:solidFill>
                <a:latin typeface="Arial"/>
              </a:rPr>
              <a:t>Ratios, 21-case fixture (1.0 = target met)</a:t>
            </a:r>
          </a:p>
        </c:rich>
      </c:tx>
      <c:layout/>
      <c:overlay val="0"/>
    </c:title>
    <c:autoTitleDeleted val="0"/>
    <c:plotArea>
      <c:layout/>
      <c:barChart>
        <c:barDir val="bar"/>
        <c:grouping val="clustered"/>
        <c:varyColors val="0"/>
        <c:ser>
          <c:idx val="0"/>
          <c:order val="0"/>
          <c:tx>
            <c:strRef>
              <c:f>Sheet1!$B$1</c:f>
              <c:strCache>
                <c:ptCount val="1"/>
                <c:pt idx="0">
                  <c:v>Value</c:v>
                </c:pt>
              </c:strCache>
            </c:strRef>
          </c:tx>
          <c:spPr>
            <a:solidFill>
              <a:srgbClr val="2EC4B6"/>
            </a:solidFill>
            <a:effectLst/>
          </c:spPr>
          <c:invertIfNegative val="0"/>
          <c:dLbls>
            <c:numFmt formatCode="0.00" sourceLinked="0"/>
            <c:txPr>
              <a:bodyPr/>
              <a:lstStyle/>
              <a:p>
                <a:pPr>
                  <a:defRPr b="0" i="0" strike="noStrike" sz="900" u="none">
                    <a:solidFill>
                      <a:srgbClr val="1B2A41"/>
                    </a:solidFill>
                    <a:latin typeface="Arial"/>
                  </a:defRPr>
                </a:pPr>
              </a:p>
            </c:txPr>
            <c:showLegendKey val="0"/>
            <c:showVal val="1"/>
            <c:showCatName val="0"/>
            <c:showSerName val="0"/>
            <c:showPercent val="0"/>
            <c:showBubbleSize val="0"/>
            <c:showLeaderLines val="0"/>
          </c:dLbls>
          <c:cat>
            <c:multiLvlStrRef>
              <c:f>Sheet1!$A$2:$A$6</c:f>
              <c:multiLvlStrCache>
                <c:ptCount val="5"/>
                <c:lvl>
                  <c:pt idx="0">
                    <c:v>Recall@5</c:v>
                  </c:pt>
                  <c:pt idx="1">
                    <c:v>Citation faithfulness</c:v>
                  </c:pt>
                  <c:pt idx="2">
                    <c:v>Refusal accuracy</c:v>
                  </c:pt>
                  <c:pt idx="3">
                    <c:v>Answer safety</c:v>
                  </c:pt>
                  <c:pt idx="4">
                    <c:v>Audit completeness</c:v>
                  </c:pt>
                </c:lvl>
              </c:multiLvlStrCache>
            </c:multiLvlStrRef>
          </c:cat>
          <c:val>
            <c:numRef>
              <c:f>Sheet1!$B$2:$B$6</c:f>
              <c:numCache>
                <c:formatCode>General</c:formatCode>
                <c:ptCount val="5"/>
                <c:pt idx="0">
                  <c:v>1</c:v>
                </c:pt>
                <c:pt idx="1">
                  <c:v>1</c:v>
                </c:pt>
                <c:pt idx="2">
                  <c:v>1</c:v>
                </c:pt>
                <c:pt idx="3">
                  <c:v>1</c:v>
                </c:pt>
                <c:pt idx="4">
                  <c:v>1</c:v>
                </c:pt>
              </c:numCache>
            </c:numRef>
          </c:val>
        </c:ser>
        <c:dLbls>
          <c:numFmt formatCode="0.00" sourceLinked="0"/>
          <c:txPr>
            <a:bodyPr/>
            <a:lstStyle/>
            <a:p>
              <a:pPr>
                <a:defRPr b="0" i="0" strike="noStrike" sz="900" u="none">
                  <a:solidFill>
                    <a:srgbClr val="1B2A41"/>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1B2A41"/>
                </a:solidFill>
                <a:latin typeface="Arial"/>
              </a:defRPr>
            </a:pPr>
            <a:endParaRPr lang="en-US"/>
          </a:p>
        </c:txPr>
        <c:crossAx val="2094734552"/>
        <c:crosses val="autoZero"/>
        <c:auto val="1"/>
        <c:lblAlgn val="ctr"/>
        <c:noMultiLvlLbl val="1"/>
      </c:catAx>
      <c:valAx>
        <c:axId val="2094734552"/>
        <c:scaling>
          <c:orientation val="minMax"/>
          <c:max val="1.1"/>
          <c:min val="0"/>
        </c:scaling>
        <c:delete val="0"/>
        <c:axPos val="b"/>
        <c:majorGridlines>
          <c:spPr>
            <a:ln w="6350" cap="flat">
              <a:solidFill>
                <a:srgbClr val="C9D3E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B7A9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1234440"/>
            <a:ext cx="7315200" cy="82296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RegLens</a:t>
            </a:r>
            <a:endParaRPr lang="en-US" sz="4800" dirty="0"/>
          </a:p>
        </p:txBody>
      </p:sp>
      <p:sp>
        <p:nvSpPr>
          <p:cNvPr id="3" name="Text 1"/>
          <p:cNvSpPr txBox="1"/>
          <p:nvPr/>
        </p:nvSpPr>
        <p:spPr>
          <a:xfrm>
            <a:off x="548640" y="2057400"/>
            <a:ext cx="7315200" cy="457200"/>
          </a:xfrm>
          <a:prstGeom prst="rect">
            <a:avLst/>
          </a:prstGeom>
          <a:noFill/>
          <a:ln/>
        </p:spPr>
        <p:txBody>
          <a:bodyPr wrap="square" lIns="0" tIns="0" rIns="0" bIns="0" rtlCol="0" anchor="ctr"/>
          <a:lstStyle/>
          <a:p>
            <a:pPr indent="0" marL="0">
              <a:buNone/>
            </a:pPr>
            <a:r>
              <a:rPr lang="en-US" sz="2200" dirty="0">
                <a:solidFill>
                  <a:srgbClr val="DCE7F5"/>
                </a:solidFill>
                <a:latin typeface="Calibri" pitchFamily="34" charset="0"/>
                <a:ea typeface="Calibri" pitchFamily="34" charset="-122"/>
                <a:cs typeface="Calibri" pitchFamily="34" charset="-120"/>
              </a:rPr>
              <a:t>AI Systems Architecture Review</a:t>
            </a:r>
            <a:endParaRPr lang="en-US" sz="2200" dirty="0"/>
          </a:p>
        </p:txBody>
      </p:sp>
      <p:sp>
        <p:nvSpPr>
          <p:cNvPr id="4" name="Text 2"/>
          <p:cNvSpPr txBox="1"/>
          <p:nvPr/>
        </p:nvSpPr>
        <p:spPr>
          <a:xfrm>
            <a:off x="548640" y="2560320"/>
            <a:ext cx="7863840" cy="457200"/>
          </a:xfrm>
          <a:prstGeom prst="rect">
            <a:avLst/>
          </a:prstGeom>
          <a:noFill/>
          <a:ln/>
        </p:spPr>
        <p:txBody>
          <a:bodyPr wrap="square" lIns="0" tIns="0" rIns="0" bIns="0" rtlCol="0" anchor="ctr"/>
          <a:lstStyle/>
          <a:p>
            <a:pPr indent="0" marL="0">
              <a:buNone/>
            </a:pPr>
            <a:r>
              <a:rPr lang="en-US" sz="1300" i="1" dirty="0">
                <a:solidFill>
                  <a:srgbClr val="DCE7F5"/>
                </a:solidFill>
                <a:latin typeface="Calibri" pitchFamily="34" charset="0"/>
                <a:ea typeface="Calibri" pitchFamily="34" charset="-122"/>
                <a:cs typeface="Calibri" pitchFamily="34" charset="-120"/>
              </a:rPr>
              <a:t>Auditable regulatory RAG — cited answers, verified quotes, and a hash-chained trail a reviewer can replay, fully offline</a:t>
            </a:r>
            <a:endParaRPr lang="en-US" sz="1300" dirty="0"/>
          </a:p>
        </p:txBody>
      </p:sp>
      <p:sp>
        <p:nvSpPr>
          <p:cNvPr id="5" name="Text 3"/>
          <p:cNvSpPr txBox="1"/>
          <p:nvPr/>
        </p:nvSpPr>
        <p:spPr>
          <a:xfrm>
            <a:off x="548640" y="4206240"/>
            <a:ext cx="8046720" cy="274320"/>
          </a:xfrm>
          <a:prstGeom prst="rect">
            <a:avLst/>
          </a:prstGeom>
          <a:noFill/>
          <a:ln/>
        </p:spPr>
        <p:txBody>
          <a:bodyPr wrap="square" lIns="0" tIns="0" rIns="0" bIns="0" rtlCol="0" anchor="ctr"/>
          <a:lstStyle/>
          <a:p>
            <a:pPr indent="0" marL="0">
              <a:buNone/>
            </a:pPr>
            <a:r>
              <a:rPr lang="en-US" sz="1000" dirty="0">
                <a:solidFill>
                  <a:srgbClr val="6B7A90"/>
                </a:solidFill>
                <a:latin typeface="Calibri" pitchFamily="34" charset="0"/>
                <a:ea typeface="Calibri" pitchFamily="34" charset="-122"/>
                <a:cs typeface="Calibri" pitchFamily="34" charset="-120"/>
              </a:rPr>
              <a:t>Release/ship date · 12 September 2026 · Roshan Rana</a:t>
            </a:r>
            <a:endParaRPr lang="en-US" sz="1000" dirty="0"/>
          </a:p>
        </p:txBody>
      </p:sp>
      <p:sp>
        <p:nvSpPr>
          <p:cNvPr id="6" name="Shape 4"/>
          <p:cNvSpPr/>
          <p:nvPr/>
        </p:nvSpPr>
        <p:spPr>
          <a:xfrm>
            <a:off x="7498080" y="1097280"/>
            <a:ext cx="1005840" cy="1005840"/>
          </a:xfrm>
          <a:prstGeom prst="ellipse">
            <a:avLst/>
          </a:prstGeom>
          <a:solidFill>
            <a:srgbClr val="2EC4B6"/>
          </a:solidFill>
          <a:ln w="12700">
            <a:solidFill>
              <a:srgbClr val="2EC4B6"/>
            </a:solidFill>
            <a:prstDash val="solid"/>
          </a:ln>
        </p:spPr>
      </p:sp>
      <p:sp>
        <p:nvSpPr>
          <p:cNvPr id="7" name="Text 5"/>
          <p:cNvSpPr txBox="1"/>
          <p:nvPr/>
        </p:nvSpPr>
        <p:spPr>
          <a:xfrm>
            <a:off x="7498080" y="1097280"/>
            <a:ext cx="1005840" cy="1005840"/>
          </a:xfrm>
          <a:prstGeom prst="rect">
            <a:avLst/>
          </a:prstGeom>
          <a:noFill/>
          <a:ln/>
        </p:spPr>
        <p:txBody>
          <a:bodyPr wrap="square" lIns="0" tIns="0" rIns="0" bIns="0" rtlCol="0" anchor="ctr"/>
          <a:lstStyle/>
          <a:p>
            <a:pPr algn="ctr" indent="0" marL="0">
              <a:buNone/>
            </a:pPr>
            <a:r>
              <a:rPr lang="en-US" sz="4000" b="1" dirty="0">
                <a:solidFill>
                  <a:srgbClr val="14213D"/>
                </a:solidFill>
                <a:latin typeface="Cambria" pitchFamily="34" charset="0"/>
                <a:ea typeface="Cambria" pitchFamily="34" charset="-122"/>
                <a:cs typeface="Cambria" pitchFamily="34" charset="-120"/>
              </a:rPr>
              <a:t>R</a:t>
            </a:r>
            <a:endParaRPr lang="en-US" sz="4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5486400" cy="228600"/>
          </a:xfrm>
          <a:prstGeom prst="rect">
            <a:avLst/>
          </a:prstGeom>
          <a:noFill/>
          <a:ln/>
        </p:spPr>
        <p:txBody>
          <a:bodyPr wrap="square" lIns="0" tIns="0" rIns="0" bIns="0" rtlCol="0" anchor="ctr"/>
          <a:lstStyle/>
          <a:p>
            <a:pPr indent="0" marL="0">
              <a:buNone/>
            </a:pPr>
            <a:r>
              <a:rPr lang="en-US" sz="1000" b="1" spc="200" kern="0" dirty="0">
                <a:solidFill>
                  <a:srgbClr val="2EC4B6"/>
                </a:solidFill>
                <a:latin typeface="Calibri" pitchFamily="34" charset="0"/>
                <a:ea typeface="Calibri" pitchFamily="34" charset="-122"/>
                <a:cs typeface="Calibri" pitchFamily="34" charset="-120"/>
              </a:rPr>
              <a:t>OVERVIEW</a:t>
            </a:r>
            <a:endParaRPr lang="en-US" sz="1000" dirty="0"/>
          </a:p>
        </p:txBody>
      </p:sp>
      <p:sp>
        <p:nvSpPr>
          <p:cNvPr id="3" name="Text 1"/>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600" b="1" dirty="0">
                <a:solidFill>
                  <a:srgbClr val="14213D"/>
                </a:solidFill>
                <a:latin typeface="Cambria" pitchFamily="34" charset="0"/>
                <a:ea typeface="Cambria" pitchFamily="34" charset="-122"/>
                <a:cs typeface="Cambria" pitchFamily="34" charset="-120"/>
              </a:rPr>
              <a:t>Executive summary</a:t>
            </a:r>
            <a:endParaRPr lang="en-US" sz="2600" dirty="0"/>
          </a:p>
        </p:txBody>
      </p:sp>
      <p:sp>
        <p:nvSpPr>
          <p:cNvPr id="4" name="Text 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6B7A90"/>
                </a:solidFill>
                <a:latin typeface="Calibri" pitchFamily="34" charset="0"/>
                <a:ea typeface="Calibri" pitchFamily="34" charset="-122"/>
                <a:cs typeface="Calibri" pitchFamily="34" charset="-120"/>
              </a:rPr>
              <a:t>RegLens · AI Systems Architecture Review · 2</a:t>
            </a:r>
            <a:endParaRPr lang="en-US" sz="800" dirty="0"/>
          </a:p>
        </p:txBody>
      </p:sp>
      <p:sp>
        <p:nvSpPr>
          <p:cNvPr id="5" name="Shape 3"/>
          <p:cNvSpPr/>
          <p:nvPr/>
        </p:nvSpPr>
        <p:spPr>
          <a:xfrm>
            <a:off x="457200" y="1188720"/>
            <a:ext cx="2651760" cy="2971800"/>
          </a:xfrm>
          <a:prstGeom prst="roundRect">
            <a:avLst>
              <a:gd name="adj" fmla="val 2069"/>
            </a:avLst>
          </a:prstGeom>
          <a:solidFill>
            <a:srgbClr val="F3F6FA"/>
          </a:solidFill>
          <a:ln w="9525">
            <a:solidFill>
              <a:srgbClr val="C9D3E0"/>
            </a:solidFill>
            <a:prstDash val="solid"/>
          </a:ln>
        </p:spPr>
      </p:sp>
      <p:sp>
        <p:nvSpPr>
          <p:cNvPr id="6" name="Text 4"/>
          <p:cNvSpPr txBox="1"/>
          <p:nvPr/>
        </p:nvSpPr>
        <p:spPr>
          <a:xfrm>
            <a:off x="594360" y="1280160"/>
            <a:ext cx="2377440" cy="320040"/>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What it is</a:t>
            </a:r>
            <a:endParaRPr lang="en-US" sz="1500" dirty="0"/>
          </a:p>
        </p:txBody>
      </p:sp>
      <p:sp>
        <p:nvSpPr>
          <p:cNvPr id="7" name="Text 5"/>
          <p:cNvSpPr txBox="1"/>
          <p:nvPr/>
        </p:nvSpPr>
        <p:spPr>
          <a:xfrm>
            <a:off x="594360" y="1691640"/>
            <a:ext cx="2377440" cy="23774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B2A41"/>
                </a:solidFill>
                <a:latin typeface="Calibri" pitchFamily="34" charset="0"/>
                <a:ea typeface="Calibri" pitchFamily="34" charset="-122"/>
                <a:cs typeface="Calibri" pitchFamily="34" charset="-120"/>
              </a:rPr>
              <a:t>A regulatory question-answering system for compliance teams: hybrid retrieval, exact-citation routing, quote-verified grounded generation, and abstention when evidence is weak.</a:t>
            </a:r>
            <a:endParaRPr lang="en-US" sz="1150" dirty="0"/>
          </a:p>
          <a:p>
            <a:pPr marL="342900" indent="-342900">
              <a:spcAft>
                <a:spcPts val="400"/>
              </a:spcAft>
              <a:buSzPct val="100000"/>
              <a:buChar char="•"/>
            </a:pPr>
            <a:r>
              <a:rPr lang="en-US" sz="1150" dirty="0">
                <a:solidFill>
                  <a:srgbClr val="1B2A41"/>
                </a:solidFill>
                <a:latin typeface="Calibri" pitchFamily="34" charset="0"/>
                <a:ea typeface="Calibri" pitchFamily="34" charset="-122"/>
                <a:cs typeface="Calibri" pitchFamily="34" charset="-120"/>
              </a:rPr>
              <a:t>Every query is written to a hash-chained audit record with an evidence digest, so a reviewer can replay what the system read before it answered.</a:t>
            </a:r>
            <a:endParaRPr lang="en-US" sz="1150" dirty="0"/>
          </a:p>
        </p:txBody>
      </p:sp>
      <p:sp>
        <p:nvSpPr>
          <p:cNvPr id="8" name="Shape 6"/>
          <p:cNvSpPr/>
          <p:nvPr/>
        </p:nvSpPr>
        <p:spPr>
          <a:xfrm>
            <a:off x="3246120" y="1188720"/>
            <a:ext cx="2651760" cy="2971800"/>
          </a:xfrm>
          <a:prstGeom prst="roundRect">
            <a:avLst>
              <a:gd name="adj" fmla="val 2069"/>
            </a:avLst>
          </a:prstGeom>
          <a:solidFill>
            <a:srgbClr val="F3F6FA"/>
          </a:solidFill>
          <a:ln w="9525">
            <a:solidFill>
              <a:srgbClr val="C9D3E0"/>
            </a:solidFill>
            <a:prstDash val="solid"/>
          </a:ln>
        </p:spPr>
      </p:sp>
      <p:sp>
        <p:nvSpPr>
          <p:cNvPr id="9" name="Text 7"/>
          <p:cNvSpPr txBox="1"/>
          <p:nvPr/>
        </p:nvSpPr>
        <p:spPr>
          <a:xfrm>
            <a:off x="3383280" y="1280160"/>
            <a:ext cx="2377440" cy="320040"/>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What it proves</a:t>
            </a:r>
            <a:endParaRPr lang="en-US" sz="1500" dirty="0"/>
          </a:p>
        </p:txBody>
      </p:sp>
      <p:sp>
        <p:nvSpPr>
          <p:cNvPr id="10" name="Text 8"/>
          <p:cNvSpPr txBox="1"/>
          <p:nvPr/>
        </p:nvSpPr>
        <p:spPr>
          <a:xfrm>
            <a:off x="3383280" y="1691640"/>
            <a:ext cx="2377440" cy="23774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B2A41"/>
                </a:solidFill>
                <a:latin typeface="Calibri" pitchFamily="34" charset="0"/>
                <a:ea typeface="Calibri" pitchFamily="34" charset="-122"/>
                <a:cs typeface="Calibri" pitchFamily="34" charset="-120"/>
              </a:rPr>
              <a:t>Verification is code, not a prompt: citations must resolve to retrieved chunks and quotes must appear in the cited text, checked after generation, every time.</a:t>
            </a:r>
            <a:endParaRPr lang="en-US" sz="1150" dirty="0"/>
          </a:p>
          <a:p>
            <a:pPr marL="342900" indent="-342900">
              <a:spcAft>
                <a:spcPts val="400"/>
              </a:spcAft>
              <a:buSzPct val="100000"/>
              <a:buChar char="•"/>
            </a:pPr>
            <a:r>
              <a:rPr lang="en-US" sz="1150" dirty="0">
                <a:solidFill>
                  <a:srgbClr val="1B2A41"/>
                </a:solidFill>
                <a:latin typeface="Calibri" pitchFamily="34" charset="0"/>
                <a:ea typeface="Calibri" pitchFamily="34" charset="-122"/>
                <a:cs typeface="Calibri" pitchFamily="34" charset="-120"/>
              </a:rPr>
              <a:t>275 deterministic tests and an offline eval harness — including four adversarial source-instruction cases — run with no API key, no vector database, no model download.</a:t>
            </a:r>
            <a:endParaRPr lang="en-US" sz="1150" dirty="0"/>
          </a:p>
        </p:txBody>
      </p:sp>
      <p:sp>
        <p:nvSpPr>
          <p:cNvPr id="11" name="Shape 9"/>
          <p:cNvSpPr/>
          <p:nvPr/>
        </p:nvSpPr>
        <p:spPr>
          <a:xfrm>
            <a:off x="6035040" y="1188720"/>
            <a:ext cx="2651760" cy="2971800"/>
          </a:xfrm>
          <a:prstGeom prst="roundRect">
            <a:avLst>
              <a:gd name="adj" fmla="val 2069"/>
            </a:avLst>
          </a:prstGeom>
          <a:solidFill>
            <a:srgbClr val="F3F6FA"/>
          </a:solidFill>
          <a:ln w="9525">
            <a:solidFill>
              <a:srgbClr val="C9D3E0"/>
            </a:solidFill>
            <a:prstDash val="solid"/>
          </a:ln>
        </p:spPr>
      </p:sp>
      <p:sp>
        <p:nvSpPr>
          <p:cNvPr id="12" name="Text 10"/>
          <p:cNvSpPr txBox="1"/>
          <p:nvPr/>
        </p:nvSpPr>
        <p:spPr>
          <a:xfrm>
            <a:off x="6172200" y="1280160"/>
            <a:ext cx="2377440" cy="320040"/>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Why it is enterprise-ready</a:t>
            </a:r>
            <a:endParaRPr lang="en-US" sz="1500" dirty="0"/>
          </a:p>
        </p:txBody>
      </p:sp>
      <p:sp>
        <p:nvSpPr>
          <p:cNvPr id="13" name="Text 11"/>
          <p:cNvSpPr txBox="1"/>
          <p:nvPr/>
        </p:nvSpPr>
        <p:spPr>
          <a:xfrm>
            <a:off x="6172200" y="1691640"/>
            <a:ext cx="2377440" cy="23774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B2A41"/>
                </a:solidFill>
                <a:latin typeface="Calibri" pitchFamily="34" charset="0"/>
                <a:ea typeface="Calibri" pitchFamily="34" charset="-122"/>
                <a:cs typeface="Calibri" pitchFamily="34" charset="-120"/>
              </a:rPr>
              <a:t>Fake embeddings, generation and reranking are real implementations bound by default; OpenAI, Qdrant and a cross-encoder reranker are optional layers that fail closed until explicitly configured.</a:t>
            </a:r>
            <a:endParaRPr lang="en-US" sz="1150" dirty="0"/>
          </a:p>
          <a:p>
            <a:pPr marL="342900" indent="-342900">
              <a:spcAft>
                <a:spcPts val="400"/>
              </a:spcAft>
              <a:buSzPct val="100000"/>
              <a:buChar char="•"/>
            </a:pPr>
            <a:r>
              <a:rPr lang="en-US" sz="1150" dirty="0">
                <a:solidFill>
                  <a:srgbClr val="1B2A41"/>
                </a:solidFill>
                <a:latin typeface="Calibri" pitchFamily="34" charset="0"/>
                <a:ea typeface="Calibri" pitchFamily="34" charset="-122"/>
                <a:cs typeface="Calibri" pitchFamily="34" charset="-120"/>
              </a:rPr>
              <a:t>CI runs the full offline gate (lint, mypy, 275 tests, eval) plus a container-config check on every push.</a:t>
            </a:r>
            <a:endParaRPr lang="en-US" sz="1150" dirty="0"/>
          </a:p>
        </p:txBody>
      </p:sp>
      <p:sp>
        <p:nvSpPr>
          <p:cNvPr id="14" name="Text 12"/>
          <p:cNvSpPr txBox="1"/>
          <p:nvPr/>
        </p:nvSpPr>
        <p:spPr>
          <a:xfrm>
            <a:off x="457200" y="4297680"/>
            <a:ext cx="8229600" cy="411480"/>
          </a:xfrm>
          <a:prstGeom prst="rect">
            <a:avLst/>
          </a:prstGeom>
          <a:noFill/>
          <a:ln/>
        </p:spPr>
        <p:txBody>
          <a:bodyPr wrap="square" lIns="0" tIns="0" rIns="0" bIns="0" rtlCol="0" anchor="ctr"/>
          <a:lstStyle/>
          <a:p>
            <a:pPr indent="0" marL="0">
              <a:buNone/>
            </a:pPr>
            <a:r>
              <a:rPr lang="en-US" sz="1050" i="1" dirty="0">
                <a:solidFill>
                  <a:srgbClr val="1B2A41"/>
                </a:solidFill>
                <a:latin typeface="Calibri" pitchFamily="34" charset="0"/>
                <a:ea typeface="Calibri" pitchFamily="34" charset="-122"/>
                <a:cs typeface="Calibri" pitchFamily="34" charset="-120"/>
              </a:rPr>
              <a:t>Ask of the audience: agree the pilot scope for live OpenAI + Qdrant (cost, latency, model choice), the OCR opt-in path, and the production auth/rate-limit posture.</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5486400" cy="228600"/>
          </a:xfrm>
          <a:prstGeom prst="rect">
            <a:avLst/>
          </a:prstGeom>
          <a:noFill/>
          <a:ln/>
        </p:spPr>
        <p:txBody>
          <a:bodyPr wrap="square" lIns="0" tIns="0" rIns="0" bIns="0" rtlCol="0" anchor="ctr"/>
          <a:lstStyle/>
          <a:p>
            <a:pPr indent="0" marL="0">
              <a:buNone/>
            </a:pPr>
            <a:r>
              <a:rPr lang="en-US" sz="1000" b="1" spc="200" kern="0" dirty="0">
                <a:solidFill>
                  <a:srgbClr val="2EC4B6"/>
                </a:solidFill>
                <a:latin typeface="Calibri" pitchFamily="34" charset="0"/>
                <a:ea typeface="Calibri" pitchFamily="34" charset="-122"/>
                <a:cs typeface="Calibri" pitchFamily="34" charset="-120"/>
              </a:rPr>
              <a:t>CONTEXT</a:t>
            </a:r>
            <a:endParaRPr lang="en-US" sz="1000" dirty="0"/>
          </a:p>
        </p:txBody>
      </p:sp>
      <p:sp>
        <p:nvSpPr>
          <p:cNvPr id="3" name="Text 1"/>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600" b="1" dirty="0">
                <a:solidFill>
                  <a:srgbClr val="14213D"/>
                </a:solidFill>
                <a:latin typeface="Cambria" pitchFamily="34" charset="0"/>
                <a:ea typeface="Cambria" pitchFamily="34" charset="-122"/>
                <a:cs typeface="Cambria" pitchFamily="34" charset="-120"/>
              </a:rPr>
              <a:t>The problem and the users</a:t>
            </a:r>
            <a:endParaRPr lang="en-US" sz="2600" dirty="0"/>
          </a:p>
        </p:txBody>
      </p:sp>
      <p:sp>
        <p:nvSpPr>
          <p:cNvPr id="4" name="Text 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6B7A90"/>
                </a:solidFill>
                <a:latin typeface="Calibri" pitchFamily="34" charset="0"/>
                <a:ea typeface="Calibri" pitchFamily="34" charset="-122"/>
                <a:cs typeface="Calibri" pitchFamily="34" charset="-120"/>
              </a:rPr>
              <a:t>RegLens · AI Systems Architecture Review · 3</a:t>
            </a:r>
            <a:endParaRPr lang="en-US" sz="800" dirty="0"/>
          </a:p>
        </p:txBody>
      </p:sp>
      <p:sp>
        <p:nvSpPr>
          <p:cNvPr id="5" name="Shape 3"/>
          <p:cNvSpPr/>
          <p:nvPr/>
        </p:nvSpPr>
        <p:spPr>
          <a:xfrm>
            <a:off x="457200" y="1188720"/>
            <a:ext cx="3931920" cy="1600200"/>
          </a:xfrm>
          <a:prstGeom prst="roundRect">
            <a:avLst>
              <a:gd name="adj" fmla="val 3429"/>
            </a:avLst>
          </a:prstGeom>
          <a:solidFill>
            <a:srgbClr val="F3F6FA"/>
          </a:solidFill>
          <a:ln w="9525">
            <a:solidFill>
              <a:srgbClr val="C9D3E0"/>
            </a:solidFill>
            <a:prstDash val="solid"/>
          </a:ln>
        </p:spPr>
      </p:sp>
      <p:sp>
        <p:nvSpPr>
          <p:cNvPr id="6" name="Text 4"/>
          <p:cNvSpPr txBox="1"/>
          <p:nvPr/>
        </p:nvSpPr>
        <p:spPr>
          <a:xfrm>
            <a:off x="548640" y="1243584"/>
            <a:ext cx="374904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The analyst's problem</a:t>
            </a:r>
            <a:endParaRPr lang="en-US" sz="1100" dirty="0"/>
          </a:p>
        </p:txBody>
      </p:sp>
      <p:sp>
        <p:nvSpPr>
          <p:cNvPr id="7" name="Text 5"/>
          <p:cNvSpPr txBox="1"/>
          <p:nvPr/>
        </p:nvSpPr>
        <p:spPr>
          <a:xfrm>
            <a:off x="548640" y="1499616"/>
            <a:ext cx="3749040" cy="1234440"/>
          </a:xfrm>
          <a:prstGeom prst="rect">
            <a:avLst/>
          </a:prstGeom>
          <a:noFill/>
          <a:ln/>
        </p:spPr>
        <p:txBody>
          <a:bodyPr wrap="square" lIns="0" tIns="0" rIns="0" bIns="0" rtlCol="0" anchor="t"/>
          <a:lstStyle/>
          <a:p>
            <a:pPr indent="0" marL="0">
              <a:buNone/>
            </a:pPr>
            <a:r>
              <a:rPr lang="en-US" sz="1000" dirty="0">
                <a:solidFill>
                  <a:srgbClr val="1B2A41"/>
                </a:solidFill>
                <a:latin typeface="Calibri" pitchFamily="34" charset="0"/>
                <a:ea typeface="Calibri" pitchFamily="34" charset="-122"/>
                <a:cs typeface="Calibri" pitchFamily="34" charset="-120"/>
              </a:rPr>
              <a:t>A compliance officer gets a question from the trading floor: can we do this? The answer lives in a rulebook, notices and internal policy. A general-purpose chatbot will retrieve roughly the right passage, paraphrase it, cite something, and answer even when the evidence is thin — and leave no record of what it read.</a:t>
            </a:r>
            <a:endParaRPr lang="en-US" sz="1000" dirty="0"/>
          </a:p>
        </p:txBody>
      </p:sp>
      <p:sp>
        <p:nvSpPr>
          <p:cNvPr id="8" name="Shape 6"/>
          <p:cNvSpPr/>
          <p:nvPr/>
        </p:nvSpPr>
        <p:spPr>
          <a:xfrm>
            <a:off x="4754880" y="1188720"/>
            <a:ext cx="3931920" cy="1600200"/>
          </a:xfrm>
          <a:prstGeom prst="roundRect">
            <a:avLst>
              <a:gd name="adj" fmla="val 3429"/>
            </a:avLst>
          </a:prstGeom>
          <a:solidFill>
            <a:srgbClr val="F3F6FA"/>
          </a:solidFill>
          <a:ln w="9525">
            <a:solidFill>
              <a:srgbClr val="C9D3E0"/>
            </a:solidFill>
            <a:prstDash val="solid"/>
          </a:ln>
        </p:spPr>
      </p:sp>
      <p:sp>
        <p:nvSpPr>
          <p:cNvPr id="9" name="Text 7"/>
          <p:cNvSpPr txBox="1"/>
          <p:nvPr/>
        </p:nvSpPr>
        <p:spPr>
          <a:xfrm>
            <a:off x="4846320" y="1243584"/>
            <a:ext cx="374904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The firm's constraints</a:t>
            </a:r>
            <a:endParaRPr lang="en-US" sz="1100" dirty="0"/>
          </a:p>
        </p:txBody>
      </p:sp>
      <p:sp>
        <p:nvSpPr>
          <p:cNvPr id="10" name="Text 8"/>
          <p:cNvSpPr txBox="1"/>
          <p:nvPr/>
        </p:nvSpPr>
        <p:spPr>
          <a:xfrm>
            <a:off x="4846320" y="1499616"/>
            <a:ext cx="3749040" cy="1234440"/>
          </a:xfrm>
          <a:prstGeom prst="rect">
            <a:avLst/>
          </a:prstGeom>
          <a:noFill/>
          <a:ln/>
        </p:spPr>
        <p:txBody>
          <a:bodyPr wrap="square" lIns="0" tIns="0" rIns="0" bIns="0" rtlCol="0" anchor="t"/>
          <a:lstStyle/>
          <a:p>
            <a:pPr indent="0" marL="0">
              <a:buNone/>
            </a:pPr>
            <a:r>
              <a:rPr lang="en-US" sz="1000" dirty="0">
                <a:solidFill>
                  <a:srgbClr val="1B2A41"/>
                </a:solidFill>
                <a:latin typeface="Calibri" pitchFamily="34" charset="0"/>
                <a:ea typeface="Calibri" pitchFamily="34" charset="-122"/>
                <a:cs typeface="Calibri" pitchFamily="34" charset="-120"/>
              </a:rPr>
              <a:t>A wrong citation is a liability and an unsupported answer is worse than no answer. Anything the tool says may be relied on and later examined, so citations must be structural, evidence must be verified in code, and every answer needs a replayable audit trail.</a:t>
            </a:r>
            <a:endParaRPr lang="en-US" sz="1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2971800"/>
          <a:ext cx="8229600" cy="914400"/>
        </p:xfrm>
        <a:graphic>
          <a:graphicData uri="http://schemas.openxmlformats.org/drawingml/2006/table">
            <a:tbl>
              <a:tblPr/>
              <a:tblGrid>
                <a:gridCol w="2194560"/>
                <a:gridCol w="4572000"/>
                <a:gridCol w="1463040"/>
              </a:tblGrid>
              <a:tr h="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Actor</a:t>
                      </a:r>
                      <a:endParaRPr lang="en-US" sz="9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Needs</a:t>
                      </a:r>
                      <a:endParaRPr lang="en-US" sz="9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Frequency</a:t>
                      </a:r>
                      <a:endParaRPr lang="en-US" sz="9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14213D"/>
                    </a:solidFill>
                  </a:tcPr>
                </a:tc>
              </a:tr>
              <a:tr h="0">
                <a:tc>
                  <a:txBody>
                    <a:bodyPr/>
                    <a:lstStyle/>
                    <a:p>
                      <a:pPr indent="0" marL="0">
                        <a:buNone/>
                      </a:pPr>
                      <a:r>
                        <a:rPr lang="en-US" sz="900" dirty="0">
                          <a:solidFill>
                            <a:srgbClr val="1B2A41"/>
                          </a:solidFill>
                          <a:latin typeface="Calibri" pitchFamily="34" charset="0"/>
                          <a:ea typeface="Calibri" pitchFamily="34" charset="-122"/>
                          <a:cs typeface="Calibri" pitchFamily="34" charset="-120"/>
                        </a:rPr>
                        <a:t>Compliance analyst (primary)</a:t>
                      </a:r>
                      <a:endParaRPr lang="en-US" sz="9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900" dirty="0">
                          <a:solidFill>
                            <a:srgbClr val="1B2A41"/>
                          </a:solidFill>
                          <a:latin typeface="Calibri" pitchFamily="34" charset="0"/>
                          <a:ea typeface="Calibri" pitchFamily="34" charset="-122"/>
                          <a:cs typeface="Calibri" pitchFamily="34" charset="-120"/>
                        </a:rPr>
                        <a:t>A cited answer with retrieval diagnostics, or an honest refusal when evidence is weak</a:t>
                      </a:r>
                      <a:endParaRPr lang="en-US" sz="9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900" dirty="0">
                          <a:solidFill>
                            <a:srgbClr val="1B2A41"/>
                          </a:solidFill>
                          <a:latin typeface="Calibri" pitchFamily="34" charset="0"/>
                          <a:ea typeface="Calibri" pitchFamily="34" charset="-122"/>
                          <a:cs typeface="Calibri" pitchFamily="34" charset="-120"/>
                        </a:rPr>
                        <a:t>Several times a day</a:t>
                      </a:r>
                      <a:endParaRPr lang="en-US" sz="9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900" dirty="0">
                          <a:solidFill>
                            <a:srgbClr val="1B2A41"/>
                          </a:solidFill>
                          <a:latin typeface="Calibri" pitchFamily="34" charset="0"/>
                          <a:ea typeface="Calibri" pitchFamily="34" charset="-122"/>
                          <a:cs typeface="Calibri" pitchFamily="34" charset="-120"/>
                        </a:rPr>
                        <a:t>Legal / policy / model-risk reviewer</a:t>
                      </a:r>
                      <a:endParaRPr lang="en-US" sz="9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900" dirty="0">
                          <a:solidFill>
                            <a:srgbClr val="1B2A41"/>
                          </a:solidFill>
                          <a:latin typeface="Calibri" pitchFamily="34" charset="0"/>
                          <a:ea typeface="Calibri" pitchFamily="34" charset="-122"/>
                          <a:cs typeface="Calibri" pitchFamily="34" charset="-120"/>
                        </a:rPr>
                        <a:t>Source-level traceability: what evidence, what model, what prompt version, replayable months later</a:t>
                      </a:r>
                      <a:endParaRPr lang="en-US" sz="9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900" dirty="0">
                          <a:solidFill>
                            <a:srgbClr val="1B2A41"/>
                          </a:solidFill>
                          <a:latin typeface="Calibri" pitchFamily="34" charset="0"/>
                          <a:ea typeface="Calibri" pitchFamily="34" charset="-122"/>
                          <a:cs typeface="Calibri" pitchFamily="34" charset="-120"/>
                        </a:rPr>
                        <a:t>On review</a:t>
                      </a:r>
                      <a:endParaRPr lang="en-US" sz="9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900" dirty="0">
                          <a:solidFill>
                            <a:srgbClr val="1B2A41"/>
                          </a:solidFill>
                          <a:latin typeface="Calibri" pitchFamily="34" charset="0"/>
                          <a:ea typeface="Calibri" pitchFamily="34" charset="-122"/>
                          <a:cs typeface="Calibri" pitchFamily="34" charset="-120"/>
                        </a:rPr>
                        <a:t>Engineering / platform reviewer</a:t>
                      </a:r>
                      <a:endParaRPr lang="en-US" sz="9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900" dirty="0">
                          <a:solidFill>
                            <a:srgbClr val="1B2A41"/>
                          </a:solidFill>
                          <a:latin typeface="Calibri" pitchFamily="34" charset="0"/>
                          <a:ea typeface="Calibri" pitchFamily="34" charset="-122"/>
                          <a:cs typeface="Calibri" pitchFamily="34" charset="-120"/>
                        </a:rPr>
                        <a:t>Deterministic offline tests and eval, fail-closed optional providers, one command to verify</a:t>
                      </a:r>
                      <a:endParaRPr lang="en-US" sz="9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900" dirty="0">
                          <a:solidFill>
                            <a:srgbClr val="1B2A41"/>
                          </a:solidFill>
                          <a:latin typeface="Calibri" pitchFamily="34" charset="0"/>
                          <a:ea typeface="Calibri" pitchFamily="34" charset="-122"/>
                          <a:cs typeface="Calibri" pitchFamily="34" charset="-120"/>
                        </a:rPr>
                        <a:t>Deploy / operate</a:t>
                      </a:r>
                      <a:endParaRPr lang="en-US" sz="9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900" dirty="0">
                          <a:solidFill>
                            <a:srgbClr val="1B2A41"/>
                          </a:solidFill>
                          <a:latin typeface="Calibri" pitchFamily="34" charset="0"/>
                          <a:ea typeface="Calibri" pitchFamily="34" charset="-122"/>
                          <a:cs typeface="Calibri" pitchFamily="34" charset="-120"/>
                        </a:rPr>
                        <a:t>Automation and AI assistants</a:t>
                      </a:r>
                      <a:endParaRPr lang="en-US" sz="9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900" dirty="0">
                          <a:solidFill>
                            <a:srgbClr val="1B2A41"/>
                          </a:solidFill>
                          <a:latin typeface="Calibri" pitchFamily="34" charset="0"/>
                          <a:ea typeface="Calibri" pitchFamily="34" charset="-122"/>
                          <a:cs typeface="Calibri" pitchFamily="34" charset="-120"/>
                        </a:rPr>
                        <a:t>The same grounded answers over HTTP: /query, /chat (with SSE streaming), audit export</a:t>
                      </a:r>
                      <a:endParaRPr lang="en-US" sz="9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900" dirty="0">
                          <a:solidFill>
                            <a:srgbClr val="1B2A41"/>
                          </a:solidFill>
                          <a:latin typeface="Calibri" pitchFamily="34" charset="0"/>
                          <a:ea typeface="Calibri" pitchFamily="34" charset="-122"/>
                          <a:cs typeface="Calibri" pitchFamily="34" charset="-120"/>
                        </a:rPr>
                        <a:t>Ad hoc</a:t>
                      </a:r>
                      <a:endParaRPr lang="en-US" sz="9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5486400" cy="228600"/>
          </a:xfrm>
          <a:prstGeom prst="rect">
            <a:avLst/>
          </a:prstGeom>
          <a:noFill/>
          <a:ln/>
        </p:spPr>
        <p:txBody>
          <a:bodyPr wrap="square" lIns="0" tIns="0" rIns="0" bIns="0" rtlCol="0" anchor="ctr"/>
          <a:lstStyle/>
          <a:p>
            <a:pPr indent="0" marL="0">
              <a:buNone/>
            </a:pPr>
            <a:r>
              <a:rPr lang="en-US" sz="1000" b="1" spc="200" kern="0" dirty="0">
                <a:solidFill>
                  <a:srgbClr val="2EC4B6"/>
                </a:solidFill>
                <a:latin typeface="Calibri" pitchFamily="34" charset="0"/>
                <a:ea typeface="Calibri" pitchFamily="34" charset="-122"/>
                <a:cs typeface="Calibri" pitchFamily="34" charset="-120"/>
              </a:rPr>
              <a:t>APPROACH</a:t>
            </a:r>
            <a:endParaRPr lang="en-US" sz="1000" dirty="0"/>
          </a:p>
        </p:txBody>
      </p:sp>
      <p:sp>
        <p:nvSpPr>
          <p:cNvPr id="3" name="Text 1"/>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600" b="1" dirty="0">
                <a:solidFill>
                  <a:srgbClr val="14213D"/>
                </a:solidFill>
                <a:latin typeface="Cambria" pitchFamily="34" charset="0"/>
                <a:ea typeface="Cambria" pitchFamily="34" charset="-122"/>
                <a:cs typeface="Cambria" pitchFamily="34" charset="-120"/>
              </a:rPr>
              <a:t>Solution at a glance</a:t>
            </a:r>
            <a:endParaRPr lang="en-US" sz="2600" dirty="0"/>
          </a:p>
        </p:txBody>
      </p:sp>
      <p:sp>
        <p:nvSpPr>
          <p:cNvPr id="4" name="Text 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6B7A90"/>
                </a:solidFill>
                <a:latin typeface="Calibri" pitchFamily="34" charset="0"/>
                <a:ea typeface="Calibri" pitchFamily="34" charset="-122"/>
                <a:cs typeface="Calibri" pitchFamily="34" charset="-120"/>
              </a:rPr>
              <a:t>RegLens · AI Systems Architecture Review · 4</a:t>
            </a:r>
            <a:endParaRPr lang="en-US" sz="800" dirty="0"/>
          </a:p>
        </p:txBody>
      </p:sp>
      <p:sp>
        <p:nvSpPr>
          <p:cNvPr id="5" name="Shape 3"/>
          <p:cNvSpPr/>
          <p:nvPr/>
        </p:nvSpPr>
        <p:spPr>
          <a:xfrm>
            <a:off x="457200" y="1234440"/>
            <a:ext cx="1965960" cy="1965960"/>
          </a:xfrm>
          <a:prstGeom prst="roundRect">
            <a:avLst>
              <a:gd name="adj" fmla="val 2791"/>
            </a:avLst>
          </a:prstGeom>
          <a:solidFill>
            <a:srgbClr val="1C2B4F"/>
          </a:solidFill>
          <a:ln w="9525">
            <a:solidFill>
              <a:srgbClr val="1C2B4F"/>
            </a:solidFill>
            <a:prstDash val="solid"/>
          </a:ln>
        </p:spPr>
      </p:sp>
      <p:sp>
        <p:nvSpPr>
          <p:cNvPr id="6" name="Shape 4"/>
          <p:cNvSpPr/>
          <p:nvPr/>
        </p:nvSpPr>
        <p:spPr>
          <a:xfrm>
            <a:off x="594360" y="1371600"/>
            <a:ext cx="365760" cy="365760"/>
          </a:xfrm>
          <a:prstGeom prst="ellipse">
            <a:avLst/>
          </a:prstGeom>
          <a:solidFill>
            <a:srgbClr val="2EC4B6"/>
          </a:solidFill>
          <a:ln w="12700">
            <a:solidFill>
              <a:srgbClr val="2EC4B6"/>
            </a:solidFill>
            <a:prstDash val="solid"/>
          </a:ln>
        </p:spPr>
      </p:sp>
      <p:sp>
        <p:nvSpPr>
          <p:cNvPr id="7" name="Text 5"/>
          <p:cNvSpPr txBox="1"/>
          <p:nvPr/>
        </p:nvSpPr>
        <p:spPr>
          <a:xfrm>
            <a:off x="594360" y="1371600"/>
            <a:ext cx="365760" cy="365760"/>
          </a:xfrm>
          <a:prstGeom prst="rect">
            <a:avLst/>
          </a:prstGeom>
          <a:noFill/>
          <a:ln/>
        </p:spPr>
        <p:txBody>
          <a:bodyPr wrap="square" lIns="0" tIns="0" rIns="0" bIns="0" rtlCol="0" anchor="ctr"/>
          <a:lstStyle/>
          <a:p>
            <a:pPr algn="ctr" indent="0" marL="0">
              <a:buNone/>
            </a:pPr>
            <a:r>
              <a:rPr lang="en-US" sz="1400" b="1" dirty="0">
                <a:solidFill>
                  <a:srgbClr val="14213D"/>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051560" y="1389888"/>
            <a:ext cx="1280160" cy="329184"/>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Ingest</a:t>
            </a:r>
            <a:endParaRPr lang="en-US" sz="1250" dirty="0"/>
          </a:p>
        </p:txBody>
      </p:sp>
      <p:sp>
        <p:nvSpPr>
          <p:cNvPr id="9" name="Text 7"/>
          <p:cNvSpPr txBox="1"/>
          <p:nvPr/>
        </p:nvSpPr>
        <p:spPr>
          <a:xfrm>
            <a:off x="594360" y="1828800"/>
            <a:ext cx="1691640" cy="1280160"/>
          </a:xfrm>
          <a:prstGeom prst="rect">
            <a:avLst/>
          </a:prstGeom>
          <a:noFill/>
          <a:ln/>
        </p:spPr>
        <p:txBody>
          <a:bodyPr wrap="square" lIns="0" tIns="0" rIns="0" bIns="0" rtlCol="0" anchor="t"/>
          <a:lstStyle/>
          <a:p>
            <a:pPr indent="0" marL="0">
              <a:buNone/>
            </a:pPr>
            <a:r>
              <a:rPr lang="en-US" sz="850" dirty="0">
                <a:solidFill>
                  <a:srgbClr val="DCE7F5"/>
                </a:solidFill>
                <a:latin typeface="Calibri" pitchFamily="34" charset="0"/>
                <a:ea typeface="Calibri" pitchFamily="34" charset="-122"/>
                <a:cs typeface="Calibri" pitchFamily="34" charset="-120"/>
              </a:rPr>
              <a:t>Markdown, text, HTML, optional PDF, or an allowlisted FINRA URL, chunked so every chunk keeps its rule label and heading path.</a:t>
            </a:r>
            <a:endParaRPr lang="en-US" sz="850" dirty="0"/>
          </a:p>
        </p:txBody>
      </p:sp>
      <p:sp>
        <p:nvSpPr>
          <p:cNvPr id="10" name="Shape 8"/>
          <p:cNvSpPr/>
          <p:nvPr/>
        </p:nvSpPr>
        <p:spPr>
          <a:xfrm>
            <a:off x="2423160" y="2194560"/>
            <a:ext cx="137160" cy="9144"/>
          </a:xfrm>
          <a:prstGeom prst="line">
            <a:avLst/>
          </a:prstGeom>
          <a:noFill/>
          <a:ln w="25400">
            <a:solidFill>
              <a:srgbClr val="2EC4B6"/>
            </a:solidFill>
            <a:prstDash val="solid"/>
            <a:tailEnd type="triangle"/>
          </a:ln>
        </p:spPr>
      </p:sp>
      <p:sp>
        <p:nvSpPr>
          <p:cNvPr id="11" name="Shape 9"/>
          <p:cNvSpPr/>
          <p:nvPr/>
        </p:nvSpPr>
        <p:spPr>
          <a:xfrm>
            <a:off x="2560320" y="1234440"/>
            <a:ext cx="1965960" cy="1965960"/>
          </a:xfrm>
          <a:prstGeom prst="roundRect">
            <a:avLst>
              <a:gd name="adj" fmla="val 2791"/>
            </a:avLst>
          </a:prstGeom>
          <a:solidFill>
            <a:srgbClr val="1C2B4F"/>
          </a:solidFill>
          <a:ln w="9525">
            <a:solidFill>
              <a:srgbClr val="1C2B4F"/>
            </a:solidFill>
            <a:prstDash val="solid"/>
          </a:ln>
        </p:spPr>
      </p:sp>
      <p:sp>
        <p:nvSpPr>
          <p:cNvPr id="12" name="Shape 10"/>
          <p:cNvSpPr/>
          <p:nvPr/>
        </p:nvSpPr>
        <p:spPr>
          <a:xfrm>
            <a:off x="2697480" y="1371600"/>
            <a:ext cx="365760" cy="365760"/>
          </a:xfrm>
          <a:prstGeom prst="ellipse">
            <a:avLst/>
          </a:prstGeom>
          <a:solidFill>
            <a:srgbClr val="2EC4B6"/>
          </a:solidFill>
          <a:ln w="12700">
            <a:solidFill>
              <a:srgbClr val="2EC4B6"/>
            </a:solidFill>
            <a:prstDash val="solid"/>
          </a:ln>
        </p:spPr>
      </p:sp>
      <p:sp>
        <p:nvSpPr>
          <p:cNvPr id="13" name="Text 11"/>
          <p:cNvSpPr txBox="1"/>
          <p:nvPr/>
        </p:nvSpPr>
        <p:spPr>
          <a:xfrm>
            <a:off x="2697480" y="1371600"/>
            <a:ext cx="365760" cy="365760"/>
          </a:xfrm>
          <a:prstGeom prst="rect">
            <a:avLst/>
          </a:prstGeom>
          <a:noFill/>
          <a:ln/>
        </p:spPr>
        <p:txBody>
          <a:bodyPr wrap="square" lIns="0" tIns="0" rIns="0" bIns="0" rtlCol="0" anchor="ctr"/>
          <a:lstStyle/>
          <a:p>
            <a:pPr algn="ctr" indent="0" marL="0">
              <a:buNone/>
            </a:pPr>
            <a:r>
              <a:rPr lang="en-US" sz="1400" b="1" dirty="0">
                <a:solidFill>
                  <a:srgbClr val="14213D"/>
                </a:solidFill>
                <a:latin typeface="Calibri" pitchFamily="34" charset="0"/>
                <a:ea typeface="Calibri" pitchFamily="34" charset="-122"/>
                <a:cs typeface="Calibri" pitchFamily="34" charset="-120"/>
              </a:rPr>
              <a:t>2</a:t>
            </a:r>
            <a:endParaRPr lang="en-US" sz="1400" dirty="0"/>
          </a:p>
        </p:txBody>
      </p:sp>
      <p:sp>
        <p:nvSpPr>
          <p:cNvPr id="14" name="Text 12"/>
          <p:cNvSpPr txBox="1"/>
          <p:nvPr/>
        </p:nvSpPr>
        <p:spPr>
          <a:xfrm>
            <a:off x="3154680" y="1389888"/>
            <a:ext cx="1280160" cy="329184"/>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Retrieve &amp; fuse</a:t>
            </a:r>
            <a:endParaRPr lang="en-US" sz="1250" dirty="0"/>
          </a:p>
        </p:txBody>
      </p:sp>
      <p:sp>
        <p:nvSpPr>
          <p:cNvPr id="15" name="Text 13"/>
          <p:cNvSpPr txBox="1"/>
          <p:nvPr/>
        </p:nvSpPr>
        <p:spPr>
          <a:xfrm>
            <a:off x="2697480" y="1828800"/>
            <a:ext cx="1691640" cy="1280160"/>
          </a:xfrm>
          <a:prstGeom prst="rect">
            <a:avLst/>
          </a:prstGeom>
          <a:noFill/>
          <a:ln/>
        </p:spPr>
        <p:txBody>
          <a:bodyPr wrap="square" lIns="0" tIns="0" rIns="0" bIns="0" rtlCol="0" anchor="t"/>
          <a:lstStyle/>
          <a:p>
            <a:pPr indent="0" marL="0">
              <a:buNone/>
            </a:pPr>
            <a:r>
              <a:rPr lang="en-US" sz="850" dirty="0">
                <a:solidFill>
                  <a:srgbClr val="DCE7F5"/>
                </a:solidFill>
                <a:latin typeface="Calibri" pitchFamily="34" charset="0"/>
                <a:ea typeface="Calibri" pitchFamily="34" charset="-122"/>
                <a:cs typeface="Calibri" pitchFamily="34" charset="-120"/>
              </a:rPr>
              <a:t>BM25 keyword plus dense embeddings fused by Reciprocal Rank Fusion; an exact-citation route pins a named rule's chunks before fusion.</a:t>
            </a:r>
            <a:endParaRPr lang="en-US" sz="850" dirty="0"/>
          </a:p>
        </p:txBody>
      </p:sp>
      <p:sp>
        <p:nvSpPr>
          <p:cNvPr id="16" name="Shape 14"/>
          <p:cNvSpPr/>
          <p:nvPr/>
        </p:nvSpPr>
        <p:spPr>
          <a:xfrm>
            <a:off x="4526280" y="2194560"/>
            <a:ext cx="137160" cy="9144"/>
          </a:xfrm>
          <a:prstGeom prst="line">
            <a:avLst/>
          </a:prstGeom>
          <a:noFill/>
          <a:ln w="25400">
            <a:solidFill>
              <a:srgbClr val="2EC4B6"/>
            </a:solidFill>
            <a:prstDash val="solid"/>
            <a:tailEnd type="triangle"/>
          </a:ln>
        </p:spPr>
      </p:sp>
      <p:sp>
        <p:nvSpPr>
          <p:cNvPr id="17" name="Shape 15"/>
          <p:cNvSpPr/>
          <p:nvPr/>
        </p:nvSpPr>
        <p:spPr>
          <a:xfrm>
            <a:off x="4663440" y="1234440"/>
            <a:ext cx="1965960" cy="1965960"/>
          </a:xfrm>
          <a:prstGeom prst="roundRect">
            <a:avLst>
              <a:gd name="adj" fmla="val 2791"/>
            </a:avLst>
          </a:prstGeom>
          <a:solidFill>
            <a:srgbClr val="1C2B4F"/>
          </a:solidFill>
          <a:ln w="9525">
            <a:solidFill>
              <a:srgbClr val="1C2B4F"/>
            </a:solidFill>
            <a:prstDash val="solid"/>
          </a:ln>
        </p:spPr>
      </p:sp>
      <p:sp>
        <p:nvSpPr>
          <p:cNvPr id="18" name="Shape 16"/>
          <p:cNvSpPr/>
          <p:nvPr/>
        </p:nvSpPr>
        <p:spPr>
          <a:xfrm>
            <a:off x="4800600" y="1371600"/>
            <a:ext cx="365760" cy="365760"/>
          </a:xfrm>
          <a:prstGeom prst="ellipse">
            <a:avLst/>
          </a:prstGeom>
          <a:solidFill>
            <a:srgbClr val="2EC4B6"/>
          </a:solidFill>
          <a:ln w="12700">
            <a:solidFill>
              <a:srgbClr val="2EC4B6"/>
            </a:solidFill>
            <a:prstDash val="solid"/>
          </a:ln>
        </p:spPr>
      </p:sp>
      <p:sp>
        <p:nvSpPr>
          <p:cNvPr id="19" name="Text 17"/>
          <p:cNvSpPr txBox="1"/>
          <p:nvPr/>
        </p:nvSpPr>
        <p:spPr>
          <a:xfrm>
            <a:off x="4800600" y="1371600"/>
            <a:ext cx="365760" cy="365760"/>
          </a:xfrm>
          <a:prstGeom prst="rect">
            <a:avLst/>
          </a:prstGeom>
          <a:noFill/>
          <a:ln/>
        </p:spPr>
        <p:txBody>
          <a:bodyPr wrap="square" lIns="0" tIns="0" rIns="0" bIns="0" rtlCol="0" anchor="ctr"/>
          <a:lstStyle/>
          <a:p>
            <a:pPr algn="ctr" indent="0" marL="0">
              <a:buNone/>
            </a:pPr>
            <a:r>
              <a:rPr lang="en-US" sz="1400" b="1" dirty="0">
                <a:solidFill>
                  <a:srgbClr val="14213D"/>
                </a:solidFill>
                <a:latin typeface="Calibri" pitchFamily="34" charset="0"/>
                <a:ea typeface="Calibri" pitchFamily="34" charset="-122"/>
                <a:cs typeface="Calibri" pitchFamily="34" charset="-120"/>
              </a:rPr>
              <a:t>3</a:t>
            </a:r>
            <a:endParaRPr lang="en-US" sz="1400" dirty="0"/>
          </a:p>
        </p:txBody>
      </p:sp>
      <p:sp>
        <p:nvSpPr>
          <p:cNvPr id="20" name="Text 18"/>
          <p:cNvSpPr txBox="1"/>
          <p:nvPr/>
        </p:nvSpPr>
        <p:spPr>
          <a:xfrm>
            <a:off x="5257800" y="1389888"/>
            <a:ext cx="1280160" cy="329184"/>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Generate</a:t>
            </a:r>
            <a:endParaRPr lang="en-US" sz="1250" dirty="0"/>
          </a:p>
        </p:txBody>
      </p:sp>
      <p:sp>
        <p:nvSpPr>
          <p:cNvPr id="21" name="Text 19"/>
          <p:cNvSpPr txBox="1"/>
          <p:nvPr/>
        </p:nvSpPr>
        <p:spPr>
          <a:xfrm>
            <a:off x="4800600" y="1828800"/>
            <a:ext cx="1691640" cy="1280160"/>
          </a:xfrm>
          <a:prstGeom prst="rect">
            <a:avLst/>
          </a:prstGeom>
          <a:noFill/>
          <a:ln/>
        </p:spPr>
        <p:txBody>
          <a:bodyPr wrap="square" lIns="0" tIns="0" rIns="0" bIns="0" rtlCol="0" anchor="t"/>
          <a:lstStyle/>
          <a:p>
            <a:pPr indent="0" marL="0">
              <a:buNone/>
            </a:pPr>
            <a:r>
              <a:rPr lang="en-US" sz="850" dirty="0">
                <a:solidFill>
                  <a:srgbClr val="DCE7F5"/>
                </a:solidFill>
                <a:latin typeface="Calibri" pitchFamily="34" charset="0"/>
                <a:ea typeface="Calibri" pitchFamily="34" charset="-122"/>
                <a:cs typeface="Calibri" pitchFamily="34" charset="-120"/>
              </a:rPr>
              <a:t>The model gets prompt-local [E1]…[En] evidence markers and must cite them; fake and OpenAI generation share one interface.</a:t>
            </a:r>
            <a:endParaRPr lang="en-US" sz="850" dirty="0"/>
          </a:p>
        </p:txBody>
      </p:sp>
      <p:sp>
        <p:nvSpPr>
          <p:cNvPr id="22" name="Shape 20"/>
          <p:cNvSpPr/>
          <p:nvPr/>
        </p:nvSpPr>
        <p:spPr>
          <a:xfrm>
            <a:off x="6629400" y="2194560"/>
            <a:ext cx="137160" cy="9144"/>
          </a:xfrm>
          <a:prstGeom prst="line">
            <a:avLst/>
          </a:prstGeom>
          <a:noFill/>
          <a:ln w="25400">
            <a:solidFill>
              <a:srgbClr val="2EC4B6"/>
            </a:solidFill>
            <a:prstDash val="solid"/>
            <a:tailEnd type="triangle"/>
          </a:ln>
        </p:spPr>
      </p:sp>
      <p:sp>
        <p:nvSpPr>
          <p:cNvPr id="23" name="Shape 21"/>
          <p:cNvSpPr/>
          <p:nvPr/>
        </p:nvSpPr>
        <p:spPr>
          <a:xfrm>
            <a:off x="6766560" y="1234440"/>
            <a:ext cx="1965960" cy="1965960"/>
          </a:xfrm>
          <a:prstGeom prst="roundRect">
            <a:avLst>
              <a:gd name="adj" fmla="val 2791"/>
            </a:avLst>
          </a:prstGeom>
          <a:solidFill>
            <a:srgbClr val="1C2B4F"/>
          </a:solidFill>
          <a:ln w="9525">
            <a:solidFill>
              <a:srgbClr val="1C2B4F"/>
            </a:solidFill>
            <a:prstDash val="solid"/>
          </a:ln>
        </p:spPr>
      </p:sp>
      <p:sp>
        <p:nvSpPr>
          <p:cNvPr id="24" name="Shape 22"/>
          <p:cNvSpPr/>
          <p:nvPr/>
        </p:nvSpPr>
        <p:spPr>
          <a:xfrm>
            <a:off x="6903720" y="1371600"/>
            <a:ext cx="365760" cy="365760"/>
          </a:xfrm>
          <a:prstGeom prst="ellipse">
            <a:avLst/>
          </a:prstGeom>
          <a:solidFill>
            <a:srgbClr val="2EC4B6"/>
          </a:solidFill>
          <a:ln w="12700">
            <a:solidFill>
              <a:srgbClr val="2EC4B6"/>
            </a:solidFill>
            <a:prstDash val="solid"/>
          </a:ln>
        </p:spPr>
      </p:sp>
      <p:sp>
        <p:nvSpPr>
          <p:cNvPr id="25" name="Text 23"/>
          <p:cNvSpPr txBox="1"/>
          <p:nvPr/>
        </p:nvSpPr>
        <p:spPr>
          <a:xfrm>
            <a:off x="6903720" y="1371600"/>
            <a:ext cx="365760" cy="365760"/>
          </a:xfrm>
          <a:prstGeom prst="rect">
            <a:avLst/>
          </a:prstGeom>
          <a:noFill/>
          <a:ln/>
        </p:spPr>
        <p:txBody>
          <a:bodyPr wrap="square" lIns="0" tIns="0" rIns="0" bIns="0" rtlCol="0" anchor="ctr"/>
          <a:lstStyle/>
          <a:p>
            <a:pPr algn="ctr" indent="0" marL="0">
              <a:buNone/>
            </a:pPr>
            <a:r>
              <a:rPr lang="en-US" sz="1400" b="1" dirty="0">
                <a:solidFill>
                  <a:srgbClr val="14213D"/>
                </a:solidFill>
                <a:latin typeface="Calibri" pitchFamily="34" charset="0"/>
                <a:ea typeface="Calibri" pitchFamily="34" charset="-122"/>
                <a:cs typeface="Calibri" pitchFamily="34" charset="-120"/>
              </a:rPr>
              <a:t>4</a:t>
            </a:r>
            <a:endParaRPr lang="en-US" sz="1400" dirty="0"/>
          </a:p>
        </p:txBody>
      </p:sp>
      <p:sp>
        <p:nvSpPr>
          <p:cNvPr id="26" name="Text 24"/>
          <p:cNvSpPr txBox="1"/>
          <p:nvPr/>
        </p:nvSpPr>
        <p:spPr>
          <a:xfrm>
            <a:off x="7360920" y="1389888"/>
            <a:ext cx="1280160" cy="329184"/>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Verify &amp; audit</a:t>
            </a:r>
            <a:endParaRPr lang="en-US" sz="1250" dirty="0"/>
          </a:p>
        </p:txBody>
      </p:sp>
      <p:sp>
        <p:nvSpPr>
          <p:cNvPr id="27" name="Text 25"/>
          <p:cNvSpPr txBox="1"/>
          <p:nvPr/>
        </p:nvSpPr>
        <p:spPr>
          <a:xfrm>
            <a:off x="6903720" y="1828800"/>
            <a:ext cx="1691640" cy="1280160"/>
          </a:xfrm>
          <a:prstGeom prst="rect">
            <a:avLst/>
          </a:prstGeom>
          <a:noFill/>
          <a:ln/>
        </p:spPr>
        <p:txBody>
          <a:bodyPr wrap="square" lIns="0" tIns="0" rIns="0" bIns="0" rtlCol="0" anchor="t"/>
          <a:lstStyle/>
          <a:p>
            <a:pPr indent="0" marL="0">
              <a:buNone/>
            </a:pPr>
            <a:r>
              <a:rPr lang="en-US" sz="850" dirty="0">
                <a:solidFill>
                  <a:srgbClr val="DCE7F5"/>
                </a:solidFill>
                <a:latin typeface="Calibri" pitchFamily="34" charset="0"/>
                <a:ea typeface="Calibri" pitchFamily="34" charset="-122"/>
                <a:cs typeface="Calibri" pitchFamily="34" charset="-120"/>
              </a:rPr>
              <a:t>Citations must resolve, quotes must appear in evidence, weak evidence abstains, and every query writes a hash-chained audit row.</a:t>
            </a:r>
            <a:endParaRPr lang="en-US" sz="850" dirty="0"/>
          </a:p>
        </p:txBody>
      </p:sp>
      <p:sp>
        <p:nvSpPr>
          <p:cNvPr id="28" name="Shape 26"/>
          <p:cNvSpPr/>
          <p:nvPr/>
        </p:nvSpPr>
        <p:spPr>
          <a:xfrm>
            <a:off x="457200" y="3429000"/>
            <a:ext cx="4023360" cy="1188720"/>
          </a:xfrm>
          <a:prstGeom prst="roundRect">
            <a:avLst>
              <a:gd name="adj" fmla="val 4615"/>
            </a:avLst>
          </a:prstGeom>
          <a:solidFill>
            <a:srgbClr val="F3F6FA"/>
          </a:solidFill>
          <a:ln w="9525">
            <a:solidFill>
              <a:srgbClr val="C9D3E0"/>
            </a:solidFill>
            <a:prstDash val="solid"/>
          </a:ln>
        </p:spPr>
      </p:sp>
      <p:sp>
        <p:nvSpPr>
          <p:cNvPr id="29" name="Text 27"/>
          <p:cNvSpPr txBox="1"/>
          <p:nvPr/>
        </p:nvSpPr>
        <p:spPr>
          <a:xfrm>
            <a:off x="548640" y="3483864"/>
            <a:ext cx="384048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Surfaces</a:t>
            </a:r>
            <a:endParaRPr lang="en-US" sz="1100" dirty="0"/>
          </a:p>
        </p:txBody>
      </p:sp>
      <p:sp>
        <p:nvSpPr>
          <p:cNvPr id="30" name="Text 28"/>
          <p:cNvSpPr txBox="1"/>
          <p:nvPr/>
        </p:nvSpPr>
        <p:spPr>
          <a:xfrm>
            <a:off x="548640" y="3739896"/>
            <a:ext cx="3840480" cy="822960"/>
          </a:xfrm>
          <a:prstGeom prst="rect">
            <a:avLst/>
          </a:prstGeom>
          <a:noFill/>
          <a:ln/>
        </p:spPr>
        <p:txBody>
          <a:bodyPr wrap="square" lIns="0" tIns="0" rIns="0" bIns="0" rtlCol="0" anchor="t"/>
          <a:lstStyle/>
          <a:p>
            <a:pPr indent="0" marL="0">
              <a:buNone/>
            </a:pPr>
            <a:r>
              <a:rPr lang="en-US" sz="1000" dirty="0">
                <a:solidFill>
                  <a:srgbClr val="1B2A41"/>
                </a:solidFill>
                <a:latin typeface="Calibri" pitchFamily="34" charset="0"/>
                <a:ea typeface="Calibri" pitchFamily="34" charset="-122"/>
                <a:cs typeface="Calibri" pitchFamily="34" charset="-120"/>
              </a:rPr>
              <a:t>A dependency-free analyst UI served by FastAPI · JSON API (/retrieve, /query, /admin/ingest, /audit) · /chat with optional Server-Sent Events streaming for app and agent workflows.</a:t>
            </a:r>
            <a:endParaRPr lang="en-US" sz="1000" dirty="0"/>
          </a:p>
        </p:txBody>
      </p:sp>
      <p:sp>
        <p:nvSpPr>
          <p:cNvPr id="31" name="Shape 29"/>
          <p:cNvSpPr/>
          <p:nvPr/>
        </p:nvSpPr>
        <p:spPr>
          <a:xfrm>
            <a:off x="4663440" y="3429000"/>
            <a:ext cx="4023360" cy="1188720"/>
          </a:xfrm>
          <a:prstGeom prst="roundRect">
            <a:avLst>
              <a:gd name="adj" fmla="val 4615"/>
            </a:avLst>
          </a:prstGeom>
          <a:solidFill>
            <a:srgbClr val="F3F6FA"/>
          </a:solidFill>
          <a:ln w="9525">
            <a:solidFill>
              <a:srgbClr val="C9D3E0"/>
            </a:solidFill>
            <a:prstDash val="solid"/>
          </a:ln>
        </p:spPr>
      </p:sp>
      <p:sp>
        <p:nvSpPr>
          <p:cNvPr id="32" name="Text 30"/>
          <p:cNvSpPr txBox="1"/>
          <p:nvPr/>
        </p:nvSpPr>
        <p:spPr>
          <a:xfrm>
            <a:off x="4754880" y="3483864"/>
            <a:ext cx="384048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Two run modes, one contract</a:t>
            </a:r>
            <a:endParaRPr lang="en-US" sz="1100" dirty="0"/>
          </a:p>
        </p:txBody>
      </p:sp>
      <p:sp>
        <p:nvSpPr>
          <p:cNvPr id="33" name="Text 31"/>
          <p:cNvSpPr txBox="1"/>
          <p:nvPr/>
        </p:nvSpPr>
        <p:spPr>
          <a:xfrm>
            <a:off x="4754880" y="3739896"/>
            <a:ext cx="3840480" cy="822960"/>
          </a:xfrm>
          <a:prstGeom prst="rect">
            <a:avLst/>
          </a:prstGeom>
          <a:noFill/>
          <a:ln/>
        </p:spPr>
        <p:txBody>
          <a:bodyPr wrap="square" lIns="0" tIns="0" rIns="0" bIns="0" rtlCol="0" anchor="t"/>
          <a:lstStyle/>
          <a:p>
            <a:pPr indent="0" marL="0">
              <a:buNone/>
            </a:pPr>
            <a:r>
              <a:rPr lang="en-US" sz="1000" dirty="0">
                <a:solidFill>
                  <a:srgbClr val="1B2A41"/>
                </a:solidFill>
                <a:latin typeface="Calibri" pitchFamily="34" charset="0"/>
                <a:ea typeface="Calibri" pitchFamily="34" charset="-122"/>
                <a:cs typeface="Calibri" pitchFamily="34" charset="-120"/>
              </a:rPr>
              <a:t>Mock mode (default): fake embeddings, generation and reranker, fully offline, no key, no Qdrant. Local mode: the same code path with Qdrant and, optionally, OpenAI and a cross-encoder reranker behind explicit configuration.</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5486400" cy="228600"/>
          </a:xfrm>
          <a:prstGeom prst="rect">
            <a:avLst/>
          </a:prstGeom>
          <a:noFill/>
          <a:ln/>
        </p:spPr>
        <p:txBody>
          <a:bodyPr wrap="square" lIns="0" tIns="0" rIns="0" bIns="0" rtlCol="0" anchor="ctr"/>
          <a:lstStyle/>
          <a:p>
            <a:pPr indent="0" marL="0">
              <a:buNone/>
            </a:pPr>
            <a:r>
              <a:rPr lang="en-US" sz="1000" b="1" spc="200" kern="0" dirty="0">
                <a:solidFill>
                  <a:srgbClr val="2EC4B6"/>
                </a:solidFill>
                <a:latin typeface="Calibri" pitchFamily="34" charset="0"/>
                <a:ea typeface="Calibri" pitchFamily="34" charset="-122"/>
                <a:cs typeface="Calibri" pitchFamily="34" charset="-120"/>
              </a:rPr>
              <a:t>ARCHITECTURE · C4 LEVEL 1</a:t>
            </a:r>
            <a:endParaRPr lang="en-US" sz="1000" dirty="0"/>
          </a:p>
        </p:txBody>
      </p:sp>
      <p:sp>
        <p:nvSpPr>
          <p:cNvPr id="3" name="Text 1"/>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600" b="1" dirty="0">
                <a:solidFill>
                  <a:srgbClr val="14213D"/>
                </a:solidFill>
                <a:latin typeface="Cambria" pitchFamily="34" charset="0"/>
                <a:ea typeface="Cambria" pitchFamily="34" charset="-122"/>
                <a:cs typeface="Cambria" pitchFamily="34" charset="-120"/>
              </a:rPr>
              <a:t>System context</a:t>
            </a:r>
            <a:endParaRPr lang="en-US" sz="2600" dirty="0"/>
          </a:p>
        </p:txBody>
      </p:sp>
      <p:sp>
        <p:nvSpPr>
          <p:cNvPr id="4" name="Text 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6B7A90"/>
                </a:solidFill>
                <a:latin typeface="Calibri" pitchFamily="34" charset="0"/>
                <a:ea typeface="Calibri" pitchFamily="34" charset="-122"/>
                <a:cs typeface="Calibri" pitchFamily="34" charset="-120"/>
              </a:rPr>
              <a:t>RegLens · AI Systems Architecture Review · 5</a:t>
            </a:r>
            <a:endParaRPr lang="en-US" sz="800" dirty="0"/>
          </a:p>
        </p:txBody>
      </p:sp>
      <p:sp>
        <p:nvSpPr>
          <p:cNvPr id="5" name="Shape 3"/>
          <p:cNvSpPr/>
          <p:nvPr/>
        </p:nvSpPr>
        <p:spPr>
          <a:xfrm>
            <a:off x="457200" y="1188720"/>
            <a:ext cx="1737360" cy="822960"/>
          </a:xfrm>
          <a:prstGeom prst="roundRect">
            <a:avLst>
              <a:gd name="adj" fmla="val 6667"/>
            </a:avLst>
          </a:prstGeom>
          <a:solidFill>
            <a:srgbClr val="F3F6FA"/>
          </a:solidFill>
          <a:ln w="9525">
            <a:solidFill>
              <a:srgbClr val="C9D3E0"/>
            </a:solidFill>
            <a:prstDash val="solid"/>
          </a:ln>
        </p:spPr>
      </p:sp>
      <p:sp>
        <p:nvSpPr>
          <p:cNvPr id="6" name="Text 4"/>
          <p:cNvSpPr txBox="1"/>
          <p:nvPr/>
        </p:nvSpPr>
        <p:spPr>
          <a:xfrm>
            <a:off x="548640" y="1243584"/>
            <a:ext cx="155448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Compliance analyst</a:t>
            </a:r>
            <a:endParaRPr lang="en-US" sz="1100" dirty="0"/>
          </a:p>
        </p:txBody>
      </p:sp>
      <p:sp>
        <p:nvSpPr>
          <p:cNvPr id="7" name="Text 5"/>
          <p:cNvSpPr txBox="1"/>
          <p:nvPr/>
        </p:nvSpPr>
        <p:spPr>
          <a:xfrm>
            <a:off x="548640" y="1499616"/>
            <a:ext cx="1554480" cy="457200"/>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browser, analyst UI</a:t>
            </a:r>
            <a:endParaRPr lang="en-US" sz="850" dirty="0"/>
          </a:p>
        </p:txBody>
      </p:sp>
      <p:sp>
        <p:nvSpPr>
          <p:cNvPr id="8" name="Shape 6"/>
          <p:cNvSpPr/>
          <p:nvPr/>
        </p:nvSpPr>
        <p:spPr>
          <a:xfrm>
            <a:off x="2194560" y="1600200"/>
            <a:ext cx="320040" cy="1005840"/>
          </a:xfrm>
          <a:prstGeom prst="line">
            <a:avLst/>
          </a:prstGeom>
          <a:noFill/>
          <a:ln w="12700">
            <a:solidFill>
              <a:srgbClr val="6B7A90"/>
            </a:solidFill>
            <a:prstDash val="solid"/>
            <a:tailEnd type="triangle"/>
          </a:ln>
        </p:spPr>
      </p:sp>
      <p:sp>
        <p:nvSpPr>
          <p:cNvPr id="9" name="Shape 7"/>
          <p:cNvSpPr/>
          <p:nvPr/>
        </p:nvSpPr>
        <p:spPr>
          <a:xfrm>
            <a:off x="457200" y="2148840"/>
            <a:ext cx="1737360" cy="822960"/>
          </a:xfrm>
          <a:prstGeom prst="roundRect">
            <a:avLst>
              <a:gd name="adj" fmla="val 6667"/>
            </a:avLst>
          </a:prstGeom>
          <a:solidFill>
            <a:srgbClr val="F3F6FA"/>
          </a:solidFill>
          <a:ln w="9525">
            <a:solidFill>
              <a:srgbClr val="C9D3E0"/>
            </a:solidFill>
            <a:prstDash val="solid"/>
          </a:ln>
        </p:spPr>
      </p:sp>
      <p:sp>
        <p:nvSpPr>
          <p:cNvPr id="10" name="Text 8"/>
          <p:cNvSpPr txBox="1"/>
          <p:nvPr/>
        </p:nvSpPr>
        <p:spPr>
          <a:xfrm>
            <a:off x="548640" y="2203704"/>
            <a:ext cx="155448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Reviewer / auditor</a:t>
            </a:r>
            <a:endParaRPr lang="en-US" sz="1100" dirty="0"/>
          </a:p>
        </p:txBody>
      </p:sp>
      <p:sp>
        <p:nvSpPr>
          <p:cNvPr id="11" name="Text 9"/>
          <p:cNvSpPr txBox="1"/>
          <p:nvPr/>
        </p:nvSpPr>
        <p:spPr>
          <a:xfrm>
            <a:off x="548640" y="2459736"/>
            <a:ext cx="1554480" cy="457200"/>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audit export</a:t>
            </a:r>
            <a:endParaRPr lang="en-US" sz="850" dirty="0"/>
          </a:p>
        </p:txBody>
      </p:sp>
      <p:sp>
        <p:nvSpPr>
          <p:cNvPr id="12" name="Shape 10"/>
          <p:cNvSpPr/>
          <p:nvPr/>
        </p:nvSpPr>
        <p:spPr>
          <a:xfrm>
            <a:off x="2194560" y="2560320"/>
            <a:ext cx="320040" cy="45720"/>
          </a:xfrm>
          <a:prstGeom prst="line">
            <a:avLst/>
          </a:prstGeom>
          <a:noFill/>
          <a:ln w="12700">
            <a:solidFill>
              <a:srgbClr val="6B7A90"/>
            </a:solidFill>
            <a:prstDash val="solid"/>
            <a:tailEnd type="triangle"/>
          </a:ln>
        </p:spPr>
      </p:sp>
      <p:sp>
        <p:nvSpPr>
          <p:cNvPr id="13" name="Shape 11"/>
          <p:cNvSpPr/>
          <p:nvPr/>
        </p:nvSpPr>
        <p:spPr>
          <a:xfrm>
            <a:off x="457200" y="3108960"/>
            <a:ext cx="1737360" cy="822960"/>
          </a:xfrm>
          <a:prstGeom prst="roundRect">
            <a:avLst>
              <a:gd name="adj" fmla="val 6667"/>
            </a:avLst>
          </a:prstGeom>
          <a:solidFill>
            <a:srgbClr val="F3F6FA"/>
          </a:solidFill>
          <a:ln w="9525">
            <a:solidFill>
              <a:srgbClr val="C9D3E0"/>
            </a:solidFill>
            <a:prstDash val="solid"/>
          </a:ln>
        </p:spPr>
      </p:sp>
      <p:sp>
        <p:nvSpPr>
          <p:cNvPr id="14" name="Text 12"/>
          <p:cNvSpPr txBox="1"/>
          <p:nvPr/>
        </p:nvSpPr>
        <p:spPr>
          <a:xfrm>
            <a:off x="548640" y="3163824"/>
            <a:ext cx="155448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Automation / agents</a:t>
            </a:r>
            <a:endParaRPr lang="en-US" sz="1100" dirty="0"/>
          </a:p>
        </p:txBody>
      </p:sp>
      <p:sp>
        <p:nvSpPr>
          <p:cNvPr id="15" name="Text 13"/>
          <p:cNvSpPr txBox="1"/>
          <p:nvPr/>
        </p:nvSpPr>
        <p:spPr>
          <a:xfrm>
            <a:off x="548640" y="3419856"/>
            <a:ext cx="1554480" cy="457200"/>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HTTP + SSE client</a:t>
            </a:r>
            <a:endParaRPr lang="en-US" sz="850" dirty="0"/>
          </a:p>
        </p:txBody>
      </p:sp>
      <p:sp>
        <p:nvSpPr>
          <p:cNvPr id="16" name="Shape 14"/>
          <p:cNvSpPr/>
          <p:nvPr/>
        </p:nvSpPr>
        <p:spPr>
          <a:xfrm flipV="1">
            <a:off x="2194560" y="2606040"/>
            <a:ext cx="320040" cy="914400"/>
          </a:xfrm>
          <a:prstGeom prst="line">
            <a:avLst/>
          </a:prstGeom>
          <a:noFill/>
          <a:ln w="12700">
            <a:solidFill>
              <a:srgbClr val="6B7A90"/>
            </a:solidFill>
            <a:prstDash val="solid"/>
            <a:tailEnd type="triangle"/>
          </a:ln>
        </p:spPr>
      </p:sp>
      <p:sp>
        <p:nvSpPr>
          <p:cNvPr id="17" name="Shape 15"/>
          <p:cNvSpPr/>
          <p:nvPr/>
        </p:nvSpPr>
        <p:spPr>
          <a:xfrm>
            <a:off x="2560320" y="1188720"/>
            <a:ext cx="3200400" cy="3246120"/>
          </a:xfrm>
          <a:prstGeom prst="roundRect">
            <a:avLst>
              <a:gd name="adj" fmla="val 1714"/>
            </a:avLst>
          </a:prstGeom>
          <a:solidFill>
            <a:srgbClr val="EEF6F4"/>
          </a:solidFill>
          <a:ln w="9525">
            <a:solidFill>
              <a:srgbClr val="2EC4B6"/>
            </a:solidFill>
            <a:prstDash val="solid"/>
          </a:ln>
        </p:spPr>
      </p:sp>
      <p:sp>
        <p:nvSpPr>
          <p:cNvPr id="18" name="Text 16"/>
          <p:cNvSpPr txBox="1"/>
          <p:nvPr/>
        </p:nvSpPr>
        <p:spPr>
          <a:xfrm>
            <a:off x="2697480" y="1261872"/>
            <a:ext cx="2926080" cy="274320"/>
          </a:xfrm>
          <a:prstGeom prst="rect">
            <a:avLst/>
          </a:prstGeom>
          <a:noFill/>
          <a:ln/>
        </p:spPr>
        <p:txBody>
          <a:bodyPr wrap="square" lIns="0" tIns="0" rIns="0" bIns="0" rtlCol="0" anchor="ctr"/>
          <a:lstStyle/>
          <a:p>
            <a:pPr indent="0" marL="0">
              <a:buNone/>
            </a:pPr>
            <a:r>
              <a:rPr lang="en-US" sz="1400" b="1" dirty="0">
                <a:solidFill>
                  <a:srgbClr val="14213D"/>
                </a:solidFill>
                <a:latin typeface="Cambria" pitchFamily="34" charset="0"/>
                <a:ea typeface="Cambria" pitchFamily="34" charset="-122"/>
                <a:cs typeface="Cambria" pitchFamily="34" charset="-120"/>
              </a:rPr>
              <a:t>RegLens</a:t>
            </a:r>
            <a:endParaRPr lang="en-US" sz="1400" dirty="0"/>
          </a:p>
        </p:txBody>
      </p:sp>
      <p:sp>
        <p:nvSpPr>
          <p:cNvPr id="19" name="Shape 17"/>
          <p:cNvSpPr/>
          <p:nvPr/>
        </p:nvSpPr>
        <p:spPr>
          <a:xfrm>
            <a:off x="2697480" y="1600200"/>
            <a:ext cx="2926080" cy="640080"/>
          </a:xfrm>
          <a:prstGeom prst="roundRect">
            <a:avLst>
              <a:gd name="adj" fmla="val 8571"/>
            </a:avLst>
          </a:prstGeom>
          <a:solidFill>
            <a:srgbClr val="F3F6FA"/>
          </a:solidFill>
          <a:ln w="9525">
            <a:solidFill>
              <a:srgbClr val="C9D3E0"/>
            </a:solidFill>
            <a:prstDash val="solid"/>
          </a:ln>
        </p:spPr>
      </p:sp>
      <p:sp>
        <p:nvSpPr>
          <p:cNvPr id="20" name="Text 18"/>
          <p:cNvSpPr txBox="1"/>
          <p:nvPr/>
        </p:nvSpPr>
        <p:spPr>
          <a:xfrm>
            <a:off x="2788920" y="1655064"/>
            <a:ext cx="274320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Surfaces</a:t>
            </a:r>
            <a:endParaRPr lang="en-US" sz="1100" dirty="0"/>
          </a:p>
        </p:txBody>
      </p:sp>
      <p:sp>
        <p:nvSpPr>
          <p:cNvPr id="21" name="Text 19"/>
          <p:cNvSpPr txBox="1"/>
          <p:nvPr/>
        </p:nvSpPr>
        <p:spPr>
          <a:xfrm>
            <a:off x="2788920" y="1911096"/>
            <a:ext cx="2743200" cy="274320"/>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Analyst UI (/) · FastAPI JSON routes · /chat + SSE</a:t>
            </a:r>
            <a:endParaRPr lang="en-US" sz="850" dirty="0"/>
          </a:p>
        </p:txBody>
      </p:sp>
      <p:sp>
        <p:nvSpPr>
          <p:cNvPr id="22" name="Shape 20"/>
          <p:cNvSpPr/>
          <p:nvPr/>
        </p:nvSpPr>
        <p:spPr>
          <a:xfrm>
            <a:off x="2697480" y="2331720"/>
            <a:ext cx="2926080" cy="1051560"/>
          </a:xfrm>
          <a:prstGeom prst="roundRect">
            <a:avLst>
              <a:gd name="adj" fmla="val 5217"/>
            </a:avLst>
          </a:prstGeom>
          <a:solidFill>
            <a:srgbClr val="F3F6FA"/>
          </a:solidFill>
          <a:ln w="9525">
            <a:solidFill>
              <a:srgbClr val="C9D3E0"/>
            </a:solidFill>
            <a:prstDash val="solid"/>
          </a:ln>
        </p:spPr>
      </p:sp>
      <p:sp>
        <p:nvSpPr>
          <p:cNvPr id="23" name="Text 21"/>
          <p:cNvSpPr txBox="1"/>
          <p:nvPr/>
        </p:nvSpPr>
        <p:spPr>
          <a:xfrm>
            <a:off x="2788920" y="2386584"/>
            <a:ext cx="274320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Core pipeline</a:t>
            </a:r>
            <a:endParaRPr lang="en-US" sz="1100" dirty="0"/>
          </a:p>
        </p:txBody>
      </p:sp>
      <p:sp>
        <p:nvSpPr>
          <p:cNvPr id="24" name="Text 22"/>
          <p:cNvSpPr txBox="1"/>
          <p:nvPr/>
        </p:nvSpPr>
        <p:spPr>
          <a:xfrm>
            <a:off x="2788920" y="2642616"/>
            <a:ext cx="2743200" cy="685800"/>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ingest → chunk → retrieve (BM25 + dense, RRF) → rerank → generate with [E1]… markers → verify citations/quotes → abstain or warn</a:t>
            </a:r>
            <a:endParaRPr lang="en-US" sz="850" dirty="0"/>
          </a:p>
        </p:txBody>
      </p:sp>
      <p:sp>
        <p:nvSpPr>
          <p:cNvPr id="25" name="Shape 23"/>
          <p:cNvSpPr/>
          <p:nvPr/>
        </p:nvSpPr>
        <p:spPr>
          <a:xfrm>
            <a:off x="2697480" y="3474720"/>
            <a:ext cx="2926080" cy="822960"/>
          </a:xfrm>
          <a:prstGeom prst="roundRect">
            <a:avLst>
              <a:gd name="adj" fmla="val 6667"/>
            </a:avLst>
          </a:prstGeom>
          <a:solidFill>
            <a:srgbClr val="F3F6FA"/>
          </a:solidFill>
          <a:ln w="9525">
            <a:solidFill>
              <a:srgbClr val="C9D3E0"/>
            </a:solidFill>
            <a:prstDash val="solid"/>
          </a:ln>
        </p:spPr>
      </p:sp>
      <p:sp>
        <p:nvSpPr>
          <p:cNvPr id="26" name="Text 24"/>
          <p:cNvSpPr txBox="1"/>
          <p:nvPr/>
        </p:nvSpPr>
        <p:spPr>
          <a:xfrm>
            <a:off x="2788920" y="3529584"/>
            <a:ext cx="274320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Persistence</a:t>
            </a:r>
            <a:endParaRPr lang="en-US" sz="1100" dirty="0"/>
          </a:p>
        </p:txBody>
      </p:sp>
      <p:sp>
        <p:nvSpPr>
          <p:cNvPr id="27" name="Text 25"/>
          <p:cNvSpPr txBox="1"/>
          <p:nvPr/>
        </p:nvSpPr>
        <p:spPr>
          <a:xfrm>
            <a:off x="2788920" y="3785616"/>
            <a:ext cx="2743200" cy="457200"/>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SQLite: sources, chunks, query audits, evidence, chat sessions/turns</a:t>
            </a:r>
            <a:endParaRPr lang="en-US" sz="850" dirty="0"/>
          </a:p>
        </p:txBody>
      </p:sp>
      <p:sp>
        <p:nvSpPr>
          <p:cNvPr id="28" name="Shape 26"/>
          <p:cNvSpPr/>
          <p:nvPr/>
        </p:nvSpPr>
        <p:spPr>
          <a:xfrm>
            <a:off x="6217920" y="1188720"/>
            <a:ext cx="2468880" cy="731520"/>
          </a:xfrm>
          <a:prstGeom prst="roundRect">
            <a:avLst>
              <a:gd name="adj" fmla="val 7500"/>
            </a:avLst>
          </a:prstGeom>
          <a:solidFill>
            <a:srgbClr val="F3F6FA"/>
          </a:solidFill>
          <a:ln w="9525">
            <a:solidFill>
              <a:srgbClr val="C9D3E0"/>
            </a:solidFill>
            <a:prstDash val="solid"/>
          </a:ln>
        </p:spPr>
      </p:sp>
      <p:sp>
        <p:nvSpPr>
          <p:cNvPr id="29" name="Text 27"/>
          <p:cNvSpPr txBox="1"/>
          <p:nvPr/>
        </p:nvSpPr>
        <p:spPr>
          <a:xfrm>
            <a:off x="6309360" y="1243584"/>
            <a:ext cx="228600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OpenAI (optional)</a:t>
            </a:r>
            <a:endParaRPr lang="en-US" sz="1100" dirty="0"/>
          </a:p>
        </p:txBody>
      </p:sp>
      <p:sp>
        <p:nvSpPr>
          <p:cNvPr id="30" name="Text 28"/>
          <p:cNvSpPr txBox="1"/>
          <p:nvPr/>
        </p:nvSpPr>
        <p:spPr>
          <a:xfrm>
            <a:off x="6309360" y="1499616"/>
            <a:ext cx="2286000" cy="365760"/>
          </a:xfrm>
          <a:prstGeom prst="rect">
            <a:avLst/>
          </a:prstGeom>
          <a:noFill/>
          <a:ln/>
        </p:spPr>
        <p:txBody>
          <a:bodyPr wrap="square" lIns="0" tIns="0" rIns="0" bIns="0" rtlCol="0" anchor="t"/>
          <a:lstStyle/>
          <a:p>
            <a:pPr indent="0" marL="0">
              <a:buNone/>
            </a:pPr>
            <a:r>
              <a:rPr lang="en-US" sz="800" dirty="0">
                <a:solidFill>
                  <a:srgbClr val="1B2A41"/>
                </a:solidFill>
                <a:latin typeface="Calibri" pitchFamily="34" charset="0"/>
                <a:ea typeface="Calibri" pitchFamily="34" charset="-122"/>
                <a:cs typeface="Calibri" pitchFamily="34" charset="-120"/>
              </a:rPr>
              <a:t>text-embedding-3-small + gpt-5.4-nano; explicit provider name + key, fails closed otherwise</a:t>
            </a:r>
            <a:endParaRPr lang="en-US" sz="800" dirty="0"/>
          </a:p>
        </p:txBody>
      </p:sp>
      <p:sp>
        <p:nvSpPr>
          <p:cNvPr id="31" name="Shape 29"/>
          <p:cNvSpPr/>
          <p:nvPr/>
        </p:nvSpPr>
        <p:spPr>
          <a:xfrm>
            <a:off x="6217920" y="2057400"/>
            <a:ext cx="2468880" cy="731520"/>
          </a:xfrm>
          <a:prstGeom prst="roundRect">
            <a:avLst>
              <a:gd name="adj" fmla="val 7500"/>
            </a:avLst>
          </a:prstGeom>
          <a:solidFill>
            <a:srgbClr val="F3F6FA"/>
          </a:solidFill>
          <a:ln w="9525">
            <a:solidFill>
              <a:srgbClr val="C9D3E0"/>
            </a:solidFill>
            <a:prstDash val="solid"/>
          </a:ln>
        </p:spPr>
      </p:sp>
      <p:sp>
        <p:nvSpPr>
          <p:cNvPr id="32" name="Text 30"/>
          <p:cNvSpPr txBox="1"/>
          <p:nvPr/>
        </p:nvSpPr>
        <p:spPr>
          <a:xfrm>
            <a:off x="6309360" y="2112264"/>
            <a:ext cx="228600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Qdrant (optional)</a:t>
            </a:r>
            <a:endParaRPr lang="en-US" sz="1100" dirty="0"/>
          </a:p>
        </p:txBody>
      </p:sp>
      <p:sp>
        <p:nvSpPr>
          <p:cNvPr id="33" name="Text 31"/>
          <p:cNvSpPr txBox="1"/>
          <p:nvPr/>
        </p:nvSpPr>
        <p:spPr>
          <a:xfrm>
            <a:off x="6309360" y="2368296"/>
            <a:ext cx="2286000" cy="365760"/>
          </a:xfrm>
          <a:prstGeom prst="rect">
            <a:avLst/>
          </a:prstGeom>
          <a:noFill/>
          <a:ln/>
        </p:spPr>
        <p:txBody>
          <a:bodyPr wrap="square" lIns="0" tIns="0" rIns="0" bIns="0" rtlCol="0" anchor="t"/>
          <a:lstStyle/>
          <a:p>
            <a:pPr indent="0" marL="0">
              <a:buNone/>
            </a:pPr>
            <a:r>
              <a:rPr lang="en-US" sz="800" dirty="0">
                <a:solidFill>
                  <a:srgbClr val="1B2A41"/>
                </a:solidFill>
                <a:latin typeface="Calibri" pitchFamily="34" charset="0"/>
                <a:ea typeface="Calibri" pitchFamily="34" charset="-122"/>
                <a:cs typeface="Calibri" pitchFamily="34" charset="-120"/>
              </a:rPr>
              <a:t>local vector store, collection regulatory_chunks, degrades to a structured error if unreachable</a:t>
            </a:r>
            <a:endParaRPr lang="en-US" sz="800" dirty="0"/>
          </a:p>
        </p:txBody>
      </p:sp>
      <p:sp>
        <p:nvSpPr>
          <p:cNvPr id="34" name="Shape 32"/>
          <p:cNvSpPr/>
          <p:nvPr/>
        </p:nvSpPr>
        <p:spPr>
          <a:xfrm>
            <a:off x="6217920" y="2926080"/>
            <a:ext cx="2468880" cy="685800"/>
          </a:xfrm>
          <a:prstGeom prst="roundRect">
            <a:avLst>
              <a:gd name="adj" fmla="val 8000"/>
            </a:avLst>
          </a:prstGeom>
          <a:solidFill>
            <a:srgbClr val="F3F6FA"/>
          </a:solidFill>
          <a:ln w="9525">
            <a:solidFill>
              <a:srgbClr val="C9D3E0"/>
            </a:solidFill>
            <a:prstDash val="solid"/>
          </a:ln>
        </p:spPr>
      </p:sp>
      <p:sp>
        <p:nvSpPr>
          <p:cNvPr id="35" name="Text 33"/>
          <p:cNvSpPr txBox="1"/>
          <p:nvPr/>
        </p:nvSpPr>
        <p:spPr>
          <a:xfrm>
            <a:off x="6309360" y="2980944"/>
            <a:ext cx="228600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sentence-transformers (optional)</a:t>
            </a:r>
            <a:endParaRPr lang="en-US" sz="1100" dirty="0"/>
          </a:p>
        </p:txBody>
      </p:sp>
      <p:sp>
        <p:nvSpPr>
          <p:cNvPr id="36" name="Text 34"/>
          <p:cNvSpPr txBox="1"/>
          <p:nvPr/>
        </p:nvSpPr>
        <p:spPr>
          <a:xfrm>
            <a:off x="6309360" y="3236976"/>
            <a:ext cx="2286000" cy="320040"/>
          </a:xfrm>
          <a:prstGeom prst="rect">
            <a:avLst/>
          </a:prstGeom>
          <a:noFill/>
          <a:ln/>
        </p:spPr>
        <p:txBody>
          <a:bodyPr wrap="square" lIns="0" tIns="0" rIns="0" bIns="0" rtlCol="0" anchor="t"/>
          <a:lstStyle/>
          <a:p>
            <a:pPr indent="0" marL="0">
              <a:buNone/>
            </a:pPr>
            <a:r>
              <a:rPr lang="en-US" sz="800" dirty="0">
                <a:solidFill>
                  <a:srgbClr val="1B2A41"/>
                </a:solidFill>
                <a:latin typeface="Calibri" pitchFamily="34" charset="0"/>
                <a:ea typeface="Calibri" pitchFamily="34" charset="-122"/>
                <a:cs typeface="Calibri" pitchFamily="34" charset="-120"/>
              </a:rPr>
              <a:t>cross-encoder reranker, lazily loaded, local-files-only option</a:t>
            </a:r>
            <a:endParaRPr lang="en-US" sz="800" dirty="0"/>
          </a:p>
        </p:txBody>
      </p:sp>
      <p:sp>
        <p:nvSpPr>
          <p:cNvPr id="37" name="Shape 35"/>
          <p:cNvSpPr/>
          <p:nvPr/>
        </p:nvSpPr>
        <p:spPr>
          <a:xfrm>
            <a:off x="6217920" y="3749040"/>
            <a:ext cx="2468880" cy="594360"/>
          </a:xfrm>
          <a:prstGeom prst="roundRect">
            <a:avLst>
              <a:gd name="adj" fmla="val 9231"/>
            </a:avLst>
          </a:prstGeom>
          <a:solidFill>
            <a:srgbClr val="F3F6FA"/>
          </a:solidFill>
          <a:ln w="9525">
            <a:solidFill>
              <a:srgbClr val="C9D3E0"/>
            </a:solidFill>
            <a:prstDash val="solid"/>
          </a:ln>
        </p:spPr>
      </p:sp>
      <p:sp>
        <p:nvSpPr>
          <p:cNvPr id="38" name="Text 36"/>
          <p:cNvSpPr txBox="1"/>
          <p:nvPr/>
        </p:nvSpPr>
        <p:spPr>
          <a:xfrm>
            <a:off x="6309360" y="3803904"/>
            <a:ext cx="228600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FINRA URLs (allowlisted)</a:t>
            </a:r>
            <a:endParaRPr lang="en-US" sz="1100" dirty="0"/>
          </a:p>
        </p:txBody>
      </p:sp>
      <p:sp>
        <p:nvSpPr>
          <p:cNvPr id="39" name="Text 37"/>
          <p:cNvSpPr txBox="1"/>
          <p:nvPr/>
        </p:nvSpPr>
        <p:spPr>
          <a:xfrm>
            <a:off x="6309360" y="4059936"/>
            <a:ext cx="2286000" cy="228600"/>
          </a:xfrm>
          <a:prstGeom prst="rect">
            <a:avLst/>
          </a:prstGeom>
          <a:noFill/>
          <a:ln/>
        </p:spPr>
        <p:txBody>
          <a:bodyPr wrap="square" lIns="0" tIns="0" rIns="0" bIns="0" rtlCol="0" anchor="t"/>
          <a:lstStyle/>
          <a:p>
            <a:pPr indent="0" marL="0">
              <a:buNone/>
            </a:pPr>
            <a:r>
              <a:rPr lang="en-US" sz="800" dirty="0">
                <a:solidFill>
                  <a:srgbClr val="1B2A41"/>
                </a:solidFill>
                <a:latin typeface="Calibri" pitchFamily="34" charset="0"/>
                <a:ea typeface="Calibri" pitchFamily="34" charset="-122"/>
                <a:cs typeface="Calibri" pitchFamily="34" charset="-120"/>
              </a:rPr>
              <a:t>finra.org / rules.finra.org, HTTPS only, snapshot stored locally</a:t>
            </a:r>
            <a:endParaRPr lang="en-US" sz="800" dirty="0"/>
          </a:p>
        </p:txBody>
      </p:sp>
      <p:sp>
        <p:nvSpPr>
          <p:cNvPr id="40" name="Shape 38"/>
          <p:cNvSpPr/>
          <p:nvPr/>
        </p:nvSpPr>
        <p:spPr>
          <a:xfrm flipV="1">
            <a:off x="5760720" y="1554480"/>
            <a:ext cx="457200" cy="1188720"/>
          </a:xfrm>
          <a:prstGeom prst="line">
            <a:avLst/>
          </a:prstGeom>
          <a:noFill/>
          <a:ln w="12700">
            <a:solidFill>
              <a:srgbClr val="6B7A90"/>
            </a:solidFill>
            <a:prstDash val="solid"/>
            <a:tailEnd type="triangle"/>
          </a:ln>
        </p:spPr>
      </p:sp>
      <p:sp>
        <p:nvSpPr>
          <p:cNvPr id="41" name="Shape 39"/>
          <p:cNvSpPr/>
          <p:nvPr/>
        </p:nvSpPr>
        <p:spPr>
          <a:xfrm flipV="1">
            <a:off x="5760720" y="2423160"/>
            <a:ext cx="457200" cy="411480"/>
          </a:xfrm>
          <a:prstGeom prst="line">
            <a:avLst/>
          </a:prstGeom>
          <a:noFill/>
          <a:ln w="12700">
            <a:solidFill>
              <a:srgbClr val="6B7A90"/>
            </a:solidFill>
            <a:prstDash val="solid"/>
            <a:tailEnd type="triangle"/>
          </a:ln>
        </p:spPr>
      </p:sp>
      <p:sp>
        <p:nvSpPr>
          <p:cNvPr id="42" name="Shape 40"/>
          <p:cNvSpPr/>
          <p:nvPr/>
        </p:nvSpPr>
        <p:spPr>
          <a:xfrm>
            <a:off x="5760720" y="2926080"/>
            <a:ext cx="457200" cy="338328"/>
          </a:xfrm>
          <a:prstGeom prst="line">
            <a:avLst/>
          </a:prstGeom>
          <a:noFill/>
          <a:ln w="12700">
            <a:solidFill>
              <a:srgbClr val="6B7A90"/>
            </a:solidFill>
            <a:prstDash val="solid"/>
            <a:tailEnd type="triangle"/>
          </a:ln>
        </p:spPr>
      </p:sp>
      <p:sp>
        <p:nvSpPr>
          <p:cNvPr id="43" name="Shape 41"/>
          <p:cNvSpPr/>
          <p:nvPr/>
        </p:nvSpPr>
        <p:spPr>
          <a:xfrm>
            <a:off x="5760720" y="3017520"/>
            <a:ext cx="457200" cy="1024128"/>
          </a:xfrm>
          <a:prstGeom prst="line">
            <a:avLst/>
          </a:prstGeom>
          <a:noFill/>
          <a:ln w="12700">
            <a:solidFill>
              <a:srgbClr val="6B7A90"/>
            </a:solidFill>
            <a:prstDash val="solid"/>
            <a:tailEnd type="triangle"/>
          </a:ln>
        </p:spPr>
      </p:sp>
      <p:sp>
        <p:nvSpPr>
          <p:cNvPr id="44" name="Text 42"/>
          <p:cNvSpPr txBox="1"/>
          <p:nvPr/>
        </p:nvSpPr>
        <p:spPr>
          <a:xfrm>
            <a:off x="457200" y="4526280"/>
            <a:ext cx="8229600" cy="292608"/>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Mock mode (default) never calls any of the four boxes on the right. Local mode adds Qdrant; OpenAI and the cross-encoder are opt-in extras layered on top, each gated by an explicit setting.</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5486400" cy="228600"/>
          </a:xfrm>
          <a:prstGeom prst="rect">
            <a:avLst/>
          </a:prstGeom>
          <a:noFill/>
          <a:ln/>
        </p:spPr>
        <p:txBody>
          <a:bodyPr wrap="square" lIns="0" tIns="0" rIns="0" bIns="0" rtlCol="0" anchor="ctr"/>
          <a:lstStyle/>
          <a:p>
            <a:pPr indent="0" marL="0">
              <a:buNone/>
            </a:pPr>
            <a:r>
              <a:rPr lang="en-US" sz="1000" b="1" spc="200" kern="0" dirty="0">
                <a:solidFill>
                  <a:srgbClr val="2EC4B6"/>
                </a:solidFill>
                <a:latin typeface="Calibri" pitchFamily="34" charset="0"/>
                <a:ea typeface="Calibri" pitchFamily="34" charset="-122"/>
                <a:cs typeface="Calibri" pitchFamily="34" charset="-120"/>
              </a:rPr>
              <a:t>ARCHITECTURE · C4 LEVEL 2</a:t>
            </a:r>
            <a:endParaRPr lang="en-US" sz="1000" dirty="0"/>
          </a:p>
        </p:txBody>
      </p:sp>
      <p:sp>
        <p:nvSpPr>
          <p:cNvPr id="3" name="Text 1"/>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600" b="1" dirty="0">
                <a:solidFill>
                  <a:srgbClr val="14213D"/>
                </a:solidFill>
                <a:latin typeface="Cambria" pitchFamily="34" charset="0"/>
                <a:ea typeface="Cambria" pitchFamily="34" charset="-122"/>
                <a:cs typeface="Cambria" pitchFamily="34" charset="-120"/>
              </a:rPr>
              <a:t>Component architecture</a:t>
            </a:r>
            <a:endParaRPr lang="en-US" sz="2600" dirty="0"/>
          </a:p>
        </p:txBody>
      </p:sp>
      <p:sp>
        <p:nvSpPr>
          <p:cNvPr id="4" name="Text 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6B7A90"/>
                </a:solidFill>
                <a:latin typeface="Calibri" pitchFamily="34" charset="0"/>
                <a:ea typeface="Calibri" pitchFamily="34" charset="-122"/>
                <a:cs typeface="Calibri" pitchFamily="34" charset="-120"/>
              </a:rPr>
              <a:t>RegLens · AI Systems Architecture Review · 6</a:t>
            </a:r>
            <a:endParaRPr lang="en-US" sz="800" dirty="0"/>
          </a:p>
        </p:txBody>
      </p:sp>
      <p:sp>
        <p:nvSpPr>
          <p:cNvPr id="5" name="Shape 3"/>
          <p:cNvSpPr/>
          <p:nvPr/>
        </p:nvSpPr>
        <p:spPr>
          <a:xfrm>
            <a:off x="457200" y="1188720"/>
            <a:ext cx="1965960" cy="3246120"/>
          </a:xfrm>
          <a:prstGeom prst="roundRect">
            <a:avLst>
              <a:gd name="adj" fmla="val 2791"/>
            </a:avLst>
          </a:prstGeom>
          <a:solidFill>
            <a:srgbClr val="F3F6FA"/>
          </a:solidFill>
          <a:ln w="9525">
            <a:solidFill>
              <a:srgbClr val="C9D3E0"/>
            </a:solidFill>
            <a:prstDash val="solid"/>
          </a:ln>
        </p:spPr>
      </p:sp>
      <p:sp>
        <p:nvSpPr>
          <p:cNvPr id="6" name="Text 4"/>
          <p:cNvSpPr txBox="1"/>
          <p:nvPr/>
        </p:nvSpPr>
        <p:spPr>
          <a:xfrm>
            <a:off x="548640" y="1243584"/>
            <a:ext cx="1828800" cy="274320"/>
          </a:xfrm>
          <a:prstGeom prst="rect">
            <a:avLst/>
          </a:prstGeom>
          <a:noFill/>
          <a:ln/>
        </p:spPr>
        <p:txBody>
          <a:bodyPr wrap="square" lIns="0" tIns="0" rIns="0" bIns="0" rtlCol="0" anchor="ctr"/>
          <a:lstStyle/>
          <a:p>
            <a:pPr indent="0" marL="0">
              <a:buNone/>
            </a:pPr>
            <a:r>
              <a:rPr lang="en-US" sz="1050" b="1" dirty="0">
                <a:solidFill>
                  <a:srgbClr val="14213D"/>
                </a:solidFill>
                <a:latin typeface="Calibri" pitchFamily="34" charset="0"/>
                <a:ea typeface="Calibri" pitchFamily="34" charset="-122"/>
                <a:cs typeface="Calibri" pitchFamily="34" charset="-120"/>
              </a:rPr>
              <a:t>API (surfaces)</a:t>
            </a:r>
            <a:endParaRPr lang="en-US" sz="1050" dirty="0"/>
          </a:p>
        </p:txBody>
      </p:sp>
      <p:sp>
        <p:nvSpPr>
          <p:cNvPr id="7" name="Shape 5"/>
          <p:cNvSpPr/>
          <p:nvPr/>
        </p:nvSpPr>
        <p:spPr>
          <a:xfrm>
            <a:off x="548640" y="1554480"/>
            <a:ext cx="1783080" cy="635508"/>
          </a:xfrm>
          <a:prstGeom prst="roundRect">
            <a:avLst>
              <a:gd name="adj" fmla="val 7194"/>
            </a:avLst>
          </a:prstGeom>
          <a:solidFill>
            <a:srgbClr val="FFFFFF"/>
          </a:solidFill>
          <a:ln w="9525">
            <a:solidFill>
              <a:srgbClr val="C9D3E0"/>
            </a:solidFill>
            <a:prstDash val="solid"/>
          </a:ln>
        </p:spPr>
      </p:sp>
      <p:sp>
        <p:nvSpPr>
          <p:cNvPr id="8" name="Text 6"/>
          <p:cNvSpPr txBox="1"/>
          <p:nvPr/>
        </p:nvSpPr>
        <p:spPr>
          <a:xfrm>
            <a:off x="612648" y="1581912"/>
            <a:ext cx="1664208" cy="354330"/>
          </a:xfrm>
          <a:prstGeom prst="rect">
            <a:avLst/>
          </a:prstGeom>
          <a:noFill/>
          <a:ln/>
        </p:spPr>
        <p:txBody>
          <a:bodyPr wrap="square" lIns="0" tIns="0" rIns="0" bIns="0" rtlCol="0" anchor="ctr"/>
          <a:lstStyle/>
          <a:p>
            <a:pPr indent="0" marL="0">
              <a:buNone/>
            </a:pPr>
            <a:r>
              <a:rPr lang="en-US" sz="750" b="1" dirty="0">
                <a:solidFill>
                  <a:srgbClr val="14213D"/>
                </a:solidFill>
                <a:latin typeface="Courier New" pitchFamily="34" charset="0"/>
                <a:ea typeface="Courier New" pitchFamily="34" charset="-122"/>
                <a:cs typeface="Courier New" pitchFamily="34" charset="-120"/>
              </a:rPr>
              <a:t>routes_ui.py</a:t>
            </a:r>
            <a:endParaRPr lang="en-US" sz="750" dirty="0"/>
          </a:p>
        </p:txBody>
      </p:sp>
      <p:sp>
        <p:nvSpPr>
          <p:cNvPr id="9" name="Text 7"/>
          <p:cNvSpPr txBox="1"/>
          <p:nvPr/>
        </p:nvSpPr>
        <p:spPr>
          <a:xfrm>
            <a:off x="612648" y="1880464"/>
            <a:ext cx="1664208" cy="354330"/>
          </a:xfrm>
          <a:prstGeom prst="rect">
            <a:avLst/>
          </a:prstGeom>
          <a:noFill/>
          <a:ln/>
        </p:spPr>
        <p:txBody>
          <a:bodyPr wrap="square" lIns="0" tIns="0" rIns="0" bIns="0" rtlCol="0" anchor="ctr"/>
          <a:lstStyle/>
          <a:p>
            <a:pPr indent="0" marL="0">
              <a:buNone/>
            </a:pPr>
            <a:r>
              <a:rPr lang="en-US" sz="750" dirty="0">
                <a:solidFill>
                  <a:srgbClr val="1B2A41"/>
                </a:solidFill>
                <a:latin typeface="Calibri" pitchFamily="34" charset="0"/>
                <a:ea typeface="Calibri" pitchFamily="34" charset="-122"/>
                <a:cs typeface="Calibri" pitchFamily="34" charset="-120"/>
              </a:rPr>
              <a:t>analyst UI, dependency-free HTML</a:t>
            </a:r>
            <a:endParaRPr lang="en-US" sz="750" dirty="0"/>
          </a:p>
        </p:txBody>
      </p:sp>
      <p:sp>
        <p:nvSpPr>
          <p:cNvPr id="10" name="Shape 8"/>
          <p:cNvSpPr/>
          <p:nvPr/>
        </p:nvSpPr>
        <p:spPr>
          <a:xfrm>
            <a:off x="548640" y="2263140"/>
            <a:ext cx="1783080" cy="635508"/>
          </a:xfrm>
          <a:prstGeom prst="roundRect">
            <a:avLst>
              <a:gd name="adj" fmla="val 7194"/>
            </a:avLst>
          </a:prstGeom>
          <a:solidFill>
            <a:srgbClr val="FFFFFF"/>
          </a:solidFill>
          <a:ln w="9525">
            <a:solidFill>
              <a:srgbClr val="C9D3E0"/>
            </a:solidFill>
            <a:prstDash val="solid"/>
          </a:ln>
        </p:spPr>
      </p:sp>
      <p:sp>
        <p:nvSpPr>
          <p:cNvPr id="11" name="Text 9"/>
          <p:cNvSpPr txBox="1"/>
          <p:nvPr/>
        </p:nvSpPr>
        <p:spPr>
          <a:xfrm>
            <a:off x="612648" y="2290572"/>
            <a:ext cx="1664208" cy="354330"/>
          </a:xfrm>
          <a:prstGeom prst="rect">
            <a:avLst/>
          </a:prstGeom>
          <a:noFill/>
          <a:ln/>
        </p:spPr>
        <p:txBody>
          <a:bodyPr wrap="square" lIns="0" tIns="0" rIns="0" bIns="0" rtlCol="0" anchor="ctr"/>
          <a:lstStyle/>
          <a:p>
            <a:pPr indent="0" marL="0">
              <a:buNone/>
            </a:pPr>
            <a:r>
              <a:rPr lang="en-US" sz="750" b="1" dirty="0">
                <a:solidFill>
                  <a:srgbClr val="14213D"/>
                </a:solidFill>
                <a:latin typeface="Courier New" pitchFamily="34" charset="0"/>
                <a:ea typeface="Courier New" pitchFamily="34" charset="-122"/>
                <a:cs typeface="Courier New" pitchFamily="34" charset="-120"/>
              </a:rPr>
              <a:t>routes_query.py</a:t>
            </a:r>
            <a:endParaRPr lang="en-US" sz="750" dirty="0"/>
          </a:p>
        </p:txBody>
      </p:sp>
      <p:sp>
        <p:nvSpPr>
          <p:cNvPr id="12" name="Text 10"/>
          <p:cNvSpPr txBox="1"/>
          <p:nvPr/>
        </p:nvSpPr>
        <p:spPr>
          <a:xfrm>
            <a:off x="612648" y="2589124"/>
            <a:ext cx="1664208" cy="354330"/>
          </a:xfrm>
          <a:prstGeom prst="rect">
            <a:avLst/>
          </a:prstGeom>
          <a:noFill/>
          <a:ln/>
        </p:spPr>
        <p:txBody>
          <a:bodyPr wrap="square" lIns="0" tIns="0" rIns="0" bIns="0" rtlCol="0" anchor="ctr"/>
          <a:lstStyle/>
          <a:p>
            <a:pPr indent="0" marL="0">
              <a:buNone/>
            </a:pPr>
            <a:r>
              <a:rPr lang="en-US" sz="750" dirty="0">
                <a:solidFill>
                  <a:srgbClr val="1B2A41"/>
                </a:solidFill>
                <a:latin typeface="Calibri" pitchFamily="34" charset="0"/>
                <a:ea typeface="Calibri" pitchFamily="34" charset="-122"/>
                <a:cs typeface="Calibri" pitchFamily="34" charset="-120"/>
              </a:rPr>
              <a:t>/retrieve, /query, /chat</a:t>
            </a:r>
            <a:endParaRPr lang="en-US" sz="750" dirty="0"/>
          </a:p>
        </p:txBody>
      </p:sp>
      <p:sp>
        <p:nvSpPr>
          <p:cNvPr id="13" name="Shape 11"/>
          <p:cNvSpPr/>
          <p:nvPr/>
        </p:nvSpPr>
        <p:spPr>
          <a:xfrm>
            <a:off x="548640" y="2971800"/>
            <a:ext cx="1783080" cy="635508"/>
          </a:xfrm>
          <a:prstGeom prst="roundRect">
            <a:avLst>
              <a:gd name="adj" fmla="val 7194"/>
            </a:avLst>
          </a:prstGeom>
          <a:solidFill>
            <a:srgbClr val="FFFFFF"/>
          </a:solidFill>
          <a:ln w="9525">
            <a:solidFill>
              <a:srgbClr val="C9D3E0"/>
            </a:solidFill>
            <a:prstDash val="solid"/>
          </a:ln>
        </p:spPr>
      </p:sp>
      <p:sp>
        <p:nvSpPr>
          <p:cNvPr id="14" name="Text 12"/>
          <p:cNvSpPr txBox="1"/>
          <p:nvPr/>
        </p:nvSpPr>
        <p:spPr>
          <a:xfrm>
            <a:off x="612648" y="2999232"/>
            <a:ext cx="1664208" cy="354330"/>
          </a:xfrm>
          <a:prstGeom prst="rect">
            <a:avLst/>
          </a:prstGeom>
          <a:noFill/>
          <a:ln/>
        </p:spPr>
        <p:txBody>
          <a:bodyPr wrap="square" lIns="0" tIns="0" rIns="0" bIns="0" rtlCol="0" anchor="ctr"/>
          <a:lstStyle/>
          <a:p>
            <a:pPr indent="0" marL="0">
              <a:buNone/>
            </a:pPr>
            <a:r>
              <a:rPr lang="en-US" sz="750" b="1" dirty="0">
                <a:solidFill>
                  <a:srgbClr val="14213D"/>
                </a:solidFill>
                <a:latin typeface="Courier New" pitchFamily="34" charset="0"/>
                <a:ea typeface="Courier New" pitchFamily="34" charset="-122"/>
                <a:cs typeface="Courier New" pitchFamily="34" charset="-120"/>
              </a:rPr>
              <a:t>routes_admin.py</a:t>
            </a:r>
            <a:endParaRPr lang="en-US" sz="750" dirty="0"/>
          </a:p>
        </p:txBody>
      </p:sp>
      <p:sp>
        <p:nvSpPr>
          <p:cNvPr id="15" name="Text 13"/>
          <p:cNvSpPr txBox="1"/>
          <p:nvPr/>
        </p:nvSpPr>
        <p:spPr>
          <a:xfrm>
            <a:off x="612648" y="3297784"/>
            <a:ext cx="1664208" cy="354330"/>
          </a:xfrm>
          <a:prstGeom prst="rect">
            <a:avLst/>
          </a:prstGeom>
          <a:noFill/>
          <a:ln/>
        </p:spPr>
        <p:txBody>
          <a:bodyPr wrap="square" lIns="0" tIns="0" rIns="0" bIns="0" rtlCol="0" anchor="ctr"/>
          <a:lstStyle/>
          <a:p>
            <a:pPr indent="0" marL="0">
              <a:buNone/>
            </a:pPr>
            <a:r>
              <a:rPr lang="en-US" sz="750" dirty="0">
                <a:solidFill>
                  <a:srgbClr val="1B2A41"/>
                </a:solidFill>
                <a:latin typeface="Calibri" pitchFamily="34" charset="0"/>
                <a:ea typeface="Calibri" pitchFamily="34" charset="-122"/>
                <a:cs typeface="Calibri" pitchFamily="34" charset="-120"/>
              </a:rPr>
              <a:t>ingest, ingest-url, documents</a:t>
            </a:r>
            <a:endParaRPr lang="en-US" sz="750" dirty="0"/>
          </a:p>
        </p:txBody>
      </p:sp>
      <p:sp>
        <p:nvSpPr>
          <p:cNvPr id="16" name="Shape 14"/>
          <p:cNvSpPr/>
          <p:nvPr/>
        </p:nvSpPr>
        <p:spPr>
          <a:xfrm>
            <a:off x="548640" y="3680460"/>
            <a:ext cx="1783080" cy="635508"/>
          </a:xfrm>
          <a:prstGeom prst="roundRect">
            <a:avLst>
              <a:gd name="adj" fmla="val 7194"/>
            </a:avLst>
          </a:prstGeom>
          <a:solidFill>
            <a:srgbClr val="FFFFFF"/>
          </a:solidFill>
          <a:ln w="9525">
            <a:solidFill>
              <a:srgbClr val="C9D3E0"/>
            </a:solidFill>
            <a:prstDash val="solid"/>
          </a:ln>
        </p:spPr>
      </p:sp>
      <p:sp>
        <p:nvSpPr>
          <p:cNvPr id="17" name="Text 15"/>
          <p:cNvSpPr txBox="1"/>
          <p:nvPr/>
        </p:nvSpPr>
        <p:spPr>
          <a:xfrm>
            <a:off x="612648" y="3707892"/>
            <a:ext cx="1664208" cy="354330"/>
          </a:xfrm>
          <a:prstGeom prst="rect">
            <a:avLst/>
          </a:prstGeom>
          <a:noFill/>
          <a:ln/>
        </p:spPr>
        <p:txBody>
          <a:bodyPr wrap="square" lIns="0" tIns="0" rIns="0" bIns="0" rtlCol="0" anchor="ctr"/>
          <a:lstStyle/>
          <a:p>
            <a:pPr indent="0" marL="0">
              <a:buNone/>
            </a:pPr>
            <a:r>
              <a:rPr lang="en-US" sz="750" b="1" dirty="0">
                <a:solidFill>
                  <a:srgbClr val="14213D"/>
                </a:solidFill>
                <a:latin typeface="Courier New" pitchFamily="34" charset="0"/>
                <a:ea typeface="Courier New" pitchFamily="34" charset="-122"/>
                <a:cs typeface="Courier New" pitchFamily="34" charset="-120"/>
              </a:rPr>
              <a:t>routes_audit.py</a:t>
            </a:r>
            <a:endParaRPr lang="en-US" sz="750" dirty="0"/>
          </a:p>
        </p:txBody>
      </p:sp>
      <p:sp>
        <p:nvSpPr>
          <p:cNvPr id="18" name="Text 16"/>
          <p:cNvSpPr txBox="1"/>
          <p:nvPr/>
        </p:nvSpPr>
        <p:spPr>
          <a:xfrm>
            <a:off x="612648" y="4006444"/>
            <a:ext cx="1664208" cy="354330"/>
          </a:xfrm>
          <a:prstGeom prst="rect">
            <a:avLst/>
          </a:prstGeom>
          <a:noFill/>
          <a:ln/>
        </p:spPr>
        <p:txBody>
          <a:bodyPr wrap="square" lIns="0" tIns="0" rIns="0" bIns="0" rtlCol="0" anchor="ctr"/>
          <a:lstStyle/>
          <a:p>
            <a:pPr indent="0" marL="0">
              <a:buNone/>
            </a:pPr>
            <a:r>
              <a:rPr lang="en-US" sz="750" dirty="0">
                <a:solidFill>
                  <a:srgbClr val="1B2A41"/>
                </a:solidFill>
                <a:latin typeface="Calibri" pitchFamily="34" charset="0"/>
                <a:ea typeface="Calibri" pitchFamily="34" charset="-122"/>
                <a:cs typeface="Calibri" pitchFamily="34" charset="-120"/>
              </a:rPr>
              <a:t>audit list/export/verify</a:t>
            </a:r>
            <a:endParaRPr lang="en-US" sz="750" dirty="0"/>
          </a:p>
        </p:txBody>
      </p:sp>
      <p:sp>
        <p:nvSpPr>
          <p:cNvPr id="19" name="Shape 17"/>
          <p:cNvSpPr/>
          <p:nvPr/>
        </p:nvSpPr>
        <p:spPr>
          <a:xfrm>
            <a:off x="2606040" y="1188720"/>
            <a:ext cx="1965960" cy="3246120"/>
          </a:xfrm>
          <a:prstGeom prst="roundRect">
            <a:avLst>
              <a:gd name="adj" fmla="val 2791"/>
            </a:avLst>
          </a:prstGeom>
          <a:solidFill>
            <a:srgbClr val="F3F6FA"/>
          </a:solidFill>
          <a:ln w="9525">
            <a:solidFill>
              <a:srgbClr val="C9D3E0"/>
            </a:solidFill>
            <a:prstDash val="solid"/>
          </a:ln>
        </p:spPr>
      </p:sp>
      <p:sp>
        <p:nvSpPr>
          <p:cNvPr id="20" name="Text 18"/>
          <p:cNvSpPr txBox="1"/>
          <p:nvPr/>
        </p:nvSpPr>
        <p:spPr>
          <a:xfrm>
            <a:off x="2697480" y="1243584"/>
            <a:ext cx="1828800" cy="274320"/>
          </a:xfrm>
          <a:prstGeom prst="rect">
            <a:avLst/>
          </a:prstGeom>
          <a:noFill/>
          <a:ln/>
        </p:spPr>
        <p:txBody>
          <a:bodyPr wrap="square" lIns="0" tIns="0" rIns="0" bIns="0" rtlCol="0" anchor="ctr"/>
          <a:lstStyle/>
          <a:p>
            <a:pPr indent="0" marL="0">
              <a:buNone/>
            </a:pPr>
            <a:r>
              <a:rPr lang="en-US" sz="1050" b="1" dirty="0">
                <a:solidFill>
                  <a:srgbClr val="14213D"/>
                </a:solidFill>
                <a:latin typeface="Calibri" pitchFamily="34" charset="0"/>
                <a:ea typeface="Calibri" pitchFamily="34" charset="-122"/>
                <a:cs typeface="Calibri" pitchFamily="34" charset="-120"/>
              </a:rPr>
              <a:t>Ingestion</a:t>
            </a:r>
            <a:endParaRPr lang="en-US" sz="1050" dirty="0"/>
          </a:p>
        </p:txBody>
      </p:sp>
      <p:sp>
        <p:nvSpPr>
          <p:cNvPr id="21" name="Shape 19"/>
          <p:cNvSpPr/>
          <p:nvPr/>
        </p:nvSpPr>
        <p:spPr>
          <a:xfrm>
            <a:off x="2697480" y="1554480"/>
            <a:ext cx="1783080" cy="871728"/>
          </a:xfrm>
          <a:prstGeom prst="roundRect">
            <a:avLst>
              <a:gd name="adj" fmla="val 5245"/>
            </a:avLst>
          </a:prstGeom>
          <a:solidFill>
            <a:srgbClr val="FFFFFF"/>
          </a:solidFill>
          <a:ln w="9525">
            <a:solidFill>
              <a:srgbClr val="C9D3E0"/>
            </a:solidFill>
            <a:prstDash val="solid"/>
          </a:ln>
        </p:spPr>
      </p:sp>
      <p:sp>
        <p:nvSpPr>
          <p:cNvPr id="22" name="Text 20"/>
          <p:cNvSpPr txBox="1"/>
          <p:nvPr/>
        </p:nvSpPr>
        <p:spPr>
          <a:xfrm>
            <a:off x="2761488" y="1581912"/>
            <a:ext cx="1664208" cy="472440"/>
          </a:xfrm>
          <a:prstGeom prst="rect">
            <a:avLst/>
          </a:prstGeom>
          <a:noFill/>
          <a:ln/>
        </p:spPr>
        <p:txBody>
          <a:bodyPr wrap="square" lIns="0" tIns="0" rIns="0" bIns="0" rtlCol="0" anchor="ctr"/>
          <a:lstStyle/>
          <a:p>
            <a:pPr indent="0" marL="0">
              <a:buNone/>
            </a:pPr>
            <a:r>
              <a:rPr lang="en-US" sz="750" b="1" dirty="0">
                <a:solidFill>
                  <a:srgbClr val="14213D"/>
                </a:solidFill>
                <a:latin typeface="Courier New" pitchFamily="34" charset="0"/>
                <a:ea typeface="Courier New" pitchFamily="34" charset="-122"/>
                <a:cs typeface="Courier New" pitchFamily="34" charset="-120"/>
              </a:rPr>
              <a:t>loaders.py</a:t>
            </a:r>
            <a:endParaRPr lang="en-US" sz="750" dirty="0"/>
          </a:p>
        </p:txBody>
      </p:sp>
      <p:sp>
        <p:nvSpPr>
          <p:cNvPr id="23" name="Text 21"/>
          <p:cNvSpPr txBox="1"/>
          <p:nvPr/>
        </p:nvSpPr>
        <p:spPr>
          <a:xfrm>
            <a:off x="2761488" y="1989125"/>
            <a:ext cx="1664208" cy="472440"/>
          </a:xfrm>
          <a:prstGeom prst="rect">
            <a:avLst/>
          </a:prstGeom>
          <a:noFill/>
          <a:ln/>
        </p:spPr>
        <p:txBody>
          <a:bodyPr wrap="square" lIns="0" tIns="0" rIns="0" bIns="0" rtlCol="0" anchor="ctr"/>
          <a:lstStyle/>
          <a:p>
            <a:pPr indent="0" marL="0">
              <a:buNone/>
            </a:pPr>
            <a:r>
              <a:rPr lang="en-US" sz="750" dirty="0">
                <a:solidFill>
                  <a:srgbClr val="1B2A41"/>
                </a:solidFill>
                <a:latin typeface="Calibri" pitchFamily="34" charset="0"/>
                <a:ea typeface="Calibri" pitchFamily="34" charset="-122"/>
                <a:cs typeface="Calibri" pitchFamily="34" charset="-120"/>
              </a:rPr>
              <a:t>markdown/text/html/pdf</a:t>
            </a:r>
            <a:endParaRPr lang="en-US" sz="750" dirty="0"/>
          </a:p>
        </p:txBody>
      </p:sp>
      <p:sp>
        <p:nvSpPr>
          <p:cNvPr id="24" name="Shape 22"/>
          <p:cNvSpPr/>
          <p:nvPr/>
        </p:nvSpPr>
        <p:spPr>
          <a:xfrm>
            <a:off x="2697480" y="2499360"/>
            <a:ext cx="1783080" cy="871728"/>
          </a:xfrm>
          <a:prstGeom prst="roundRect">
            <a:avLst>
              <a:gd name="adj" fmla="val 5245"/>
            </a:avLst>
          </a:prstGeom>
          <a:solidFill>
            <a:srgbClr val="FFFFFF"/>
          </a:solidFill>
          <a:ln w="9525">
            <a:solidFill>
              <a:srgbClr val="C9D3E0"/>
            </a:solidFill>
            <a:prstDash val="solid"/>
          </a:ln>
        </p:spPr>
      </p:sp>
      <p:sp>
        <p:nvSpPr>
          <p:cNvPr id="25" name="Text 23"/>
          <p:cNvSpPr txBox="1"/>
          <p:nvPr/>
        </p:nvSpPr>
        <p:spPr>
          <a:xfrm>
            <a:off x="2761488" y="2526792"/>
            <a:ext cx="1664208" cy="472440"/>
          </a:xfrm>
          <a:prstGeom prst="rect">
            <a:avLst/>
          </a:prstGeom>
          <a:noFill/>
          <a:ln/>
        </p:spPr>
        <p:txBody>
          <a:bodyPr wrap="square" lIns="0" tIns="0" rIns="0" bIns="0" rtlCol="0" anchor="ctr"/>
          <a:lstStyle/>
          <a:p>
            <a:pPr indent="0" marL="0">
              <a:buNone/>
            </a:pPr>
            <a:r>
              <a:rPr lang="en-US" sz="750" b="1" dirty="0">
                <a:solidFill>
                  <a:srgbClr val="14213D"/>
                </a:solidFill>
                <a:latin typeface="Courier New" pitchFamily="34" charset="0"/>
                <a:ea typeface="Courier New" pitchFamily="34" charset="-122"/>
                <a:cs typeface="Courier New" pitchFamily="34" charset="-120"/>
              </a:rPr>
              <a:t>chunking.py</a:t>
            </a:r>
            <a:endParaRPr lang="en-US" sz="750" dirty="0"/>
          </a:p>
        </p:txBody>
      </p:sp>
      <p:sp>
        <p:nvSpPr>
          <p:cNvPr id="26" name="Text 24"/>
          <p:cNvSpPr txBox="1"/>
          <p:nvPr/>
        </p:nvSpPr>
        <p:spPr>
          <a:xfrm>
            <a:off x="2761488" y="2934005"/>
            <a:ext cx="1664208" cy="472440"/>
          </a:xfrm>
          <a:prstGeom prst="rect">
            <a:avLst/>
          </a:prstGeom>
          <a:noFill/>
          <a:ln/>
        </p:spPr>
        <p:txBody>
          <a:bodyPr wrap="square" lIns="0" tIns="0" rIns="0" bIns="0" rtlCol="0" anchor="ctr"/>
          <a:lstStyle/>
          <a:p>
            <a:pPr indent="0" marL="0">
              <a:buNone/>
            </a:pPr>
            <a:r>
              <a:rPr lang="en-US" sz="750" dirty="0">
                <a:solidFill>
                  <a:srgbClr val="1B2A41"/>
                </a:solidFill>
                <a:latin typeface="Calibri" pitchFamily="34" charset="0"/>
                <a:ea typeface="Calibri" pitchFamily="34" charset="-122"/>
                <a:cs typeface="Calibri" pitchFamily="34" charset="-120"/>
              </a:rPr>
              <a:t>deterministic, citation-preserving</a:t>
            </a:r>
            <a:endParaRPr lang="en-US" sz="750" dirty="0"/>
          </a:p>
        </p:txBody>
      </p:sp>
      <p:sp>
        <p:nvSpPr>
          <p:cNvPr id="27" name="Shape 25"/>
          <p:cNvSpPr/>
          <p:nvPr/>
        </p:nvSpPr>
        <p:spPr>
          <a:xfrm>
            <a:off x="2697480" y="3444240"/>
            <a:ext cx="1783080" cy="871728"/>
          </a:xfrm>
          <a:prstGeom prst="roundRect">
            <a:avLst>
              <a:gd name="adj" fmla="val 5245"/>
            </a:avLst>
          </a:prstGeom>
          <a:solidFill>
            <a:srgbClr val="FFFFFF"/>
          </a:solidFill>
          <a:ln w="9525">
            <a:solidFill>
              <a:srgbClr val="C9D3E0"/>
            </a:solidFill>
            <a:prstDash val="solid"/>
          </a:ln>
        </p:spPr>
      </p:sp>
      <p:sp>
        <p:nvSpPr>
          <p:cNvPr id="28" name="Text 26"/>
          <p:cNvSpPr txBox="1"/>
          <p:nvPr/>
        </p:nvSpPr>
        <p:spPr>
          <a:xfrm>
            <a:off x="2761488" y="3471672"/>
            <a:ext cx="1664208" cy="472440"/>
          </a:xfrm>
          <a:prstGeom prst="rect">
            <a:avLst/>
          </a:prstGeom>
          <a:noFill/>
          <a:ln/>
        </p:spPr>
        <p:txBody>
          <a:bodyPr wrap="square" lIns="0" tIns="0" rIns="0" bIns="0" rtlCol="0" anchor="ctr"/>
          <a:lstStyle/>
          <a:p>
            <a:pPr indent="0" marL="0">
              <a:buNone/>
            </a:pPr>
            <a:r>
              <a:rPr lang="en-US" sz="750" b="1" dirty="0">
                <a:solidFill>
                  <a:srgbClr val="14213D"/>
                </a:solidFill>
                <a:latin typeface="Courier New" pitchFamily="34" charset="0"/>
                <a:ea typeface="Courier New" pitchFamily="34" charset="-122"/>
                <a:cs typeface="Courier New" pitchFamily="34" charset="-120"/>
              </a:rPr>
              <a:t>normalizers.py</a:t>
            </a:r>
            <a:endParaRPr lang="en-US" sz="750" dirty="0"/>
          </a:p>
        </p:txBody>
      </p:sp>
      <p:sp>
        <p:nvSpPr>
          <p:cNvPr id="29" name="Text 27"/>
          <p:cNvSpPr txBox="1"/>
          <p:nvPr/>
        </p:nvSpPr>
        <p:spPr>
          <a:xfrm>
            <a:off x="2761488" y="3878885"/>
            <a:ext cx="1664208" cy="472440"/>
          </a:xfrm>
          <a:prstGeom prst="rect">
            <a:avLst/>
          </a:prstGeom>
          <a:noFill/>
          <a:ln/>
        </p:spPr>
        <p:txBody>
          <a:bodyPr wrap="square" lIns="0" tIns="0" rIns="0" bIns="0" rtlCol="0" anchor="ctr"/>
          <a:lstStyle/>
          <a:p>
            <a:pPr indent="0" marL="0">
              <a:buNone/>
            </a:pPr>
            <a:r>
              <a:rPr lang="en-US" sz="750" dirty="0">
                <a:solidFill>
                  <a:srgbClr val="1B2A41"/>
                </a:solidFill>
                <a:latin typeface="Calibri" pitchFamily="34" charset="0"/>
                <a:ea typeface="Calibri" pitchFamily="34" charset="-122"/>
                <a:cs typeface="Calibri" pitchFamily="34" charset="-120"/>
              </a:rPr>
              <a:t>citation-key extraction</a:t>
            </a:r>
            <a:endParaRPr lang="en-US" sz="750" dirty="0"/>
          </a:p>
        </p:txBody>
      </p:sp>
      <p:sp>
        <p:nvSpPr>
          <p:cNvPr id="30" name="Shape 28"/>
          <p:cNvSpPr/>
          <p:nvPr/>
        </p:nvSpPr>
        <p:spPr>
          <a:xfrm>
            <a:off x="4754880" y="1188720"/>
            <a:ext cx="1965960" cy="3246120"/>
          </a:xfrm>
          <a:prstGeom prst="roundRect">
            <a:avLst>
              <a:gd name="adj" fmla="val 2791"/>
            </a:avLst>
          </a:prstGeom>
          <a:solidFill>
            <a:srgbClr val="F3F6FA"/>
          </a:solidFill>
          <a:ln w="9525">
            <a:solidFill>
              <a:srgbClr val="C9D3E0"/>
            </a:solidFill>
            <a:prstDash val="solid"/>
          </a:ln>
        </p:spPr>
      </p:sp>
      <p:sp>
        <p:nvSpPr>
          <p:cNvPr id="31" name="Text 29"/>
          <p:cNvSpPr txBox="1"/>
          <p:nvPr/>
        </p:nvSpPr>
        <p:spPr>
          <a:xfrm>
            <a:off x="4846320" y="1243584"/>
            <a:ext cx="1828800" cy="274320"/>
          </a:xfrm>
          <a:prstGeom prst="rect">
            <a:avLst/>
          </a:prstGeom>
          <a:noFill/>
          <a:ln/>
        </p:spPr>
        <p:txBody>
          <a:bodyPr wrap="square" lIns="0" tIns="0" rIns="0" bIns="0" rtlCol="0" anchor="ctr"/>
          <a:lstStyle/>
          <a:p>
            <a:pPr indent="0" marL="0">
              <a:buNone/>
            </a:pPr>
            <a:r>
              <a:rPr lang="en-US" sz="1050" b="1" dirty="0">
                <a:solidFill>
                  <a:srgbClr val="14213D"/>
                </a:solidFill>
                <a:latin typeface="Calibri" pitchFamily="34" charset="0"/>
                <a:ea typeface="Calibri" pitchFamily="34" charset="-122"/>
                <a:cs typeface="Calibri" pitchFamily="34" charset="-120"/>
              </a:rPr>
              <a:t>Retrieval</a:t>
            </a:r>
            <a:endParaRPr lang="en-US" sz="1050" dirty="0"/>
          </a:p>
        </p:txBody>
      </p:sp>
      <p:sp>
        <p:nvSpPr>
          <p:cNvPr id="32" name="Shape 30"/>
          <p:cNvSpPr/>
          <p:nvPr/>
        </p:nvSpPr>
        <p:spPr>
          <a:xfrm>
            <a:off x="4846320" y="1554480"/>
            <a:ext cx="1783080" cy="493776"/>
          </a:xfrm>
          <a:prstGeom prst="roundRect">
            <a:avLst>
              <a:gd name="adj" fmla="val 9259"/>
            </a:avLst>
          </a:prstGeom>
          <a:solidFill>
            <a:srgbClr val="FFFFFF"/>
          </a:solidFill>
          <a:ln w="9525">
            <a:solidFill>
              <a:srgbClr val="C9D3E0"/>
            </a:solidFill>
            <a:prstDash val="solid"/>
          </a:ln>
        </p:spPr>
      </p:sp>
      <p:sp>
        <p:nvSpPr>
          <p:cNvPr id="33" name="Text 31"/>
          <p:cNvSpPr txBox="1"/>
          <p:nvPr/>
        </p:nvSpPr>
        <p:spPr>
          <a:xfrm>
            <a:off x="4910328" y="1581912"/>
            <a:ext cx="1664208" cy="283464"/>
          </a:xfrm>
          <a:prstGeom prst="rect">
            <a:avLst/>
          </a:prstGeom>
          <a:noFill/>
          <a:ln/>
        </p:spPr>
        <p:txBody>
          <a:bodyPr wrap="square" lIns="0" tIns="0" rIns="0" bIns="0" rtlCol="0" anchor="ctr"/>
          <a:lstStyle/>
          <a:p>
            <a:pPr indent="0" marL="0">
              <a:buNone/>
            </a:pPr>
            <a:r>
              <a:rPr lang="en-US" sz="750" b="1" dirty="0">
                <a:solidFill>
                  <a:srgbClr val="14213D"/>
                </a:solidFill>
                <a:latin typeface="Courier New" pitchFamily="34" charset="0"/>
                <a:ea typeface="Courier New" pitchFamily="34" charset="-122"/>
                <a:cs typeface="Courier New" pitchFamily="34" charset="-120"/>
              </a:rPr>
              <a:t>keyword.py</a:t>
            </a:r>
            <a:endParaRPr lang="en-US" sz="750" dirty="0"/>
          </a:p>
        </p:txBody>
      </p:sp>
      <p:sp>
        <p:nvSpPr>
          <p:cNvPr id="34" name="Text 32"/>
          <p:cNvSpPr txBox="1"/>
          <p:nvPr/>
        </p:nvSpPr>
        <p:spPr>
          <a:xfrm>
            <a:off x="4910328" y="1815267"/>
            <a:ext cx="1664208" cy="283464"/>
          </a:xfrm>
          <a:prstGeom prst="rect">
            <a:avLst/>
          </a:prstGeom>
          <a:noFill/>
          <a:ln/>
        </p:spPr>
        <p:txBody>
          <a:bodyPr wrap="square" lIns="0" tIns="0" rIns="0" bIns="0" rtlCol="0" anchor="ctr"/>
          <a:lstStyle/>
          <a:p>
            <a:pPr indent="0" marL="0">
              <a:buNone/>
            </a:pPr>
            <a:r>
              <a:rPr lang="en-US" sz="750" dirty="0">
                <a:solidFill>
                  <a:srgbClr val="1B2A41"/>
                </a:solidFill>
                <a:latin typeface="Calibri" pitchFamily="34" charset="0"/>
                <a:ea typeface="Calibri" pitchFamily="34" charset="-122"/>
                <a:cs typeface="Calibri" pitchFamily="34" charset="-120"/>
              </a:rPr>
              <a:t>rule-aware BM25</a:t>
            </a:r>
            <a:endParaRPr lang="en-US" sz="750" dirty="0"/>
          </a:p>
        </p:txBody>
      </p:sp>
      <p:sp>
        <p:nvSpPr>
          <p:cNvPr id="35" name="Shape 33"/>
          <p:cNvSpPr/>
          <p:nvPr/>
        </p:nvSpPr>
        <p:spPr>
          <a:xfrm>
            <a:off x="4846320" y="2121408"/>
            <a:ext cx="1783080" cy="493776"/>
          </a:xfrm>
          <a:prstGeom prst="roundRect">
            <a:avLst>
              <a:gd name="adj" fmla="val 9259"/>
            </a:avLst>
          </a:prstGeom>
          <a:solidFill>
            <a:srgbClr val="FFFFFF"/>
          </a:solidFill>
          <a:ln w="9525">
            <a:solidFill>
              <a:srgbClr val="C9D3E0"/>
            </a:solidFill>
            <a:prstDash val="solid"/>
          </a:ln>
        </p:spPr>
      </p:sp>
      <p:sp>
        <p:nvSpPr>
          <p:cNvPr id="36" name="Text 34"/>
          <p:cNvSpPr txBox="1"/>
          <p:nvPr/>
        </p:nvSpPr>
        <p:spPr>
          <a:xfrm>
            <a:off x="4910328" y="2148840"/>
            <a:ext cx="1664208" cy="283464"/>
          </a:xfrm>
          <a:prstGeom prst="rect">
            <a:avLst/>
          </a:prstGeom>
          <a:noFill/>
          <a:ln/>
        </p:spPr>
        <p:txBody>
          <a:bodyPr wrap="square" lIns="0" tIns="0" rIns="0" bIns="0" rtlCol="0" anchor="ctr"/>
          <a:lstStyle/>
          <a:p>
            <a:pPr indent="0" marL="0">
              <a:buNone/>
            </a:pPr>
            <a:r>
              <a:rPr lang="en-US" sz="750" b="1" dirty="0">
                <a:solidFill>
                  <a:srgbClr val="14213D"/>
                </a:solidFill>
                <a:latin typeface="Courier New" pitchFamily="34" charset="0"/>
                <a:ea typeface="Courier New" pitchFamily="34" charset="-122"/>
                <a:cs typeface="Courier New" pitchFamily="34" charset="-120"/>
              </a:rPr>
              <a:t>embeddings.py / qdrant_store.py</a:t>
            </a:r>
            <a:endParaRPr lang="en-US" sz="750" dirty="0"/>
          </a:p>
        </p:txBody>
      </p:sp>
      <p:sp>
        <p:nvSpPr>
          <p:cNvPr id="37" name="Text 35"/>
          <p:cNvSpPr txBox="1"/>
          <p:nvPr/>
        </p:nvSpPr>
        <p:spPr>
          <a:xfrm>
            <a:off x="4910328" y="2382195"/>
            <a:ext cx="1664208" cy="283464"/>
          </a:xfrm>
          <a:prstGeom prst="rect">
            <a:avLst/>
          </a:prstGeom>
          <a:noFill/>
          <a:ln/>
        </p:spPr>
        <p:txBody>
          <a:bodyPr wrap="square" lIns="0" tIns="0" rIns="0" bIns="0" rtlCol="0" anchor="ctr"/>
          <a:lstStyle/>
          <a:p>
            <a:pPr indent="0" marL="0">
              <a:buNone/>
            </a:pPr>
            <a:r>
              <a:rPr lang="en-US" sz="750" dirty="0">
                <a:solidFill>
                  <a:srgbClr val="1B2A41"/>
                </a:solidFill>
                <a:latin typeface="Calibri" pitchFamily="34" charset="0"/>
                <a:ea typeface="Calibri" pitchFamily="34" charset="-122"/>
                <a:cs typeface="Calibri" pitchFamily="34" charset="-120"/>
              </a:rPr>
              <a:t>fake or Qdrant-backed dense</a:t>
            </a:r>
            <a:endParaRPr lang="en-US" sz="750" dirty="0"/>
          </a:p>
        </p:txBody>
      </p:sp>
      <p:sp>
        <p:nvSpPr>
          <p:cNvPr id="38" name="Shape 36"/>
          <p:cNvSpPr/>
          <p:nvPr/>
        </p:nvSpPr>
        <p:spPr>
          <a:xfrm>
            <a:off x="4846320" y="2688336"/>
            <a:ext cx="1783080" cy="493776"/>
          </a:xfrm>
          <a:prstGeom prst="roundRect">
            <a:avLst>
              <a:gd name="adj" fmla="val 9259"/>
            </a:avLst>
          </a:prstGeom>
          <a:solidFill>
            <a:srgbClr val="FFFFFF"/>
          </a:solidFill>
          <a:ln w="9525">
            <a:solidFill>
              <a:srgbClr val="C9D3E0"/>
            </a:solidFill>
            <a:prstDash val="solid"/>
          </a:ln>
        </p:spPr>
      </p:sp>
      <p:sp>
        <p:nvSpPr>
          <p:cNvPr id="39" name="Text 37"/>
          <p:cNvSpPr txBox="1"/>
          <p:nvPr/>
        </p:nvSpPr>
        <p:spPr>
          <a:xfrm>
            <a:off x="4910328" y="2715768"/>
            <a:ext cx="1664208" cy="283464"/>
          </a:xfrm>
          <a:prstGeom prst="rect">
            <a:avLst/>
          </a:prstGeom>
          <a:noFill/>
          <a:ln/>
        </p:spPr>
        <p:txBody>
          <a:bodyPr wrap="square" lIns="0" tIns="0" rIns="0" bIns="0" rtlCol="0" anchor="ctr"/>
          <a:lstStyle/>
          <a:p>
            <a:pPr indent="0" marL="0">
              <a:buNone/>
            </a:pPr>
            <a:r>
              <a:rPr lang="en-US" sz="750" b="1" dirty="0">
                <a:solidFill>
                  <a:srgbClr val="14213D"/>
                </a:solidFill>
                <a:latin typeface="Courier New" pitchFamily="34" charset="0"/>
                <a:ea typeface="Courier New" pitchFamily="34" charset="-122"/>
                <a:cs typeface="Courier New" pitchFamily="34" charset="-120"/>
              </a:rPr>
              <a:t>fusion.py</a:t>
            </a:r>
            <a:endParaRPr lang="en-US" sz="750" dirty="0"/>
          </a:p>
        </p:txBody>
      </p:sp>
      <p:sp>
        <p:nvSpPr>
          <p:cNvPr id="40" name="Text 38"/>
          <p:cNvSpPr txBox="1"/>
          <p:nvPr/>
        </p:nvSpPr>
        <p:spPr>
          <a:xfrm>
            <a:off x="4910328" y="2949123"/>
            <a:ext cx="1664208" cy="283464"/>
          </a:xfrm>
          <a:prstGeom prst="rect">
            <a:avLst/>
          </a:prstGeom>
          <a:noFill/>
          <a:ln/>
        </p:spPr>
        <p:txBody>
          <a:bodyPr wrap="square" lIns="0" tIns="0" rIns="0" bIns="0" rtlCol="0" anchor="ctr"/>
          <a:lstStyle/>
          <a:p>
            <a:pPr indent="0" marL="0">
              <a:buNone/>
            </a:pPr>
            <a:r>
              <a:rPr lang="en-US" sz="750" dirty="0">
                <a:solidFill>
                  <a:srgbClr val="1B2A41"/>
                </a:solidFill>
                <a:latin typeface="Calibri" pitchFamily="34" charset="0"/>
                <a:ea typeface="Calibri" pitchFamily="34" charset="-122"/>
                <a:cs typeface="Calibri" pitchFamily="34" charset="-120"/>
              </a:rPr>
              <a:t>Reciprocal Rank Fusion</a:t>
            </a:r>
            <a:endParaRPr lang="en-US" sz="750" dirty="0"/>
          </a:p>
        </p:txBody>
      </p:sp>
      <p:sp>
        <p:nvSpPr>
          <p:cNvPr id="41" name="Shape 39"/>
          <p:cNvSpPr/>
          <p:nvPr/>
        </p:nvSpPr>
        <p:spPr>
          <a:xfrm>
            <a:off x="4846320" y="3255264"/>
            <a:ext cx="1783080" cy="493776"/>
          </a:xfrm>
          <a:prstGeom prst="roundRect">
            <a:avLst>
              <a:gd name="adj" fmla="val 9259"/>
            </a:avLst>
          </a:prstGeom>
          <a:solidFill>
            <a:srgbClr val="FFFFFF"/>
          </a:solidFill>
          <a:ln w="9525">
            <a:solidFill>
              <a:srgbClr val="C9D3E0"/>
            </a:solidFill>
            <a:prstDash val="solid"/>
          </a:ln>
        </p:spPr>
      </p:sp>
      <p:sp>
        <p:nvSpPr>
          <p:cNvPr id="42" name="Text 40"/>
          <p:cNvSpPr txBox="1"/>
          <p:nvPr/>
        </p:nvSpPr>
        <p:spPr>
          <a:xfrm>
            <a:off x="4910328" y="3282696"/>
            <a:ext cx="1664208" cy="283464"/>
          </a:xfrm>
          <a:prstGeom prst="rect">
            <a:avLst/>
          </a:prstGeom>
          <a:noFill/>
          <a:ln/>
        </p:spPr>
        <p:txBody>
          <a:bodyPr wrap="square" lIns="0" tIns="0" rIns="0" bIns="0" rtlCol="0" anchor="ctr"/>
          <a:lstStyle/>
          <a:p>
            <a:pPr indent="0" marL="0">
              <a:buNone/>
            </a:pPr>
            <a:r>
              <a:rPr lang="en-US" sz="750" b="1" dirty="0">
                <a:solidFill>
                  <a:srgbClr val="14213D"/>
                </a:solidFill>
                <a:latin typeface="Courier New" pitchFamily="34" charset="0"/>
                <a:ea typeface="Courier New" pitchFamily="34" charset="-122"/>
                <a:cs typeface="Courier New" pitchFamily="34" charset="-120"/>
              </a:rPr>
              <a:t>service.py</a:t>
            </a:r>
            <a:endParaRPr lang="en-US" sz="750" dirty="0"/>
          </a:p>
        </p:txBody>
      </p:sp>
      <p:sp>
        <p:nvSpPr>
          <p:cNvPr id="43" name="Text 41"/>
          <p:cNvSpPr txBox="1"/>
          <p:nvPr/>
        </p:nvSpPr>
        <p:spPr>
          <a:xfrm>
            <a:off x="4910328" y="3516051"/>
            <a:ext cx="1664208" cy="283464"/>
          </a:xfrm>
          <a:prstGeom prst="rect">
            <a:avLst/>
          </a:prstGeom>
          <a:noFill/>
          <a:ln/>
        </p:spPr>
        <p:txBody>
          <a:bodyPr wrap="square" lIns="0" tIns="0" rIns="0" bIns="0" rtlCol="0" anchor="ctr"/>
          <a:lstStyle/>
          <a:p>
            <a:pPr indent="0" marL="0">
              <a:buNone/>
            </a:pPr>
            <a:r>
              <a:rPr lang="en-US" sz="750" dirty="0">
                <a:solidFill>
                  <a:srgbClr val="1B2A41"/>
                </a:solidFill>
                <a:latin typeface="Calibri" pitchFamily="34" charset="0"/>
                <a:ea typeface="Calibri" pitchFamily="34" charset="-122"/>
                <a:cs typeface="Calibri" pitchFamily="34" charset="-120"/>
              </a:rPr>
              <a:t>routing, pinning, trimming</a:t>
            </a:r>
            <a:endParaRPr lang="en-US" sz="750" dirty="0"/>
          </a:p>
        </p:txBody>
      </p:sp>
      <p:sp>
        <p:nvSpPr>
          <p:cNvPr id="44" name="Shape 42"/>
          <p:cNvSpPr/>
          <p:nvPr/>
        </p:nvSpPr>
        <p:spPr>
          <a:xfrm>
            <a:off x="4846320" y="3822192"/>
            <a:ext cx="1783080" cy="493776"/>
          </a:xfrm>
          <a:prstGeom prst="roundRect">
            <a:avLst>
              <a:gd name="adj" fmla="val 9259"/>
            </a:avLst>
          </a:prstGeom>
          <a:solidFill>
            <a:srgbClr val="FFFFFF"/>
          </a:solidFill>
          <a:ln w="9525">
            <a:solidFill>
              <a:srgbClr val="C9D3E0"/>
            </a:solidFill>
            <a:prstDash val="solid"/>
          </a:ln>
        </p:spPr>
      </p:sp>
      <p:sp>
        <p:nvSpPr>
          <p:cNvPr id="45" name="Text 43"/>
          <p:cNvSpPr txBox="1"/>
          <p:nvPr/>
        </p:nvSpPr>
        <p:spPr>
          <a:xfrm>
            <a:off x="4910328" y="3849624"/>
            <a:ext cx="1664208" cy="283464"/>
          </a:xfrm>
          <a:prstGeom prst="rect">
            <a:avLst/>
          </a:prstGeom>
          <a:noFill/>
          <a:ln/>
        </p:spPr>
        <p:txBody>
          <a:bodyPr wrap="square" lIns="0" tIns="0" rIns="0" bIns="0" rtlCol="0" anchor="ctr"/>
          <a:lstStyle/>
          <a:p>
            <a:pPr indent="0" marL="0">
              <a:buNone/>
            </a:pPr>
            <a:r>
              <a:rPr lang="en-US" sz="750" b="1" dirty="0">
                <a:solidFill>
                  <a:srgbClr val="14213D"/>
                </a:solidFill>
                <a:latin typeface="Courier New" pitchFamily="34" charset="0"/>
                <a:ea typeface="Courier New" pitchFamily="34" charset="-122"/>
                <a:cs typeface="Courier New" pitchFamily="34" charset="-120"/>
              </a:rPr>
              <a:t>rerank.py / cross_encoder_reranker.py</a:t>
            </a:r>
            <a:endParaRPr lang="en-US" sz="750" dirty="0"/>
          </a:p>
        </p:txBody>
      </p:sp>
      <p:sp>
        <p:nvSpPr>
          <p:cNvPr id="46" name="Text 44"/>
          <p:cNvSpPr txBox="1"/>
          <p:nvPr/>
        </p:nvSpPr>
        <p:spPr>
          <a:xfrm>
            <a:off x="4910328" y="4082979"/>
            <a:ext cx="1664208" cy="283464"/>
          </a:xfrm>
          <a:prstGeom prst="rect">
            <a:avLst/>
          </a:prstGeom>
          <a:noFill/>
          <a:ln/>
        </p:spPr>
        <p:txBody>
          <a:bodyPr wrap="square" lIns="0" tIns="0" rIns="0" bIns="0" rtlCol="0" anchor="ctr"/>
          <a:lstStyle/>
          <a:p>
            <a:pPr indent="0" marL="0">
              <a:buNone/>
            </a:pPr>
            <a:r>
              <a:rPr lang="en-US" sz="750" dirty="0">
                <a:solidFill>
                  <a:srgbClr val="1B2A41"/>
                </a:solidFill>
                <a:latin typeface="Calibri" pitchFamily="34" charset="0"/>
                <a:ea typeface="Calibri" pitchFamily="34" charset="-122"/>
                <a:cs typeface="Calibri" pitchFamily="34" charset="-120"/>
              </a:rPr>
              <a:t>fake or cross-encoder</a:t>
            </a:r>
            <a:endParaRPr lang="en-US" sz="750" dirty="0"/>
          </a:p>
        </p:txBody>
      </p:sp>
      <p:sp>
        <p:nvSpPr>
          <p:cNvPr id="47" name="Shape 45"/>
          <p:cNvSpPr/>
          <p:nvPr/>
        </p:nvSpPr>
        <p:spPr>
          <a:xfrm>
            <a:off x="6903720" y="1188720"/>
            <a:ext cx="1965960" cy="3246120"/>
          </a:xfrm>
          <a:prstGeom prst="roundRect">
            <a:avLst>
              <a:gd name="adj" fmla="val 2791"/>
            </a:avLst>
          </a:prstGeom>
          <a:solidFill>
            <a:srgbClr val="F3F6FA"/>
          </a:solidFill>
          <a:ln w="9525">
            <a:solidFill>
              <a:srgbClr val="C9D3E0"/>
            </a:solidFill>
            <a:prstDash val="solid"/>
          </a:ln>
        </p:spPr>
      </p:sp>
      <p:sp>
        <p:nvSpPr>
          <p:cNvPr id="48" name="Text 46"/>
          <p:cNvSpPr txBox="1"/>
          <p:nvPr/>
        </p:nvSpPr>
        <p:spPr>
          <a:xfrm>
            <a:off x="6995160" y="1243584"/>
            <a:ext cx="1828800" cy="274320"/>
          </a:xfrm>
          <a:prstGeom prst="rect">
            <a:avLst/>
          </a:prstGeom>
          <a:noFill/>
          <a:ln/>
        </p:spPr>
        <p:txBody>
          <a:bodyPr wrap="square" lIns="0" tIns="0" rIns="0" bIns="0" rtlCol="0" anchor="ctr"/>
          <a:lstStyle/>
          <a:p>
            <a:pPr indent="0" marL="0">
              <a:buNone/>
            </a:pPr>
            <a:r>
              <a:rPr lang="en-US" sz="1050" b="1" dirty="0">
                <a:solidFill>
                  <a:srgbClr val="14213D"/>
                </a:solidFill>
                <a:latin typeface="Calibri" pitchFamily="34" charset="0"/>
                <a:ea typeface="Calibri" pitchFamily="34" charset="-122"/>
                <a:cs typeface="Calibri" pitchFamily="34" charset="-120"/>
              </a:rPr>
              <a:t>Generation &amp; audit</a:t>
            </a:r>
            <a:endParaRPr lang="en-US" sz="1050" dirty="0"/>
          </a:p>
        </p:txBody>
      </p:sp>
      <p:sp>
        <p:nvSpPr>
          <p:cNvPr id="49" name="Shape 47"/>
          <p:cNvSpPr/>
          <p:nvPr/>
        </p:nvSpPr>
        <p:spPr>
          <a:xfrm>
            <a:off x="6995160" y="1554480"/>
            <a:ext cx="1783080" cy="635508"/>
          </a:xfrm>
          <a:prstGeom prst="roundRect">
            <a:avLst>
              <a:gd name="adj" fmla="val 7194"/>
            </a:avLst>
          </a:prstGeom>
          <a:solidFill>
            <a:srgbClr val="FFFFFF"/>
          </a:solidFill>
          <a:ln w="9525">
            <a:solidFill>
              <a:srgbClr val="C9D3E0"/>
            </a:solidFill>
            <a:prstDash val="solid"/>
          </a:ln>
        </p:spPr>
      </p:sp>
      <p:sp>
        <p:nvSpPr>
          <p:cNvPr id="50" name="Text 48"/>
          <p:cNvSpPr txBox="1"/>
          <p:nvPr/>
        </p:nvSpPr>
        <p:spPr>
          <a:xfrm>
            <a:off x="7059168" y="1581912"/>
            <a:ext cx="1664208" cy="354330"/>
          </a:xfrm>
          <a:prstGeom prst="rect">
            <a:avLst/>
          </a:prstGeom>
          <a:noFill/>
          <a:ln/>
        </p:spPr>
        <p:txBody>
          <a:bodyPr wrap="square" lIns="0" tIns="0" rIns="0" bIns="0" rtlCol="0" anchor="ctr"/>
          <a:lstStyle/>
          <a:p>
            <a:pPr indent="0" marL="0">
              <a:buNone/>
            </a:pPr>
            <a:r>
              <a:rPr lang="en-US" sz="750" b="1" dirty="0">
                <a:solidFill>
                  <a:srgbClr val="14213D"/>
                </a:solidFill>
                <a:latin typeface="Courier New" pitchFamily="34" charset="0"/>
                <a:ea typeface="Courier New" pitchFamily="34" charset="-122"/>
                <a:cs typeface="Courier New" pitchFamily="34" charset="-120"/>
              </a:rPr>
              <a:t>prompts.py</a:t>
            </a:r>
            <a:endParaRPr lang="en-US" sz="750" dirty="0"/>
          </a:p>
        </p:txBody>
      </p:sp>
      <p:sp>
        <p:nvSpPr>
          <p:cNvPr id="51" name="Text 49"/>
          <p:cNvSpPr txBox="1"/>
          <p:nvPr/>
        </p:nvSpPr>
        <p:spPr>
          <a:xfrm>
            <a:off x="7059168" y="1880464"/>
            <a:ext cx="1664208" cy="354330"/>
          </a:xfrm>
          <a:prstGeom prst="rect">
            <a:avLst/>
          </a:prstGeom>
          <a:noFill/>
          <a:ln/>
        </p:spPr>
        <p:txBody>
          <a:bodyPr wrap="square" lIns="0" tIns="0" rIns="0" bIns="0" rtlCol="0" anchor="ctr"/>
          <a:lstStyle/>
          <a:p>
            <a:pPr indent="0" marL="0">
              <a:buNone/>
            </a:pPr>
            <a:r>
              <a:rPr lang="en-US" sz="750" dirty="0">
                <a:solidFill>
                  <a:srgbClr val="1B2A41"/>
                </a:solidFill>
                <a:latin typeface="Calibri" pitchFamily="34" charset="0"/>
                <a:ea typeface="Calibri" pitchFamily="34" charset="-122"/>
                <a:cs typeface="Calibri" pitchFamily="34" charset="-120"/>
              </a:rPr>
              <a:t>[E1]… evidence markers</a:t>
            </a:r>
            <a:endParaRPr lang="en-US" sz="750" dirty="0"/>
          </a:p>
        </p:txBody>
      </p:sp>
      <p:sp>
        <p:nvSpPr>
          <p:cNvPr id="52" name="Shape 50"/>
          <p:cNvSpPr/>
          <p:nvPr/>
        </p:nvSpPr>
        <p:spPr>
          <a:xfrm>
            <a:off x="6995160" y="2263140"/>
            <a:ext cx="1783080" cy="635508"/>
          </a:xfrm>
          <a:prstGeom prst="roundRect">
            <a:avLst>
              <a:gd name="adj" fmla="val 7194"/>
            </a:avLst>
          </a:prstGeom>
          <a:solidFill>
            <a:srgbClr val="FFFFFF"/>
          </a:solidFill>
          <a:ln w="9525">
            <a:solidFill>
              <a:srgbClr val="C9D3E0"/>
            </a:solidFill>
            <a:prstDash val="solid"/>
          </a:ln>
        </p:spPr>
      </p:sp>
      <p:sp>
        <p:nvSpPr>
          <p:cNvPr id="53" name="Text 51"/>
          <p:cNvSpPr txBox="1"/>
          <p:nvPr/>
        </p:nvSpPr>
        <p:spPr>
          <a:xfrm>
            <a:off x="7059168" y="2290572"/>
            <a:ext cx="1664208" cy="354330"/>
          </a:xfrm>
          <a:prstGeom prst="rect">
            <a:avLst/>
          </a:prstGeom>
          <a:noFill/>
          <a:ln/>
        </p:spPr>
        <p:txBody>
          <a:bodyPr wrap="square" lIns="0" tIns="0" rIns="0" bIns="0" rtlCol="0" anchor="ctr"/>
          <a:lstStyle/>
          <a:p>
            <a:pPr indent="0" marL="0">
              <a:buNone/>
            </a:pPr>
            <a:r>
              <a:rPr lang="en-US" sz="750" b="1" dirty="0">
                <a:solidFill>
                  <a:srgbClr val="14213D"/>
                </a:solidFill>
                <a:latin typeface="Courier New" pitchFamily="34" charset="0"/>
                <a:ea typeface="Courier New" pitchFamily="34" charset="-122"/>
                <a:cs typeface="Courier New" pitchFamily="34" charset="-120"/>
              </a:rPr>
              <a:t>llm.py / openai_llm.py</a:t>
            </a:r>
            <a:endParaRPr lang="en-US" sz="750" dirty="0"/>
          </a:p>
        </p:txBody>
      </p:sp>
      <p:sp>
        <p:nvSpPr>
          <p:cNvPr id="54" name="Text 52"/>
          <p:cNvSpPr txBox="1"/>
          <p:nvPr/>
        </p:nvSpPr>
        <p:spPr>
          <a:xfrm>
            <a:off x="7059168" y="2589124"/>
            <a:ext cx="1664208" cy="354330"/>
          </a:xfrm>
          <a:prstGeom prst="rect">
            <a:avLst/>
          </a:prstGeom>
          <a:noFill/>
          <a:ln/>
        </p:spPr>
        <p:txBody>
          <a:bodyPr wrap="square" lIns="0" tIns="0" rIns="0" bIns="0" rtlCol="0" anchor="ctr"/>
          <a:lstStyle/>
          <a:p>
            <a:pPr indent="0" marL="0">
              <a:buNone/>
            </a:pPr>
            <a:r>
              <a:rPr lang="en-US" sz="750" dirty="0">
                <a:solidFill>
                  <a:srgbClr val="1B2A41"/>
                </a:solidFill>
                <a:latin typeface="Calibri" pitchFamily="34" charset="0"/>
                <a:ea typeface="Calibri" pitchFamily="34" charset="-122"/>
                <a:cs typeface="Calibri" pitchFamily="34" charset="-120"/>
              </a:rPr>
              <a:t>fake or OpenAI Responses</a:t>
            </a:r>
            <a:endParaRPr lang="en-US" sz="750" dirty="0"/>
          </a:p>
        </p:txBody>
      </p:sp>
      <p:sp>
        <p:nvSpPr>
          <p:cNvPr id="55" name="Shape 53"/>
          <p:cNvSpPr/>
          <p:nvPr/>
        </p:nvSpPr>
        <p:spPr>
          <a:xfrm>
            <a:off x="6995160" y="2971800"/>
            <a:ext cx="1783080" cy="635508"/>
          </a:xfrm>
          <a:prstGeom prst="roundRect">
            <a:avLst>
              <a:gd name="adj" fmla="val 7194"/>
            </a:avLst>
          </a:prstGeom>
          <a:solidFill>
            <a:srgbClr val="FFFFFF"/>
          </a:solidFill>
          <a:ln w="9525">
            <a:solidFill>
              <a:srgbClr val="C9D3E0"/>
            </a:solidFill>
            <a:prstDash val="solid"/>
          </a:ln>
        </p:spPr>
      </p:sp>
      <p:sp>
        <p:nvSpPr>
          <p:cNvPr id="56" name="Text 54"/>
          <p:cNvSpPr txBox="1"/>
          <p:nvPr/>
        </p:nvSpPr>
        <p:spPr>
          <a:xfrm>
            <a:off x="7059168" y="2999232"/>
            <a:ext cx="1664208" cy="354330"/>
          </a:xfrm>
          <a:prstGeom prst="rect">
            <a:avLst/>
          </a:prstGeom>
          <a:noFill/>
          <a:ln/>
        </p:spPr>
        <p:txBody>
          <a:bodyPr wrap="square" lIns="0" tIns="0" rIns="0" bIns="0" rtlCol="0" anchor="ctr"/>
          <a:lstStyle/>
          <a:p>
            <a:pPr indent="0" marL="0">
              <a:buNone/>
            </a:pPr>
            <a:r>
              <a:rPr lang="en-US" sz="750" b="1" dirty="0">
                <a:solidFill>
                  <a:srgbClr val="14213D"/>
                </a:solidFill>
                <a:latin typeface="Courier New" pitchFamily="34" charset="0"/>
                <a:ea typeface="Courier New" pitchFamily="34" charset="-122"/>
                <a:cs typeface="Courier New" pitchFamily="34" charset="-120"/>
              </a:rPr>
              <a:t>citations.py / quote_verifier.py</a:t>
            </a:r>
            <a:endParaRPr lang="en-US" sz="750" dirty="0"/>
          </a:p>
        </p:txBody>
      </p:sp>
      <p:sp>
        <p:nvSpPr>
          <p:cNvPr id="57" name="Text 55"/>
          <p:cNvSpPr txBox="1"/>
          <p:nvPr/>
        </p:nvSpPr>
        <p:spPr>
          <a:xfrm>
            <a:off x="7059168" y="3297784"/>
            <a:ext cx="1664208" cy="354330"/>
          </a:xfrm>
          <a:prstGeom prst="rect">
            <a:avLst/>
          </a:prstGeom>
          <a:noFill/>
          <a:ln/>
        </p:spPr>
        <p:txBody>
          <a:bodyPr wrap="square" lIns="0" tIns="0" rIns="0" bIns="0" rtlCol="0" anchor="ctr"/>
          <a:lstStyle/>
          <a:p>
            <a:pPr indent="0" marL="0">
              <a:buNone/>
            </a:pPr>
            <a:r>
              <a:rPr lang="en-US" sz="750" dirty="0">
                <a:solidFill>
                  <a:srgbClr val="1B2A41"/>
                </a:solidFill>
                <a:latin typeface="Calibri" pitchFamily="34" charset="0"/>
                <a:ea typeface="Calibri" pitchFamily="34" charset="-122"/>
                <a:cs typeface="Calibri" pitchFamily="34" charset="-120"/>
              </a:rPr>
              <a:t>resolve + verify</a:t>
            </a:r>
            <a:endParaRPr lang="en-US" sz="750" dirty="0"/>
          </a:p>
        </p:txBody>
      </p:sp>
      <p:sp>
        <p:nvSpPr>
          <p:cNvPr id="58" name="Shape 56"/>
          <p:cNvSpPr/>
          <p:nvPr/>
        </p:nvSpPr>
        <p:spPr>
          <a:xfrm>
            <a:off x="6995160" y="3680460"/>
            <a:ext cx="1783080" cy="635508"/>
          </a:xfrm>
          <a:prstGeom prst="roundRect">
            <a:avLst>
              <a:gd name="adj" fmla="val 7194"/>
            </a:avLst>
          </a:prstGeom>
          <a:solidFill>
            <a:srgbClr val="FFFFFF"/>
          </a:solidFill>
          <a:ln w="9525">
            <a:solidFill>
              <a:srgbClr val="C9D3E0"/>
            </a:solidFill>
            <a:prstDash val="solid"/>
          </a:ln>
        </p:spPr>
      </p:sp>
      <p:sp>
        <p:nvSpPr>
          <p:cNvPr id="59" name="Text 57"/>
          <p:cNvSpPr txBox="1"/>
          <p:nvPr/>
        </p:nvSpPr>
        <p:spPr>
          <a:xfrm>
            <a:off x="7059168" y="3707892"/>
            <a:ext cx="1664208" cy="354330"/>
          </a:xfrm>
          <a:prstGeom prst="rect">
            <a:avLst/>
          </a:prstGeom>
          <a:noFill/>
          <a:ln/>
        </p:spPr>
        <p:txBody>
          <a:bodyPr wrap="square" lIns="0" tIns="0" rIns="0" bIns="0" rtlCol="0" anchor="ctr"/>
          <a:lstStyle/>
          <a:p>
            <a:pPr indent="0" marL="0">
              <a:buNone/>
            </a:pPr>
            <a:r>
              <a:rPr lang="en-US" sz="750" b="1" dirty="0">
                <a:solidFill>
                  <a:srgbClr val="14213D"/>
                </a:solidFill>
                <a:latin typeface="Courier New" pitchFamily="34" charset="0"/>
                <a:ea typeface="Courier New" pitchFamily="34" charset="-122"/>
                <a:cs typeface="Courier New" pitchFamily="34" charset="-120"/>
              </a:rPr>
              <a:t>persistence/repositories.py</a:t>
            </a:r>
            <a:endParaRPr lang="en-US" sz="750" dirty="0"/>
          </a:p>
        </p:txBody>
      </p:sp>
      <p:sp>
        <p:nvSpPr>
          <p:cNvPr id="60" name="Text 58"/>
          <p:cNvSpPr txBox="1"/>
          <p:nvPr/>
        </p:nvSpPr>
        <p:spPr>
          <a:xfrm>
            <a:off x="7059168" y="4006444"/>
            <a:ext cx="1664208" cy="354330"/>
          </a:xfrm>
          <a:prstGeom prst="rect">
            <a:avLst/>
          </a:prstGeom>
          <a:noFill/>
          <a:ln/>
        </p:spPr>
        <p:txBody>
          <a:bodyPr wrap="square" lIns="0" tIns="0" rIns="0" bIns="0" rtlCol="0" anchor="ctr"/>
          <a:lstStyle/>
          <a:p>
            <a:pPr indent="0" marL="0">
              <a:buNone/>
            </a:pPr>
            <a:r>
              <a:rPr lang="en-US" sz="750" dirty="0">
                <a:solidFill>
                  <a:srgbClr val="1B2A41"/>
                </a:solidFill>
                <a:latin typeface="Calibri" pitchFamily="34" charset="0"/>
                <a:ea typeface="Calibri" pitchFamily="34" charset="-122"/>
                <a:cs typeface="Calibri" pitchFamily="34" charset="-120"/>
              </a:rPr>
              <a:t>hash-chained audit rows</a:t>
            </a:r>
            <a:endParaRPr lang="en-US" sz="750" dirty="0"/>
          </a:p>
        </p:txBody>
      </p:sp>
      <p:sp>
        <p:nvSpPr>
          <p:cNvPr id="61" name="Shape 59"/>
          <p:cNvSpPr/>
          <p:nvPr/>
        </p:nvSpPr>
        <p:spPr>
          <a:xfrm>
            <a:off x="2423160" y="2834640"/>
            <a:ext cx="182880" cy="9144"/>
          </a:xfrm>
          <a:prstGeom prst="line">
            <a:avLst/>
          </a:prstGeom>
          <a:noFill/>
          <a:ln w="25400">
            <a:solidFill>
              <a:srgbClr val="2EC4B6"/>
            </a:solidFill>
            <a:prstDash val="solid"/>
            <a:tailEnd type="triangle"/>
          </a:ln>
        </p:spPr>
      </p:sp>
      <p:sp>
        <p:nvSpPr>
          <p:cNvPr id="62" name="Shape 60"/>
          <p:cNvSpPr/>
          <p:nvPr/>
        </p:nvSpPr>
        <p:spPr>
          <a:xfrm>
            <a:off x="4572000" y="2834640"/>
            <a:ext cx="182880" cy="9144"/>
          </a:xfrm>
          <a:prstGeom prst="line">
            <a:avLst/>
          </a:prstGeom>
          <a:noFill/>
          <a:ln w="25400">
            <a:solidFill>
              <a:srgbClr val="2EC4B6"/>
            </a:solidFill>
            <a:prstDash val="solid"/>
            <a:tailEnd type="triangle"/>
          </a:ln>
        </p:spPr>
      </p:sp>
      <p:sp>
        <p:nvSpPr>
          <p:cNvPr id="63" name="Shape 61"/>
          <p:cNvSpPr/>
          <p:nvPr/>
        </p:nvSpPr>
        <p:spPr>
          <a:xfrm>
            <a:off x="6720840" y="2834640"/>
            <a:ext cx="182880" cy="9144"/>
          </a:xfrm>
          <a:prstGeom prst="line">
            <a:avLst/>
          </a:prstGeom>
          <a:noFill/>
          <a:ln w="25400">
            <a:solidFill>
              <a:srgbClr val="2EC4B6"/>
            </a:solidFill>
            <a:prstDash val="solid"/>
            <a:tailEnd type="triangle"/>
          </a:ln>
        </p:spPr>
      </p:sp>
      <p:sp>
        <p:nvSpPr>
          <p:cNvPr id="64" name="Text 62"/>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Dependency direction is left to right. Every retrieval and generation provider is chosen by explicit settings, not by which package happens to be importable.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5486400" cy="228600"/>
          </a:xfrm>
          <a:prstGeom prst="rect">
            <a:avLst/>
          </a:prstGeom>
          <a:noFill/>
          <a:ln/>
        </p:spPr>
        <p:txBody>
          <a:bodyPr wrap="square" lIns="0" tIns="0" rIns="0" bIns="0" rtlCol="0" anchor="ctr"/>
          <a:lstStyle/>
          <a:p>
            <a:pPr indent="0" marL="0">
              <a:buNone/>
            </a:pPr>
            <a:r>
              <a:rPr lang="en-US" sz="1000" b="1" spc="200" kern="0" dirty="0">
                <a:solidFill>
                  <a:srgbClr val="2EC4B6"/>
                </a:solidFill>
                <a:latin typeface="Calibri" pitchFamily="34" charset="0"/>
                <a:ea typeface="Calibri" pitchFamily="34" charset="-122"/>
                <a:cs typeface="Calibri" pitchFamily="34" charset="-120"/>
              </a:rPr>
              <a:t>ARCHITECTURE · CRITICAL FLOW</a:t>
            </a:r>
            <a:endParaRPr lang="en-US" sz="1000" dirty="0"/>
          </a:p>
        </p:txBody>
      </p:sp>
      <p:sp>
        <p:nvSpPr>
          <p:cNvPr id="3" name="Text 1"/>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600" b="1" dirty="0">
                <a:solidFill>
                  <a:srgbClr val="14213D"/>
                </a:solidFill>
                <a:latin typeface="Cambria" pitchFamily="34" charset="0"/>
                <a:ea typeface="Cambria" pitchFamily="34" charset="-122"/>
                <a:cs typeface="Cambria" pitchFamily="34" charset="-120"/>
              </a:rPr>
              <a:t>The answer path</a:t>
            </a:r>
            <a:endParaRPr lang="en-US" sz="2600" dirty="0"/>
          </a:p>
        </p:txBody>
      </p:sp>
      <p:sp>
        <p:nvSpPr>
          <p:cNvPr id="4" name="Text 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6B7A90"/>
                </a:solidFill>
                <a:latin typeface="Calibri" pitchFamily="34" charset="0"/>
                <a:ea typeface="Calibri" pitchFamily="34" charset="-122"/>
                <a:cs typeface="Calibri" pitchFamily="34" charset="-120"/>
              </a:rPr>
              <a:t>RegLens · AI Systems Architecture Review · 7</a:t>
            </a:r>
            <a:endParaRPr lang="en-US" sz="800" dirty="0"/>
          </a:p>
        </p:txBody>
      </p:sp>
      <p:sp>
        <p:nvSpPr>
          <p:cNvPr id="5" name="Shape 3"/>
          <p:cNvSpPr/>
          <p:nvPr/>
        </p:nvSpPr>
        <p:spPr>
          <a:xfrm>
            <a:off x="457200" y="1280160"/>
            <a:ext cx="1965960" cy="1234440"/>
          </a:xfrm>
          <a:prstGeom prst="roundRect">
            <a:avLst>
              <a:gd name="adj" fmla="val 4444"/>
            </a:avLst>
          </a:prstGeom>
          <a:solidFill>
            <a:srgbClr val="F3F6FA"/>
          </a:solidFill>
          <a:ln w="9525">
            <a:solidFill>
              <a:srgbClr val="C9D3E0"/>
            </a:solidFill>
            <a:prstDash val="solid"/>
          </a:ln>
        </p:spPr>
      </p:sp>
      <p:sp>
        <p:nvSpPr>
          <p:cNvPr id="6" name="Text 4"/>
          <p:cNvSpPr txBox="1"/>
          <p:nvPr/>
        </p:nvSpPr>
        <p:spPr>
          <a:xfrm>
            <a:off x="548640" y="1353312"/>
            <a:ext cx="1783080" cy="274320"/>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1. Route</a:t>
            </a:r>
            <a:endParaRPr lang="en-US" sz="1100" dirty="0"/>
          </a:p>
        </p:txBody>
      </p:sp>
      <p:sp>
        <p:nvSpPr>
          <p:cNvPr id="7" name="Text 5"/>
          <p:cNvSpPr txBox="1"/>
          <p:nvPr/>
        </p:nvSpPr>
        <p:spPr>
          <a:xfrm>
            <a:off x="548640" y="1645920"/>
            <a:ext cx="1783080" cy="822960"/>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conceptual / citation reference / exact citation, from the question text</a:t>
            </a:r>
            <a:endParaRPr lang="en-US" sz="850" dirty="0"/>
          </a:p>
        </p:txBody>
      </p:sp>
      <p:sp>
        <p:nvSpPr>
          <p:cNvPr id="8" name="Shape 6"/>
          <p:cNvSpPr/>
          <p:nvPr/>
        </p:nvSpPr>
        <p:spPr>
          <a:xfrm>
            <a:off x="2423160" y="1892808"/>
            <a:ext cx="137160" cy="9144"/>
          </a:xfrm>
          <a:prstGeom prst="line">
            <a:avLst/>
          </a:prstGeom>
          <a:noFill/>
          <a:ln w="15875">
            <a:solidFill>
              <a:srgbClr val="6B7A90"/>
            </a:solidFill>
            <a:prstDash val="solid"/>
            <a:tailEnd type="triangle"/>
          </a:ln>
        </p:spPr>
      </p:sp>
      <p:sp>
        <p:nvSpPr>
          <p:cNvPr id="9" name="Shape 7"/>
          <p:cNvSpPr/>
          <p:nvPr/>
        </p:nvSpPr>
        <p:spPr>
          <a:xfrm>
            <a:off x="2560320" y="1280160"/>
            <a:ext cx="1965960" cy="1234440"/>
          </a:xfrm>
          <a:prstGeom prst="roundRect">
            <a:avLst>
              <a:gd name="adj" fmla="val 4444"/>
            </a:avLst>
          </a:prstGeom>
          <a:solidFill>
            <a:srgbClr val="F3F6FA"/>
          </a:solidFill>
          <a:ln w="9525">
            <a:solidFill>
              <a:srgbClr val="C9D3E0"/>
            </a:solidFill>
            <a:prstDash val="solid"/>
          </a:ln>
        </p:spPr>
      </p:sp>
      <p:sp>
        <p:nvSpPr>
          <p:cNvPr id="10" name="Text 8"/>
          <p:cNvSpPr txBox="1"/>
          <p:nvPr/>
        </p:nvSpPr>
        <p:spPr>
          <a:xfrm>
            <a:off x="2651760" y="1353312"/>
            <a:ext cx="1783080" cy="274320"/>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2. Retrieve</a:t>
            </a:r>
            <a:endParaRPr lang="en-US" sz="1100" dirty="0"/>
          </a:p>
        </p:txBody>
      </p:sp>
      <p:sp>
        <p:nvSpPr>
          <p:cNvPr id="11" name="Text 9"/>
          <p:cNvSpPr txBox="1"/>
          <p:nvPr/>
        </p:nvSpPr>
        <p:spPr>
          <a:xfrm>
            <a:off x="2651760" y="1645920"/>
            <a:ext cx="1783080" cy="822960"/>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BM25 + dense fused by RRF; exact-citation matches pinned before fusion</a:t>
            </a:r>
            <a:endParaRPr lang="en-US" sz="850" dirty="0"/>
          </a:p>
        </p:txBody>
      </p:sp>
      <p:sp>
        <p:nvSpPr>
          <p:cNvPr id="12" name="Shape 10"/>
          <p:cNvSpPr/>
          <p:nvPr/>
        </p:nvSpPr>
        <p:spPr>
          <a:xfrm>
            <a:off x="4526280" y="1892808"/>
            <a:ext cx="137160" cy="9144"/>
          </a:xfrm>
          <a:prstGeom prst="line">
            <a:avLst/>
          </a:prstGeom>
          <a:noFill/>
          <a:ln w="15875">
            <a:solidFill>
              <a:srgbClr val="6B7A90"/>
            </a:solidFill>
            <a:prstDash val="solid"/>
            <a:tailEnd type="triangle"/>
          </a:ln>
        </p:spPr>
      </p:sp>
      <p:sp>
        <p:nvSpPr>
          <p:cNvPr id="13" name="Shape 11"/>
          <p:cNvSpPr/>
          <p:nvPr/>
        </p:nvSpPr>
        <p:spPr>
          <a:xfrm>
            <a:off x="4663440" y="1280160"/>
            <a:ext cx="1965960" cy="1234440"/>
          </a:xfrm>
          <a:prstGeom prst="roundRect">
            <a:avLst>
              <a:gd name="adj" fmla="val 4444"/>
            </a:avLst>
          </a:prstGeom>
          <a:solidFill>
            <a:srgbClr val="F3F6FA"/>
          </a:solidFill>
          <a:ln w="9525">
            <a:solidFill>
              <a:srgbClr val="C9D3E0"/>
            </a:solidFill>
            <a:prstDash val="solid"/>
          </a:ln>
        </p:spPr>
      </p:sp>
      <p:sp>
        <p:nvSpPr>
          <p:cNvPr id="14" name="Text 12"/>
          <p:cNvSpPr txBox="1"/>
          <p:nvPr/>
        </p:nvSpPr>
        <p:spPr>
          <a:xfrm>
            <a:off x="4754880" y="1353312"/>
            <a:ext cx="1783080" cy="274320"/>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3. Rerank</a:t>
            </a:r>
            <a:endParaRPr lang="en-US" sz="1100" dirty="0"/>
          </a:p>
        </p:txBody>
      </p:sp>
      <p:sp>
        <p:nvSpPr>
          <p:cNvPr id="15" name="Text 13"/>
          <p:cNvSpPr txBox="1"/>
          <p:nvPr/>
        </p:nvSpPr>
        <p:spPr>
          <a:xfrm>
            <a:off x="4754880" y="1645920"/>
            <a:ext cx="1783080" cy="822960"/>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fake lexical reranker, or an optional cross-encoder</a:t>
            </a:r>
            <a:endParaRPr lang="en-US" sz="850" dirty="0"/>
          </a:p>
        </p:txBody>
      </p:sp>
      <p:sp>
        <p:nvSpPr>
          <p:cNvPr id="16" name="Shape 14"/>
          <p:cNvSpPr/>
          <p:nvPr/>
        </p:nvSpPr>
        <p:spPr>
          <a:xfrm>
            <a:off x="6629400" y="1892808"/>
            <a:ext cx="137160" cy="9144"/>
          </a:xfrm>
          <a:prstGeom prst="line">
            <a:avLst/>
          </a:prstGeom>
          <a:noFill/>
          <a:ln w="15875">
            <a:solidFill>
              <a:srgbClr val="6B7A90"/>
            </a:solidFill>
            <a:prstDash val="solid"/>
            <a:tailEnd type="triangle"/>
          </a:ln>
        </p:spPr>
      </p:sp>
      <p:sp>
        <p:nvSpPr>
          <p:cNvPr id="17" name="Shape 15"/>
          <p:cNvSpPr/>
          <p:nvPr/>
        </p:nvSpPr>
        <p:spPr>
          <a:xfrm>
            <a:off x="6766560" y="1280160"/>
            <a:ext cx="1965960" cy="1234440"/>
          </a:xfrm>
          <a:prstGeom prst="roundRect">
            <a:avLst>
              <a:gd name="adj" fmla="val 4444"/>
            </a:avLst>
          </a:prstGeom>
          <a:solidFill>
            <a:srgbClr val="F3F6FA"/>
          </a:solidFill>
          <a:ln w="9525">
            <a:solidFill>
              <a:srgbClr val="C9D3E0"/>
            </a:solidFill>
            <a:prstDash val="solid"/>
          </a:ln>
        </p:spPr>
      </p:sp>
      <p:sp>
        <p:nvSpPr>
          <p:cNvPr id="18" name="Text 16"/>
          <p:cNvSpPr txBox="1"/>
          <p:nvPr/>
        </p:nvSpPr>
        <p:spPr>
          <a:xfrm>
            <a:off x="6858000" y="1353312"/>
            <a:ext cx="1783080" cy="274320"/>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4. Trim</a:t>
            </a:r>
            <a:endParaRPr lang="en-US" sz="1100" dirty="0"/>
          </a:p>
        </p:txBody>
      </p:sp>
      <p:sp>
        <p:nvSpPr>
          <p:cNvPr id="19" name="Text 17"/>
          <p:cNvSpPr txBox="1"/>
          <p:nvPr/>
        </p:nvSpPr>
        <p:spPr>
          <a:xfrm>
            <a:off x="6858000" y="1645920"/>
            <a:ext cx="1783080" cy="822960"/>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evidence token budget enforced with trim diagnostics on every response</a:t>
            </a:r>
            <a:endParaRPr lang="en-US" sz="850" dirty="0"/>
          </a:p>
        </p:txBody>
      </p:sp>
      <p:sp>
        <p:nvSpPr>
          <p:cNvPr id="20" name="Shape 18"/>
          <p:cNvSpPr/>
          <p:nvPr/>
        </p:nvSpPr>
        <p:spPr>
          <a:xfrm>
            <a:off x="457200" y="2834640"/>
            <a:ext cx="1965960" cy="1234440"/>
          </a:xfrm>
          <a:prstGeom prst="roundRect">
            <a:avLst>
              <a:gd name="adj" fmla="val 4444"/>
            </a:avLst>
          </a:prstGeom>
          <a:solidFill>
            <a:srgbClr val="EEF6F4"/>
          </a:solidFill>
          <a:ln w="9525">
            <a:solidFill>
              <a:srgbClr val="2EC4B6"/>
            </a:solidFill>
            <a:prstDash val="solid"/>
          </a:ln>
        </p:spPr>
      </p:sp>
      <p:sp>
        <p:nvSpPr>
          <p:cNvPr id="21" name="Text 19"/>
          <p:cNvSpPr txBox="1"/>
          <p:nvPr/>
        </p:nvSpPr>
        <p:spPr>
          <a:xfrm>
            <a:off x="548640" y="2907792"/>
            <a:ext cx="1783080" cy="274320"/>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5. Generate</a:t>
            </a:r>
            <a:endParaRPr lang="en-US" sz="1100" dirty="0"/>
          </a:p>
        </p:txBody>
      </p:sp>
      <p:sp>
        <p:nvSpPr>
          <p:cNvPr id="22" name="Text 20"/>
          <p:cNvSpPr txBox="1"/>
          <p:nvPr/>
        </p:nvSpPr>
        <p:spPr>
          <a:xfrm>
            <a:off x="548640" y="3200400"/>
            <a:ext cx="1783080" cy="822960"/>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prompt-local [E1]…[En] markers; fake or OpenAI, one interface</a:t>
            </a:r>
            <a:endParaRPr lang="en-US" sz="850" dirty="0"/>
          </a:p>
        </p:txBody>
      </p:sp>
      <p:sp>
        <p:nvSpPr>
          <p:cNvPr id="23" name="Shape 21"/>
          <p:cNvSpPr/>
          <p:nvPr/>
        </p:nvSpPr>
        <p:spPr>
          <a:xfrm>
            <a:off x="2423160" y="3447288"/>
            <a:ext cx="137160" cy="9144"/>
          </a:xfrm>
          <a:prstGeom prst="line">
            <a:avLst/>
          </a:prstGeom>
          <a:noFill/>
          <a:ln w="15875">
            <a:solidFill>
              <a:srgbClr val="6B7A90"/>
            </a:solidFill>
            <a:prstDash val="solid"/>
            <a:tailEnd type="triangle"/>
          </a:ln>
        </p:spPr>
      </p:sp>
      <p:sp>
        <p:nvSpPr>
          <p:cNvPr id="24" name="Shape 22"/>
          <p:cNvSpPr/>
          <p:nvPr/>
        </p:nvSpPr>
        <p:spPr>
          <a:xfrm>
            <a:off x="2560320" y="2834640"/>
            <a:ext cx="1965960" cy="1234440"/>
          </a:xfrm>
          <a:prstGeom prst="roundRect">
            <a:avLst>
              <a:gd name="adj" fmla="val 4444"/>
            </a:avLst>
          </a:prstGeom>
          <a:solidFill>
            <a:srgbClr val="EEF6F4"/>
          </a:solidFill>
          <a:ln w="9525">
            <a:solidFill>
              <a:srgbClr val="2EC4B6"/>
            </a:solidFill>
            <a:prstDash val="solid"/>
          </a:ln>
        </p:spPr>
      </p:sp>
      <p:sp>
        <p:nvSpPr>
          <p:cNvPr id="25" name="Text 23"/>
          <p:cNvSpPr txBox="1"/>
          <p:nvPr/>
        </p:nvSpPr>
        <p:spPr>
          <a:xfrm>
            <a:off x="2651760" y="2907792"/>
            <a:ext cx="1783080" cy="274320"/>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6. Verify</a:t>
            </a:r>
            <a:endParaRPr lang="en-US" sz="1100" dirty="0"/>
          </a:p>
        </p:txBody>
      </p:sp>
      <p:sp>
        <p:nvSpPr>
          <p:cNvPr id="26" name="Text 24"/>
          <p:cNvSpPr txBox="1"/>
          <p:nvPr/>
        </p:nvSpPr>
        <p:spPr>
          <a:xfrm>
            <a:off x="2651760" y="3200400"/>
            <a:ext cx="1783080" cy="822960"/>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every citation resolves to a retrieved chunk; every quote is found in it</a:t>
            </a:r>
            <a:endParaRPr lang="en-US" sz="850" dirty="0"/>
          </a:p>
        </p:txBody>
      </p:sp>
      <p:sp>
        <p:nvSpPr>
          <p:cNvPr id="27" name="Shape 25"/>
          <p:cNvSpPr/>
          <p:nvPr/>
        </p:nvSpPr>
        <p:spPr>
          <a:xfrm>
            <a:off x="4526280" y="3447288"/>
            <a:ext cx="137160" cy="9144"/>
          </a:xfrm>
          <a:prstGeom prst="line">
            <a:avLst/>
          </a:prstGeom>
          <a:noFill/>
          <a:ln w="15875">
            <a:solidFill>
              <a:srgbClr val="6B7A90"/>
            </a:solidFill>
            <a:prstDash val="solid"/>
            <a:tailEnd type="triangle"/>
          </a:ln>
        </p:spPr>
      </p:sp>
      <p:sp>
        <p:nvSpPr>
          <p:cNvPr id="28" name="Shape 26"/>
          <p:cNvSpPr/>
          <p:nvPr/>
        </p:nvSpPr>
        <p:spPr>
          <a:xfrm>
            <a:off x="4663440" y="2834640"/>
            <a:ext cx="1965960" cy="1234440"/>
          </a:xfrm>
          <a:prstGeom prst="roundRect">
            <a:avLst>
              <a:gd name="adj" fmla="val 4444"/>
            </a:avLst>
          </a:prstGeom>
          <a:solidFill>
            <a:srgbClr val="EEF6F4"/>
          </a:solidFill>
          <a:ln w="9525">
            <a:solidFill>
              <a:srgbClr val="2EC4B6"/>
            </a:solidFill>
            <a:prstDash val="solid"/>
          </a:ln>
        </p:spPr>
      </p:sp>
      <p:sp>
        <p:nvSpPr>
          <p:cNvPr id="29" name="Text 27"/>
          <p:cNvSpPr txBox="1"/>
          <p:nvPr/>
        </p:nvSpPr>
        <p:spPr>
          <a:xfrm>
            <a:off x="4754880" y="2907792"/>
            <a:ext cx="1783080" cy="274320"/>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7. Abstain / warn</a:t>
            </a:r>
            <a:endParaRPr lang="en-US" sz="1100" dirty="0"/>
          </a:p>
        </p:txBody>
      </p:sp>
      <p:sp>
        <p:nvSpPr>
          <p:cNvPr id="30" name="Text 28"/>
          <p:cNvSpPr txBox="1"/>
          <p:nvPr/>
        </p:nvSpPr>
        <p:spPr>
          <a:xfrm>
            <a:off x="4754880" y="3200400"/>
            <a:ext cx="1783080" cy="822960"/>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weak evidence → refusal with no citations; source instructions → warning</a:t>
            </a:r>
            <a:endParaRPr lang="en-US" sz="850" dirty="0"/>
          </a:p>
        </p:txBody>
      </p:sp>
      <p:sp>
        <p:nvSpPr>
          <p:cNvPr id="31" name="Shape 29"/>
          <p:cNvSpPr/>
          <p:nvPr/>
        </p:nvSpPr>
        <p:spPr>
          <a:xfrm>
            <a:off x="6629400" y="3447288"/>
            <a:ext cx="137160" cy="9144"/>
          </a:xfrm>
          <a:prstGeom prst="line">
            <a:avLst/>
          </a:prstGeom>
          <a:noFill/>
          <a:ln w="15875">
            <a:solidFill>
              <a:srgbClr val="6B7A90"/>
            </a:solidFill>
            <a:prstDash val="solid"/>
            <a:tailEnd type="triangle"/>
          </a:ln>
        </p:spPr>
      </p:sp>
      <p:sp>
        <p:nvSpPr>
          <p:cNvPr id="32" name="Shape 30"/>
          <p:cNvSpPr/>
          <p:nvPr/>
        </p:nvSpPr>
        <p:spPr>
          <a:xfrm>
            <a:off x="6766560" y="2834640"/>
            <a:ext cx="1965960" cy="1234440"/>
          </a:xfrm>
          <a:prstGeom prst="roundRect">
            <a:avLst>
              <a:gd name="adj" fmla="val 4444"/>
            </a:avLst>
          </a:prstGeom>
          <a:solidFill>
            <a:srgbClr val="EEF6F4"/>
          </a:solidFill>
          <a:ln w="9525">
            <a:solidFill>
              <a:srgbClr val="2EC4B6"/>
            </a:solidFill>
            <a:prstDash val="solid"/>
          </a:ln>
        </p:spPr>
      </p:sp>
      <p:sp>
        <p:nvSpPr>
          <p:cNvPr id="33" name="Text 31"/>
          <p:cNvSpPr txBox="1"/>
          <p:nvPr/>
        </p:nvSpPr>
        <p:spPr>
          <a:xfrm>
            <a:off x="6858000" y="2907792"/>
            <a:ext cx="1783080" cy="274320"/>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8. Persist</a:t>
            </a:r>
            <a:endParaRPr lang="en-US" sz="1100" dirty="0"/>
          </a:p>
        </p:txBody>
      </p:sp>
      <p:sp>
        <p:nvSpPr>
          <p:cNvPr id="34" name="Text 32"/>
          <p:cNvSpPr txBox="1"/>
          <p:nvPr/>
        </p:nvSpPr>
        <p:spPr>
          <a:xfrm>
            <a:off x="6858000" y="3200400"/>
            <a:ext cx="1783080" cy="822960"/>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hash-chained audit row + evidence digest + deterministic cost estimate</a:t>
            </a:r>
            <a:endParaRPr lang="en-US" sz="850" dirty="0"/>
          </a:p>
        </p:txBody>
      </p:sp>
      <p:sp>
        <p:nvSpPr>
          <p:cNvPr id="35" name="Shape 33"/>
          <p:cNvSpPr/>
          <p:nvPr/>
        </p:nvSpPr>
        <p:spPr>
          <a:xfrm>
            <a:off x="8229600" y="2514600"/>
            <a:ext cx="9144" cy="320040"/>
          </a:xfrm>
          <a:prstGeom prst="line">
            <a:avLst/>
          </a:prstGeom>
          <a:noFill/>
          <a:ln w="15875">
            <a:solidFill>
              <a:srgbClr val="6B7A90"/>
            </a:solidFill>
            <a:prstDash val="solid"/>
            <a:tailEnd type="triangle"/>
          </a:ln>
        </p:spPr>
      </p:sp>
      <p:sp>
        <p:nvSpPr>
          <p:cNvPr id="36" name="Text 34"/>
          <p:cNvSpPr txBox="1"/>
          <p:nvPr/>
        </p:nvSpPr>
        <p:spPr>
          <a:xfrm>
            <a:off x="457200" y="4434840"/>
            <a:ext cx="8229600" cy="320040"/>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Refusal is a first-class outcome, not an error path: a refusal is the only answer allowed to carry no citations, and the eval measures it (refusal accuracy 100.0%, 0 false abstentions).</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5486400" cy="228600"/>
          </a:xfrm>
          <a:prstGeom prst="rect">
            <a:avLst/>
          </a:prstGeom>
          <a:noFill/>
          <a:ln/>
        </p:spPr>
        <p:txBody>
          <a:bodyPr wrap="square" lIns="0" tIns="0" rIns="0" bIns="0" rtlCol="0" anchor="ctr"/>
          <a:lstStyle/>
          <a:p>
            <a:pPr indent="0" marL="0">
              <a:buNone/>
            </a:pPr>
            <a:r>
              <a:rPr lang="en-US" sz="1000" b="1" spc="200" kern="0" dirty="0">
                <a:solidFill>
                  <a:srgbClr val="2EC4B6"/>
                </a:solidFill>
                <a:latin typeface="Calibri" pitchFamily="34" charset="0"/>
                <a:ea typeface="Calibri" pitchFamily="34" charset="-122"/>
                <a:cs typeface="Calibri" pitchFamily="34" charset="-120"/>
              </a:rPr>
              <a:t>DESIGN · GROUNDING</a:t>
            </a:r>
            <a:endParaRPr lang="en-US" sz="1000" dirty="0"/>
          </a:p>
        </p:txBody>
      </p:sp>
      <p:sp>
        <p:nvSpPr>
          <p:cNvPr id="3" name="Text 1"/>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600" b="1" dirty="0">
                <a:solidFill>
                  <a:srgbClr val="14213D"/>
                </a:solidFill>
                <a:latin typeface="Cambria" pitchFamily="34" charset="0"/>
                <a:ea typeface="Cambria" pitchFamily="34" charset="-122"/>
                <a:cs typeface="Cambria" pitchFamily="34" charset="-120"/>
              </a:rPr>
              <a:t>Verify, don't trust: the citation and quote contract</a:t>
            </a:r>
            <a:endParaRPr lang="en-US" sz="2600" dirty="0"/>
          </a:p>
        </p:txBody>
      </p:sp>
      <p:sp>
        <p:nvSpPr>
          <p:cNvPr id="4" name="Text 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6B7A90"/>
                </a:solidFill>
                <a:latin typeface="Calibri" pitchFamily="34" charset="0"/>
                <a:ea typeface="Calibri" pitchFamily="34" charset="-122"/>
                <a:cs typeface="Calibri" pitchFamily="34" charset="-120"/>
              </a:rPr>
              <a:t>RegLens · AI Systems Architecture Review · 8</a:t>
            </a:r>
            <a:endParaRPr lang="en-US" sz="800" dirty="0"/>
          </a:p>
        </p:txBody>
      </p:sp>
      <p:sp>
        <p:nvSpPr>
          <p:cNvPr id="5" name="Shape 3"/>
          <p:cNvSpPr/>
          <p:nvPr/>
        </p:nvSpPr>
        <p:spPr>
          <a:xfrm>
            <a:off x="457200" y="1188720"/>
            <a:ext cx="4206240" cy="3246120"/>
          </a:xfrm>
          <a:prstGeom prst="roundRect">
            <a:avLst>
              <a:gd name="adj" fmla="val 1690"/>
            </a:avLst>
          </a:prstGeom>
          <a:solidFill>
            <a:srgbClr val="1C2B4F"/>
          </a:solidFill>
          <a:ln w="9525">
            <a:solidFill>
              <a:srgbClr val="1C2B4F"/>
            </a:solidFill>
            <a:prstDash val="solid"/>
          </a:ln>
        </p:spPr>
      </p:sp>
      <p:sp>
        <p:nvSpPr>
          <p:cNvPr id="6" name="Text 4"/>
          <p:cNvSpPr txBox="1"/>
          <p:nvPr/>
        </p:nvSpPr>
        <p:spPr>
          <a:xfrm>
            <a:off x="594360" y="1261872"/>
            <a:ext cx="3931920" cy="274320"/>
          </a:xfrm>
          <a:prstGeom prst="rect">
            <a:avLst/>
          </a:prstGeom>
          <a:noFill/>
          <a:ln/>
        </p:spPr>
        <p:txBody>
          <a:bodyPr wrap="square" lIns="0" tIns="0" rIns="0" bIns="0" rtlCol="0" anchor="ctr"/>
          <a:lstStyle/>
          <a:p>
            <a:pPr indent="0" marL="0">
              <a:buNone/>
            </a:pPr>
            <a:r>
              <a:rPr lang="en-US" sz="1100" b="1" dirty="0">
                <a:solidFill>
                  <a:srgbClr val="2EC4B6"/>
                </a:solidFill>
                <a:latin typeface="Calibri" pitchFamily="34" charset="0"/>
                <a:ea typeface="Calibri" pitchFamily="34" charset="-122"/>
                <a:cs typeface="Calibri" pitchFamily="34" charset="-120"/>
              </a:rPr>
              <a:t>What must be true for a non-refusal answer</a:t>
            </a:r>
            <a:endParaRPr lang="en-US" sz="1100" dirty="0"/>
          </a:p>
        </p:txBody>
      </p:sp>
      <p:sp>
        <p:nvSpPr>
          <p:cNvPr id="7" name="Text 5"/>
          <p:cNvSpPr txBox="1"/>
          <p:nvPr/>
        </p:nvSpPr>
        <p:spPr>
          <a:xfrm>
            <a:off x="594360" y="1572768"/>
            <a:ext cx="3931920" cy="1737360"/>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DCE7F5"/>
                </a:solidFill>
                <a:latin typeface="Calibri" pitchFamily="34" charset="0"/>
                <a:ea typeface="Calibri" pitchFamily="34" charset="-122"/>
                <a:cs typeface="Calibri" pitchFamily="34" charset="-120"/>
              </a:rPr>
              <a:t>every cited [E1]…[En] marker must resolve to a chunk that was actually retrieved (citations.py)</a:t>
            </a:r>
            <a:endParaRPr lang="en-US" sz="950" dirty="0"/>
          </a:p>
          <a:p>
            <a:pPr marL="342900" indent="-342900">
              <a:spcAft>
                <a:spcPts val="400"/>
              </a:spcAft>
              <a:buSzPct val="100000"/>
              <a:buChar char="•"/>
            </a:pPr>
            <a:r>
              <a:rPr lang="en-US" sz="950" dirty="0">
                <a:solidFill>
                  <a:srgbClr val="DCE7F5"/>
                </a:solidFill>
                <a:latin typeface="Calibri" pitchFamily="34" charset="0"/>
                <a:ea typeface="Calibri" pitchFamily="34" charset="-122"/>
                <a:cs typeface="Calibri" pitchFamily="34" charset="-120"/>
              </a:rPr>
              <a:t>every quoted span must literally appear inside that chunk's text, case- and whitespace-normalised (quote_verifier.py)</a:t>
            </a:r>
            <a:endParaRPr lang="en-US" sz="950" dirty="0"/>
          </a:p>
          <a:p>
            <a:pPr marL="342900" indent="-342900">
              <a:spcAft>
                <a:spcPts val="400"/>
              </a:spcAft>
              <a:buSzPct val="100000"/>
              <a:buChar char="•"/>
            </a:pPr>
            <a:r>
              <a:rPr lang="en-US" sz="950" dirty="0">
                <a:solidFill>
                  <a:srgbClr val="DCE7F5"/>
                </a:solidFill>
                <a:latin typeface="Calibri" pitchFamily="34" charset="0"/>
                <a:ea typeface="Calibri" pitchFamily="34" charset="-122"/>
                <a:cs typeface="Calibri" pitchFamily="34" charset="-120"/>
              </a:rPr>
              <a:t>a non-refusal answer with no citations is rejected; a refusal is the only answer allowed to have none</a:t>
            </a:r>
            <a:endParaRPr lang="en-US" sz="950" dirty="0"/>
          </a:p>
        </p:txBody>
      </p:sp>
      <p:sp>
        <p:nvSpPr>
          <p:cNvPr id="8" name="Text 6"/>
          <p:cNvSpPr txBox="1"/>
          <p:nvPr/>
        </p:nvSpPr>
        <p:spPr>
          <a:xfrm>
            <a:off x="594360" y="3246120"/>
            <a:ext cx="3931920" cy="274320"/>
          </a:xfrm>
          <a:prstGeom prst="rect">
            <a:avLst/>
          </a:prstGeom>
          <a:noFill/>
          <a:ln/>
        </p:spPr>
        <p:txBody>
          <a:bodyPr wrap="square" lIns="0" tIns="0" rIns="0" bIns="0" rtlCol="0" anchor="ctr"/>
          <a:lstStyle/>
          <a:p>
            <a:pPr indent="0" marL="0">
              <a:buNone/>
            </a:pPr>
            <a:r>
              <a:rPr lang="en-US" sz="1100" b="1" dirty="0">
                <a:solidFill>
                  <a:srgbClr val="2EC4B6"/>
                </a:solidFill>
                <a:latin typeface="Calibri" pitchFamily="34" charset="0"/>
                <a:ea typeface="Calibri" pitchFamily="34" charset="-122"/>
                <a:cs typeface="Calibri" pitchFamily="34" charset="-120"/>
              </a:rPr>
              <a:t>Enforced by tests, not by prompt wording</a:t>
            </a:r>
            <a:endParaRPr lang="en-US" sz="1100" dirty="0"/>
          </a:p>
        </p:txBody>
      </p:sp>
      <p:sp>
        <p:nvSpPr>
          <p:cNvPr id="9" name="Text 7"/>
          <p:cNvSpPr txBox="1"/>
          <p:nvPr/>
        </p:nvSpPr>
        <p:spPr>
          <a:xfrm>
            <a:off x="594360" y="3520440"/>
            <a:ext cx="3931920" cy="868680"/>
          </a:xfrm>
          <a:prstGeom prst="rect">
            <a:avLst/>
          </a:prstGeom>
          <a:noFill/>
          <a:ln/>
        </p:spPr>
        <p:txBody>
          <a:bodyPr wrap="square" lIns="0" tIns="0" rIns="0" bIns="0" rtlCol="0" anchor="t"/>
          <a:lstStyle/>
          <a:p>
            <a:pPr indent="0" marL="0">
              <a:buNone/>
            </a:pPr>
            <a:r>
              <a:rPr lang="en-US" sz="750" dirty="0">
                <a:solidFill>
                  <a:srgbClr val="FFFFFF"/>
                </a:solidFill>
                <a:latin typeface="Courier New" pitchFamily="34" charset="0"/>
                <a:ea typeface="Courier New" pitchFamily="34" charset="-122"/>
                <a:cs typeface="Courier New" pitchFamily="34" charset="-120"/>
              </a:rPr>
              <a:t>test_verify_answer_citations_rejects_fabricated_evidence_id</a:t>
            </a:r>
            <a:endParaRPr lang="en-US" sz="750" dirty="0"/>
          </a:p>
          <a:p>
            <a:pPr indent="0" marL="0">
              <a:buNone/>
            </a:pPr>
            <a:r>
              <a:rPr lang="en-US" sz="750" dirty="0">
                <a:solidFill>
                  <a:srgbClr val="FFFFFF"/>
                </a:solidFill>
                <a:latin typeface="Courier New" pitchFamily="34" charset="0"/>
                <a:ea typeface="Courier New" pitchFamily="34" charset="-122"/>
                <a:cs typeface="Courier New" pitchFamily="34" charset="-120"/>
              </a:rPr>
              <a:t>test_verify_answer_citations_rejects_non_retrieved_chunk_citation</a:t>
            </a:r>
            <a:endParaRPr lang="en-US" sz="750" dirty="0"/>
          </a:p>
          <a:p>
            <a:pPr indent="0" marL="0">
              <a:buNone/>
            </a:pPr>
            <a:r>
              <a:rPr lang="en-US" sz="750" dirty="0">
                <a:solidFill>
                  <a:srgbClr val="FFFFFF"/>
                </a:solidFill>
                <a:latin typeface="Courier New" pitchFamily="34" charset="0"/>
                <a:ea typeface="Courier New" pitchFamily="34" charset="-122"/>
                <a:cs typeface="Courier New" pitchFamily="34" charset="-120"/>
              </a:rPr>
              <a:t>test_verify_answer_citations_rejects_quote_absent_from_evidence</a:t>
            </a:r>
            <a:endParaRPr lang="en-US" sz="750" dirty="0"/>
          </a:p>
          <a:p>
            <a:pPr indent="0" marL="0">
              <a:buNone/>
            </a:pPr>
            <a:r>
              <a:rPr lang="en-US" sz="750" dirty="0">
                <a:solidFill>
                  <a:srgbClr val="FFFFFF"/>
                </a:solidFill>
                <a:latin typeface="Courier New" pitchFamily="34" charset="0"/>
                <a:ea typeface="Courier New" pitchFamily="34" charset="-122"/>
                <a:cs typeface="Courier New" pitchFamily="34" charset="-120"/>
              </a:rPr>
              <a:t>test_non_refusal_answer_without_citations_is_rejected</a:t>
            </a:r>
            <a:endParaRPr lang="en-US" sz="750" dirty="0"/>
          </a:p>
        </p:txBody>
      </p:sp>
      <p:sp>
        <p:nvSpPr>
          <p:cNvPr id="10" name="Shape 8"/>
          <p:cNvSpPr/>
          <p:nvPr/>
        </p:nvSpPr>
        <p:spPr>
          <a:xfrm>
            <a:off x="4937760" y="1188720"/>
            <a:ext cx="3749040" cy="530352"/>
          </a:xfrm>
          <a:prstGeom prst="roundRect">
            <a:avLst>
              <a:gd name="adj" fmla="val 10345"/>
            </a:avLst>
          </a:prstGeom>
          <a:solidFill>
            <a:srgbClr val="F3F6FA"/>
          </a:solidFill>
          <a:ln w="9525">
            <a:solidFill>
              <a:srgbClr val="C9D3E0"/>
            </a:solidFill>
            <a:prstDash val="solid"/>
          </a:ln>
        </p:spPr>
      </p:sp>
      <p:sp>
        <p:nvSpPr>
          <p:cNvPr id="11" name="Text 9"/>
          <p:cNvSpPr txBox="1"/>
          <p:nvPr/>
        </p:nvSpPr>
        <p:spPr>
          <a:xfrm>
            <a:off x="5074920" y="1225296"/>
            <a:ext cx="1371600" cy="457200"/>
          </a:xfrm>
          <a:prstGeom prst="rect">
            <a:avLst/>
          </a:prstGeom>
          <a:noFill/>
          <a:ln/>
        </p:spPr>
        <p:txBody>
          <a:bodyPr wrap="square" lIns="0" tIns="0" rIns="0" bIns="0" rtlCol="0" anchor="ctr"/>
          <a:lstStyle/>
          <a:p>
            <a:pPr indent="0" marL="0">
              <a:buNone/>
            </a:pPr>
            <a:r>
              <a:rPr lang="en-US" sz="1200" b="1" dirty="0">
                <a:solidFill>
                  <a:srgbClr val="2EC4B6"/>
                </a:solidFill>
                <a:latin typeface="Calibri" pitchFamily="34" charset="0"/>
                <a:ea typeface="Calibri" pitchFamily="34" charset="-122"/>
                <a:cs typeface="Calibri" pitchFamily="34" charset="-120"/>
              </a:rPr>
              <a:t>✓ verified</a:t>
            </a:r>
            <a:endParaRPr lang="en-US" sz="1200" dirty="0"/>
          </a:p>
        </p:txBody>
      </p:sp>
      <p:sp>
        <p:nvSpPr>
          <p:cNvPr id="12" name="Text 10"/>
          <p:cNvSpPr txBox="1"/>
          <p:nvPr/>
        </p:nvSpPr>
        <p:spPr>
          <a:xfrm>
            <a:off x="6400800" y="1225296"/>
            <a:ext cx="2194560" cy="457200"/>
          </a:xfrm>
          <a:prstGeom prst="rect">
            <a:avLst/>
          </a:prstGeom>
          <a:noFill/>
          <a:ln/>
        </p:spPr>
        <p:txBody>
          <a:bodyPr wrap="square" lIns="0" tIns="0" rIns="0" bIns="0" rtlCol="0" anchor="ctr"/>
          <a:lstStyle/>
          <a:p>
            <a:pPr indent="0" marL="0">
              <a:buNone/>
            </a:pPr>
            <a:r>
              <a:rPr lang="en-US" sz="850" dirty="0">
                <a:solidFill>
                  <a:srgbClr val="1B2A41"/>
                </a:solidFill>
                <a:latin typeface="Calibri" pitchFamily="34" charset="0"/>
                <a:ea typeface="Calibri" pitchFamily="34" charset="-122"/>
                <a:cs typeface="Calibri" pitchFamily="34" charset="-120"/>
              </a:rPr>
              <a:t>quote found in the cited, retrieved chunk</a:t>
            </a:r>
            <a:endParaRPr lang="en-US" sz="850" dirty="0"/>
          </a:p>
        </p:txBody>
      </p:sp>
      <p:sp>
        <p:nvSpPr>
          <p:cNvPr id="13" name="Shape 11"/>
          <p:cNvSpPr/>
          <p:nvPr/>
        </p:nvSpPr>
        <p:spPr>
          <a:xfrm>
            <a:off x="4937760" y="1828800"/>
            <a:ext cx="3749040" cy="530352"/>
          </a:xfrm>
          <a:prstGeom prst="roundRect">
            <a:avLst>
              <a:gd name="adj" fmla="val 10345"/>
            </a:avLst>
          </a:prstGeom>
          <a:solidFill>
            <a:srgbClr val="F3F6FA"/>
          </a:solidFill>
          <a:ln w="9525">
            <a:solidFill>
              <a:srgbClr val="C9D3E0"/>
            </a:solidFill>
            <a:prstDash val="solid"/>
          </a:ln>
        </p:spPr>
      </p:sp>
      <p:sp>
        <p:nvSpPr>
          <p:cNvPr id="14" name="Text 12"/>
          <p:cNvSpPr txBox="1"/>
          <p:nvPr/>
        </p:nvSpPr>
        <p:spPr>
          <a:xfrm>
            <a:off x="5074920" y="1865376"/>
            <a:ext cx="1371600" cy="457200"/>
          </a:xfrm>
          <a:prstGeom prst="rect">
            <a:avLst/>
          </a:prstGeom>
          <a:noFill/>
          <a:ln/>
        </p:spPr>
        <p:txBody>
          <a:bodyPr wrap="square" lIns="0" tIns="0" rIns="0" bIns="0" rtlCol="0" anchor="ctr"/>
          <a:lstStyle/>
          <a:p>
            <a:pPr indent="0" marL="0">
              <a:buNone/>
            </a:pPr>
            <a:r>
              <a:rPr lang="en-US" sz="1200" b="1" dirty="0">
                <a:solidFill>
                  <a:srgbClr val="D64550"/>
                </a:solidFill>
                <a:latin typeface="Calibri" pitchFamily="34" charset="0"/>
                <a:ea typeface="Calibri" pitchFamily="34" charset="-122"/>
                <a:cs typeface="Calibri" pitchFamily="34" charset="-120"/>
              </a:rPr>
              <a:t>✗ rejected</a:t>
            </a:r>
            <a:endParaRPr lang="en-US" sz="1200" dirty="0"/>
          </a:p>
        </p:txBody>
      </p:sp>
      <p:sp>
        <p:nvSpPr>
          <p:cNvPr id="15" name="Text 13"/>
          <p:cNvSpPr txBox="1"/>
          <p:nvPr/>
        </p:nvSpPr>
        <p:spPr>
          <a:xfrm>
            <a:off x="6400800" y="1865376"/>
            <a:ext cx="2194560" cy="457200"/>
          </a:xfrm>
          <a:prstGeom prst="rect">
            <a:avLst/>
          </a:prstGeom>
          <a:noFill/>
          <a:ln/>
        </p:spPr>
        <p:txBody>
          <a:bodyPr wrap="square" lIns="0" tIns="0" rIns="0" bIns="0" rtlCol="0" anchor="ctr"/>
          <a:lstStyle/>
          <a:p>
            <a:pPr indent="0" marL="0">
              <a:buNone/>
            </a:pPr>
            <a:r>
              <a:rPr lang="en-US" sz="850" dirty="0">
                <a:solidFill>
                  <a:srgbClr val="1B2A41"/>
                </a:solidFill>
                <a:latin typeface="Calibri" pitchFamily="34" charset="0"/>
                <a:ea typeface="Calibri" pitchFamily="34" charset="-122"/>
                <a:cs typeface="Calibri" pitchFamily="34" charset="-120"/>
              </a:rPr>
              <a:t>fabricated evidence id, or a quote not in the chunk</a:t>
            </a:r>
            <a:endParaRPr lang="en-US" sz="850" dirty="0"/>
          </a:p>
        </p:txBody>
      </p:sp>
      <p:sp>
        <p:nvSpPr>
          <p:cNvPr id="16" name="Shape 14"/>
          <p:cNvSpPr/>
          <p:nvPr/>
        </p:nvSpPr>
        <p:spPr>
          <a:xfrm>
            <a:off x="4937760" y="2468880"/>
            <a:ext cx="3749040" cy="530352"/>
          </a:xfrm>
          <a:prstGeom prst="roundRect">
            <a:avLst>
              <a:gd name="adj" fmla="val 10345"/>
            </a:avLst>
          </a:prstGeom>
          <a:solidFill>
            <a:srgbClr val="F3F6FA"/>
          </a:solidFill>
          <a:ln w="9525">
            <a:solidFill>
              <a:srgbClr val="C9D3E0"/>
            </a:solidFill>
            <a:prstDash val="solid"/>
          </a:ln>
        </p:spPr>
      </p:sp>
      <p:sp>
        <p:nvSpPr>
          <p:cNvPr id="17" name="Text 15"/>
          <p:cNvSpPr txBox="1"/>
          <p:nvPr/>
        </p:nvSpPr>
        <p:spPr>
          <a:xfrm>
            <a:off x="5074920" y="2505456"/>
            <a:ext cx="1371600" cy="457200"/>
          </a:xfrm>
          <a:prstGeom prst="rect">
            <a:avLst/>
          </a:prstGeom>
          <a:noFill/>
          <a:ln/>
        </p:spPr>
        <p:txBody>
          <a:bodyPr wrap="square" lIns="0" tIns="0" rIns="0" bIns="0" rtlCol="0" anchor="ctr"/>
          <a:lstStyle/>
          <a:p>
            <a:pPr indent="0" marL="0">
              <a:buNone/>
            </a:pPr>
            <a:r>
              <a:rPr lang="en-US" sz="1200" b="1" dirty="0">
                <a:solidFill>
                  <a:srgbClr val="F2B134"/>
                </a:solidFill>
                <a:latin typeface="Calibri" pitchFamily="34" charset="0"/>
                <a:ea typeface="Calibri" pitchFamily="34" charset="-122"/>
                <a:cs typeface="Calibri" pitchFamily="34" charset="-120"/>
              </a:rPr>
              <a:t>⚠ warned</a:t>
            </a:r>
            <a:endParaRPr lang="en-US" sz="1200" dirty="0"/>
          </a:p>
        </p:txBody>
      </p:sp>
      <p:sp>
        <p:nvSpPr>
          <p:cNvPr id="18" name="Text 16"/>
          <p:cNvSpPr txBox="1"/>
          <p:nvPr/>
        </p:nvSpPr>
        <p:spPr>
          <a:xfrm>
            <a:off x="6400800" y="2505456"/>
            <a:ext cx="2194560" cy="457200"/>
          </a:xfrm>
          <a:prstGeom prst="rect">
            <a:avLst/>
          </a:prstGeom>
          <a:noFill/>
          <a:ln/>
        </p:spPr>
        <p:txBody>
          <a:bodyPr wrap="square" lIns="0" tIns="0" rIns="0" bIns="0" rtlCol="0" anchor="ctr"/>
          <a:lstStyle/>
          <a:p>
            <a:pPr indent="0" marL="0">
              <a:buNone/>
            </a:pPr>
            <a:r>
              <a:rPr lang="en-US" sz="850" dirty="0">
                <a:solidFill>
                  <a:srgbClr val="1B2A41"/>
                </a:solidFill>
                <a:latin typeface="Calibri" pitchFamily="34" charset="0"/>
                <a:ea typeface="Calibri" pitchFamily="34" charset="-122"/>
                <a:cs typeface="Calibri" pitchFamily="34" charset="-120"/>
              </a:rPr>
              <a:t>source text tried to inject an instruction; fact kept, instruction dropped</a:t>
            </a:r>
            <a:endParaRPr lang="en-US" sz="850" dirty="0"/>
          </a:p>
        </p:txBody>
      </p:sp>
      <p:sp>
        <p:nvSpPr>
          <p:cNvPr id="19" name="Shape 17"/>
          <p:cNvSpPr/>
          <p:nvPr/>
        </p:nvSpPr>
        <p:spPr>
          <a:xfrm>
            <a:off x="4937760" y="3108960"/>
            <a:ext cx="3749040" cy="530352"/>
          </a:xfrm>
          <a:prstGeom prst="roundRect">
            <a:avLst>
              <a:gd name="adj" fmla="val 10345"/>
            </a:avLst>
          </a:prstGeom>
          <a:solidFill>
            <a:srgbClr val="F3F6FA"/>
          </a:solidFill>
          <a:ln w="9525">
            <a:solidFill>
              <a:srgbClr val="C9D3E0"/>
            </a:solidFill>
            <a:prstDash val="solid"/>
          </a:ln>
        </p:spPr>
      </p:sp>
      <p:sp>
        <p:nvSpPr>
          <p:cNvPr id="20" name="Text 18"/>
          <p:cNvSpPr txBox="1"/>
          <p:nvPr/>
        </p:nvSpPr>
        <p:spPr>
          <a:xfrm>
            <a:off x="5074920" y="3145536"/>
            <a:ext cx="1371600" cy="457200"/>
          </a:xfrm>
          <a:prstGeom prst="rect">
            <a:avLst/>
          </a:prstGeom>
          <a:noFill/>
          <a:ln/>
        </p:spPr>
        <p:txBody>
          <a:bodyPr wrap="square" lIns="0" tIns="0" rIns="0" bIns="0" rtlCol="0" anchor="ctr"/>
          <a:lstStyle/>
          <a:p>
            <a:pPr indent="0" marL="0">
              <a:buNone/>
            </a:pPr>
            <a:r>
              <a:rPr lang="en-US" sz="1200" b="1" dirty="0">
                <a:solidFill>
                  <a:srgbClr val="6B7A90"/>
                </a:solidFill>
                <a:latin typeface="Calibri" pitchFamily="34" charset="0"/>
                <a:ea typeface="Calibri" pitchFamily="34" charset="-122"/>
                <a:cs typeface="Calibri" pitchFamily="34" charset="-120"/>
              </a:rPr>
              <a:t>◇ abstained</a:t>
            </a:r>
            <a:endParaRPr lang="en-US" sz="1200" dirty="0"/>
          </a:p>
        </p:txBody>
      </p:sp>
      <p:sp>
        <p:nvSpPr>
          <p:cNvPr id="21" name="Text 19"/>
          <p:cNvSpPr txBox="1"/>
          <p:nvPr/>
        </p:nvSpPr>
        <p:spPr>
          <a:xfrm>
            <a:off x="6400800" y="3145536"/>
            <a:ext cx="2194560" cy="457200"/>
          </a:xfrm>
          <a:prstGeom prst="rect">
            <a:avLst/>
          </a:prstGeom>
          <a:noFill/>
          <a:ln/>
        </p:spPr>
        <p:txBody>
          <a:bodyPr wrap="square" lIns="0" tIns="0" rIns="0" bIns="0" rtlCol="0" anchor="ctr"/>
          <a:lstStyle/>
          <a:p>
            <a:pPr indent="0" marL="0">
              <a:buNone/>
            </a:pPr>
            <a:r>
              <a:rPr lang="en-US" sz="850" dirty="0">
                <a:solidFill>
                  <a:srgbClr val="1B2A41"/>
                </a:solidFill>
                <a:latin typeface="Calibri" pitchFamily="34" charset="0"/>
                <a:ea typeface="Calibri" pitchFamily="34" charset="-122"/>
                <a:cs typeface="Calibri" pitchFamily="34" charset="-120"/>
              </a:rPr>
              <a:t>evidence too weak; refusal allowed to carry no citations</a:t>
            </a:r>
            <a:endParaRPr lang="en-US" sz="850" dirty="0"/>
          </a:p>
        </p:txBody>
      </p:sp>
      <p:sp>
        <p:nvSpPr>
          <p:cNvPr id="22" name="Shape 20"/>
          <p:cNvSpPr/>
          <p:nvPr/>
        </p:nvSpPr>
        <p:spPr>
          <a:xfrm>
            <a:off x="4937760" y="3776472"/>
            <a:ext cx="3749040" cy="658368"/>
          </a:xfrm>
          <a:prstGeom prst="roundRect">
            <a:avLst>
              <a:gd name="adj" fmla="val 8333"/>
            </a:avLst>
          </a:prstGeom>
          <a:solidFill>
            <a:srgbClr val="F3F6FA"/>
          </a:solidFill>
          <a:ln w="9525">
            <a:solidFill>
              <a:srgbClr val="C9D3E0"/>
            </a:solidFill>
            <a:prstDash val="solid"/>
          </a:ln>
        </p:spPr>
      </p:sp>
      <p:sp>
        <p:nvSpPr>
          <p:cNvPr id="23" name="Text 21"/>
          <p:cNvSpPr txBox="1"/>
          <p:nvPr/>
        </p:nvSpPr>
        <p:spPr>
          <a:xfrm>
            <a:off x="5029200" y="3831336"/>
            <a:ext cx="356616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Why this matters</a:t>
            </a:r>
            <a:endParaRPr lang="en-US" sz="1100" dirty="0"/>
          </a:p>
        </p:txBody>
      </p:sp>
      <p:sp>
        <p:nvSpPr>
          <p:cNvPr id="24" name="Text 22"/>
          <p:cNvSpPr txBox="1"/>
          <p:nvPr/>
        </p:nvSpPr>
        <p:spPr>
          <a:xfrm>
            <a:off x="5029200" y="4087368"/>
            <a:ext cx="3566160" cy="292608"/>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Citation faithfulness is the eval's headline KPI: 21/21 answers, every quote verified (100.0%).</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5486400" cy="228600"/>
          </a:xfrm>
          <a:prstGeom prst="rect">
            <a:avLst/>
          </a:prstGeom>
          <a:noFill/>
          <a:ln/>
        </p:spPr>
        <p:txBody>
          <a:bodyPr wrap="square" lIns="0" tIns="0" rIns="0" bIns="0" rtlCol="0" anchor="ctr"/>
          <a:lstStyle/>
          <a:p>
            <a:pPr indent="0" marL="0">
              <a:buNone/>
            </a:pPr>
            <a:r>
              <a:rPr lang="en-US" sz="1000" b="1" spc="200" kern="0" dirty="0">
                <a:solidFill>
                  <a:srgbClr val="2EC4B6"/>
                </a:solidFill>
                <a:latin typeface="Calibri" pitchFamily="34" charset="0"/>
                <a:ea typeface="Calibri" pitchFamily="34" charset="-122"/>
                <a:cs typeface="Calibri" pitchFamily="34" charset="-120"/>
              </a:rPr>
              <a:t>ARCHITECTURE · DATA</a:t>
            </a:r>
            <a:endParaRPr lang="en-US" sz="1000" dirty="0"/>
          </a:p>
        </p:txBody>
      </p:sp>
      <p:sp>
        <p:nvSpPr>
          <p:cNvPr id="3" name="Text 1"/>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600" b="1" dirty="0">
                <a:solidFill>
                  <a:srgbClr val="14213D"/>
                </a:solidFill>
                <a:latin typeface="Cambria" pitchFamily="34" charset="0"/>
                <a:ea typeface="Cambria" pitchFamily="34" charset="-122"/>
                <a:cs typeface="Cambria" pitchFamily="34" charset="-120"/>
              </a:rPr>
              <a:t>Data architecture: stores, retention, classification</a:t>
            </a:r>
            <a:endParaRPr lang="en-US" sz="2600" dirty="0"/>
          </a:p>
        </p:txBody>
      </p:sp>
      <p:sp>
        <p:nvSpPr>
          <p:cNvPr id="4" name="Text 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6B7A90"/>
                </a:solidFill>
                <a:latin typeface="Calibri" pitchFamily="34" charset="0"/>
                <a:ea typeface="Calibri" pitchFamily="34" charset="-122"/>
                <a:cs typeface="Calibri" pitchFamily="34" charset="-120"/>
              </a:rPr>
              <a:t>RegLens · AI Systems Architecture Review · 9</a:t>
            </a:r>
            <a:endParaRPr lang="en-US" sz="800" dirty="0"/>
          </a:p>
        </p:txBody>
      </p:sp>
      <p:sp>
        <p:nvSpPr>
          <p:cNvPr id="5" name="Shape 3"/>
          <p:cNvSpPr/>
          <p:nvPr/>
        </p:nvSpPr>
        <p:spPr>
          <a:xfrm>
            <a:off x="457200" y="1188720"/>
            <a:ext cx="2651760" cy="1737360"/>
          </a:xfrm>
          <a:prstGeom prst="roundRect">
            <a:avLst>
              <a:gd name="adj" fmla="val 3158"/>
            </a:avLst>
          </a:prstGeom>
          <a:solidFill>
            <a:srgbClr val="F3F6FA"/>
          </a:solidFill>
          <a:ln w="9525">
            <a:solidFill>
              <a:srgbClr val="C9D3E0"/>
            </a:solidFill>
            <a:prstDash val="solid"/>
          </a:ln>
        </p:spPr>
      </p:sp>
      <p:sp>
        <p:nvSpPr>
          <p:cNvPr id="6" name="Text 4"/>
          <p:cNvSpPr txBox="1"/>
          <p:nvPr/>
        </p:nvSpPr>
        <p:spPr>
          <a:xfrm>
            <a:off x="548640" y="1243584"/>
            <a:ext cx="246888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SQLite (metadata + audit)</a:t>
            </a:r>
            <a:endParaRPr lang="en-US" sz="1100" dirty="0"/>
          </a:p>
        </p:txBody>
      </p:sp>
      <p:sp>
        <p:nvSpPr>
          <p:cNvPr id="7" name="Text 5"/>
          <p:cNvSpPr txBox="1"/>
          <p:nvPr/>
        </p:nvSpPr>
        <p:spPr>
          <a:xfrm>
            <a:off x="548640" y="1499616"/>
            <a:ext cx="2468880" cy="1371600"/>
          </a:xfrm>
          <a:prstGeom prst="rect">
            <a:avLst/>
          </a:prstGeom>
          <a:noFill/>
          <a:ln/>
        </p:spPr>
        <p:txBody>
          <a:bodyPr wrap="square" lIns="0" tIns="0" rIns="0" bIns="0" rtlCol="0" anchor="t"/>
          <a:lstStyle/>
          <a:p>
            <a:pPr indent="0" marL="0">
              <a:buNone/>
            </a:pPr>
            <a:r>
              <a:rPr lang="en-US" sz="900" dirty="0">
                <a:solidFill>
                  <a:srgbClr val="1B2A41"/>
                </a:solidFill>
                <a:latin typeface="Calibri" pitchFamily="34" charset="0"/>
                <a:ea typeface="Calibri" pitchFamily="34" charset="-122"/>
                <a:cs typeface="Calibri" pitchFamily="34" charset="-120"/>
              </a:rPr>
              <a:t>sources, sections, chunks, query audits, query evidence, chat sessions and turns. Query audit rows are append-only: re-saving an existing query_id is rejected, not updated.</a:t>
            </a:r>
            <a:endParaRPr lang="en-US" sz="900" dirty="0"/>
          </a:p>
        </p:txBody>
      </p:sp>
      <p:sp>
        <p:nvSpPr>
          <p:cNvPr id="8" name="Shape 6"/>
          <p:cNvSpPr/>
          <p:nvPr/>
        </p:nvSpPr>
        <p:spPr>
          <a:xfrm>
            <a:off x="457200" y="3063240"/>
            <a:ext cx="2651760" cy="1371600"/>
          </a:xfrm>
          <a:prstGeom prst="roundRect">
            <a:avLst>
              <a:gd name="adj" fmla="val 4000"/>
            </a:avLst>
          </a:prstGeom>
          <a:solidFill>
            <a:srgbClr val="F3F6FA"/>
          </a:solidFill>
          <a:ln w="9525">
            <a:solidFill>
              <a:srgbClr val="C9D3E0"/>
            </a:solidFill>
            <a:prstDash val="solid"/>
          </a:ln>
        </p:spPr>
      </p:sp>
      <p:sp>
        <p:nvSpPr>
          <p:cNvPr id="9" name="Text 7"/>
          <p:cNvSpPr txBox="1"/>
          <p:nvPr/>
        </p:nvSpPr>
        <p:spPr>
          <a:xfrm>
            <a:off x="548640" y="3118104"/>
            <a:ext cx="246888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Vector store</a:t>
            </a:r>
            <a:endParaRPr lang="en-US" sz="1100" dirty="0"/>
          </a:p>
        </p:txBody>
      </p:sp>
      <p:sp>
        <p:nvSpPr>
          <p:cNvPr id="10" name="Text 8"/>
          <p:cNvSpPr txBox="1"/>
          <p:nvPr/>
        </p:nvSpPr>
        <p:spPr>
          <a:xfrm>
            <a:off x="548640" y="3374136"/>
            <a:ext cx="2468880" cy="1005840"/>
          </a:xfrm>
          <a:prstGeom prst="rect">
            <a:avLst/>
          </a:prstGeom>
          <a:noFill/>
          <a:ln/>
        </p:spPr>
        <p:txBody>
          <a:bodyPr wrap="square" lIns="0" tIns="0" rIns="0" bIns="0" rtlCol="0" anchor="t"/>
          <a:lstStyle/>
          <a:p>
            <a:pPr indent="0" marL="0">
              <a:buNone/>
            </a:pPr>
            <a:r>
              <a:rPr lang="en-US" sz="900" dirty="0">
                <a:solidFill>
                  <a:srgbClr val="1B2A41"/>
                </a:solidFill>
                <a:latin typeface="Calibri" pitchFamily="34" charset="0"/>
                <a:ea typeface="Calibri" pitchFamily="34" charset="-122"/>
                <a:cs typeface="Calibri" pitchFamily="34" charset="-120"/>
              </a:rPr>
              <a:t>In-memory fake embeddings by default (mock mode); an optional Qdrant collection regulatory_chunks in local mode, degrading to a structured error if unreachable.</a:t>
            </a:r>
            <a:endParaRPr lang="en-US" sz="900" dirty="0"/>
          </a:p>
        </p:txBody>
      </p:sp>
      <p:sp>
        <p:nvSpPr>
          <p:cNvPr id="11" name="Shape 9"/>
          <p:cNvSpPr/>
          <p:nvPr/>
        </p:nvSpPr>
        <p:spPr>
          <a:xfrm>
            <a:off x="3108960" y="2011680"/>
            <a:ext cx="640080" cy="9144"/>
          </a:xfrm>
          <a:prstGeom prst="line">
            <a:avLst/>
          </a:prstGeom>
          <a:noFill/>
          <a:ln w="25400">
            <a:solidFill>
              <a:srgbClr val="2EC4B6"/>
            </a:solidFill>
            <a:prstDash val="solid"/>
            <a:tailEnd type="triangle"/>
          </a:ln>
        </p:spPr>
      </p:sp>
      <p:sp>
        <p:nvSpPr>
          <p:cNvPr id="12" name="Shape 10"/>
          <p:cNvSpPr/>
          <p:nvPr/>
        </p:nvSpPr>
        <p:spPr>
          <a:xfrm flipV="1">
            <a:off x="3108960" y="2926080"/>
            <a:ext cx="640080" cy="731520"/>
          </a:xfrm>
          <a:prstGeom prst="line">
            <a:avLst/>
          </a:prstGeom>
          <a:noFill/>
          <a:ln w="25400">
            <a:solidFill>
              <a:srgbClr val="2EC4B6"/>
            </a:solidFill>
            <a:prstDash val="solid"/>
            <a:tailEnd type="triangle"/>
          </a:ln>
        </p:spPr>
      </p:sp>
      <p:sp>
        <p:nvSpPr>
          <p:cNvPr id="13" name="Shape 11"/>
          <p:cNvSpPr/>
          <p:nvPr/>
        </p:nvSpPr>
        <p:spPr>
          <a:xfrm>
            <a:off x="3749040" y="1737360"/>
            <a:ext cx="2103120" cy="1554480"/>
          </a:xfrm>
          <a:prstGeom prst="roundRect">
            <a:avLst>
              <a:gd name="adj" fmla="val 3529"/>
            </a:avLst>
          </a:prstGeom>
          <a:solidFill>
            <a:srgbClr val="EEF6F4"/>
          </a:solidFill>
          <a:ln w="9525">
            <a:solidFill>
              <a:srgbClr val="2EC4B6"/>
            </a:solidFill>
            <a:prstDash val="solid"/>
          </a:ln>
        </p:spPr>
      </p:sp>
      <p:sp>
        <p:nvSpPr>
          <p:cNvPr id="14" name="Text 12"/>
          <p:cNvSpPr txBox="1"/>
          <p:nvPr/>
        </p:nvSpPr>
        <p:spPr>
          <a:xfrm>
            <a:off x="3840480" y="1801368"/>
            <a:ext cx="1920240" cy="274320"/>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Retention rules</a:t>
            </a:r>
            <a:endParaRPr lang="en-US" sz="1100" dirty="0"/>
          </a:p>
        </p:txBody>
      </p:sp>
      <p:sp>
        <p:nvSpPr>
          <p:cNvPr id="15" name="Text 13"/>
          <p:cNvSpPr txBox="1"/>
          <p:nvPr/>
        </p:nvSpPr>
        <p:spPr>
          <a:xfrm>
            <a:off x="3840480" y="2103120"/>
            <a:ext cx="1920240" cy="1097280"/>
          </a:xfrm>
          <a:prstGeom prst="rect">
            <a:avLst/>
          </a:prstGeom>
          <a:noFill/>
          <a:ln/>
        </p:spPr>
        <p:txBody>
          <a:bodyPr wrap="square" lIns="0" tIns="0" rIns="0" bIns="0" rtlCol="0" anchor="t"/>
          <a:lstStyle/>
          <a:p>
            <a:pPr marL="342900" indent="-342900">
              <a:spcAft>
                <a:spcPts val="400"/>
              </a:spcAft>
              <a:buSzPct val="100000"/>
              <a:buChar char="•"/>
            </a:pPr>
            <a:r>
              <a:rPr lang="en-US" sz="800" dirty="0">
                <a:solidFill>
                  <a:srgbClr val="1B2A41"/>
                </a:solidFill>
                <a:latin typeface="Calibri" pitchFamily="34" charset="0"/>
                <a:ea typeface="Calibri" pitchFamily="34" charset="-122"/>
                <a:cs typeface="Calibri" pitchFamily="34" charset="-120"/>
              </a:rPr>
              <a:t>deleting a source cascades its sections/chunks and refreshes retrieval</a:t>
            </a:r>
            <a:endParaRPr lang="en-US" sz="800" dirty="0"/>
          </a:p>
          <a:p>
            <a:pPr marL="342900" indent="-342900">
              <a:spcAft>
                <a:spcPts val="400"/>
              </a:spcAft>
              <a:buSzPct val="100000"/>
              <a:buChar char="•"/>
            </a:pPr>
            <a:r>
              <a:rPr lang="en-US" sz="800" dirty="0">
                <a:solidFill>
                  <a:srgbClr val="1B2A41"/>
                </a:solidFill>
                <a:latin typeface="Calibri" pitchFamily="34" charset="0"/>
                <a:ea typeface="Calibri" pitchFamily="34" charset="-122"/>
                <a:cs typeface="Calibri" pitchFamily="34" charset="-120"/>
              </a:rPr>
              <a:t>deleting a chat session removes history but keeps its query audits</a:t>
            </a:r>
            <a:endParaRPr lang="en-US" sz="800" dirty="0"/>
          </a:p>
          <a:p>
            <a:pPr marL="342900" indent="-342900">
              <a:spcAft>
                <a:spcPts val="400"/>
              </a:spcAft>
              <a:buSzPct val="100000"/>
              <a:buChar char="•"/>
            </a:pPr>
            <a:r>
              <a:rPr lang="en-US" sz="800" dirty="0">
                <a:solidFill>
                  <a:srgbClr val="1B2A41"/>
                </a:solidFill>
                <a:latin typeface="Calibri" pitchFamily="34" charset="0"/>
                <a:ea typeface="Calibri" pitchFamily="34" charset="-122"/>
                <a:cs typeface="Calibri" pitchFamily="34" charset="-120"/>
              </a:rPr>
              <a:t>audits are immutable by design; chat history is not</a:t>
            </a:r>
            <a:endParaRPr lang="en-US" sz="800" dirty="0"/>
          </a:p>
        </p:txBody>
      </p:sp>
      <p:sp>
        <p:nvSpPr>
          <p:cNvPr id="16" name="Shape 14"/>
          <p:cNvSpPr/>
          <p:nvPr/>
        </p:nvSpPr>
        <p:spPr>
          <a:xfrm>
            <a:off x="6035040" y="1188720"/>
            <a:ext cx="2651760" cy="3246120"/>
          </a:xfrm>
          <a:prstGeom prst="roundRect">
            <a:avLst>
              <a:gd name="adj" fmla="val 2069"/>
            </a:avLst>
          </a:prstGeom>
          <a:solidFill>
            <a:srgbClr val="F3F6FA"/>
          </a:solidFill>
          <a:ln w="9525">
            <a:solidFill>
              <a:srgbClr val="C9D3E0"/>
            </a:solidFill>
            <a:prstDash val="solid"/>
          </a:ln>
        </p:spPr>
      </p:sp>
      <p:sp>
        <p:nvSpPr>
          <p:cNvPr id="17" name="Text 15"/>
          <p:cNvSpPr txBox="1"/>
          <p:nvPr/>
        </p:nvSpPr>
        <p:spPr>
          <a:xfrm>
            <a:off x="6126480" y="1243584"/>
            <a:ext cx="246888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Classification and provenance</a:t>
            </a:r>
            <a:endParaRPr lang="en-US" sz="1100" dirty="0"/>
          </a:p>
        </p:txBody>
      </p:sp>
      <p:sp>
        <p:nvSpPr>
          <p:cNvPr id="18" name="Text 16"/>
          <p:cNvSpPr txBox="1"/>
          <p:nvPr/>
        </p:nvSpPr>
        <p:spPr>
          <a:xfrm>
            <a:off x="6126480" y="1499616"/>
            <a:ext cx="2468880" cy="2880360"/>
          </a:xfrm>
          <a:prstGeom prst="rect">
            <a:avLst/>
          </a:prstGeom>
          <a:noFill/>
          <a:ln/>
        </p:spPr>
        <p:txBody>
          <a:bodyPr wrap="square" lIns="0" tIns="0" rIns="0" bIns="0" rtlCol="0" anchor="t"/>
          <a:lstStyle/>
          <a:p>
            <a:pPr indent="0" marL="0">
              <a:buNone/>
            </a:pPr>
            <a:r>
              <a:rPr lang="en-US" sz="900" dirty="0">
                <a:solidFill>
                  <a:srgbClr val="1B2A41"/>
                </a:solidFill>
                <a:latin typeface="Calibri" pitchFamily="34" charset="0"/>
                <a:ea typeface="Calibri" pitchFamily="34" charset="-122"/>
                <a:cs typeface="Calibri" pitchFamily="34" charset="-120"/>
              </a:rPr>
              <a:t>Every chunk carries its source_id, checksum, corpus_id/version and heading path. Remote (FINRA URL) ingestion snapshots raw bytes locally under REGLENS_DOCUMENT_STORAGE_PATH before chunking, so provenance does not depend on the live page. reglens.db and reports/ are demo-local and gitignored; a production deployment swaps SQLite for a managed store without touching the audit-hash contract.</a:t>
            </a:r>
            <a:endParaRPr lang="en-US" sz="900" dirty="0"/>
          </a:p>
        </p:txBody>
      </p:sp>
      <p:sp>
        <p:nvSpPr>
          <p:cNvPr id="19" name="Text 17"/>
          <p:cNvSpPr txBox="1"/>
          <p:nvPr/>
        </p:nvSpPr>
        <p:spPr>
          <a:xfrm>
            <a:off x="457200" y="4526280"/>
            <a:ext cx="8229600" cy="274320"/>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The bundled synthetic_rulebook.md fixture (11 sections/chunks) is what the eval and the screenshots in this deck run against; the schema is the same one a real rulebook would use.</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5486400" cy="228600"/>
          </a:xfrm>
          <a:prstGeom prst="rect">
            <a:avLst/>
          </a:prstGeom>
          <a:noFill/>
          <a:ln/>
        </p:spPr>
        <p:txBody>
          <a:bodyPr wrap="square" lIns="0" tIns="0" rIns="0" bIns="0" rtlCol="0" anchor="ctr"/>
          <a:lstStyle/>
          <a:p>
            <a:pPr indent="0" marL="0">
              <a:buNone/>
            </a:pPr>
            <a:r>
              <a:rPr lang="en-US" sz="1000" b="1" spc="200" kern="0" dirty="0">
                <a:solidFill>
                  <a:srgbClr val="2EC4B6"/>
                </a:solidFill>
                <a:latin typeface="Calibri" pitchFamily="34" charset="0"/>
                <a:ea typeface="Calibri" pitchFamily="34" charset="-122"/>
                <a:cs typeface="Calibri" pitchFamily="34" charset="-120"/>
              </a:rPr>
              <a:t>ARCHITECTURE · INTEGRATION</a:t>
            </a:r>
            <a:endParaRPr lang="en-US" sz="1000" dirty="0"/>
          </a:p>
        </p:txBody>
      </p:sp>
      <p:sp>
        <p:nvSpPr>
          <p:cNvPr id="3" name="Text 1"/>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600" b="1" dirty="0">
                <a:solidFill>
                  <a:srgbClr val="14213D"/>
                </a:solidFill>
                <a:latin typeface="Cambria" pitchFamily="34" charset="0"/>
                <a:ea typeface="Cambria" pitchFamily="34" charset="-122"/>
                <a:cs typeface="Cambria" pitchFamily="34" charset="-120"/>
              </a:rPr>
              <a:t>Provider and live-mode design: fail closed by default</a:t>
            </a:r>
            <a:endParaRPr lang="en-US" sz="2600" dirty="0"/>
          </a:p>
        </p:txBody>
      </p:sp>
      <p:sp>
        <p:nvSpPr>
          <p:cNvPr id="4" name="Text 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6B7A90"/>
                </a:solidFill>
                <a:latin typeface="Calibri" pitchFamily="34" charset="0"/>
                <a:ea typeface="Calibri" pitchFamily="34" charset="-122"/>
                <a:cs typeface="Calibri" pitchFamily="34" charset="-120"/>
              </a:rPr>
              <a:t>RegLens · AI Systems Architecture Review · 10</a:t>
            </a:r>
            <a:endParaRPr lang="en-US" sz="800" dirty="0"/>
          </a:p>
        </p:txBody>
      </p:sp>
      <p:sp>
        <p:nvSpPr>
          <p:cNvPr id="5" name="Shape 3"/>
          <p:cNvSpPr/>
          <p:nvPr/>
        </p:nvSpPr>
        <p:spPr>
          <a:xfrm>
            <a:off x="457200" y="1188720"/>
            <a:ext cx="2651760" cy="1554480"/>
          </a:xfrm>
          <a:prstGeom prst="roundRect">
            <a:avLst>
              <a:gd name="adj" fmla="val 3529"/>
            </a:avLst>
          </a:prstGeom>
          <a:solidFill>
            <a:srgbClr val="F3F6FA"/>
          </a:solidFill>
          <a:ln w="9525">
            <a:solidFill>
              <a:srgbClr val="C9D3E0"/>
            </a:solidFill>
            <a:prstDash val="solid"/>
          </a:ln>
        </p:spPr>
      </p:sp>
      <p:sp>
        <p:nvSpPr>
          <p:cNvPr id="6" name="Text 4"/>
          <p:cNvSpPr txBox="1"/>
          <p:nvPr/>
        </p:nvSpPr>
        <p:spPr>
          <a:xfrm>
            <a:off x="548640" y="1243584"/>
            <a:ext cx="246888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OpenAI (optional)</a:t>
            </a:r>
            <a:endParaRPr lang="en-US" sz="1100" dirty="0"/>
          </a:p>
        </p:txBody>
      </p:sp>
      <p:sp>
        <p:nvSpPr>
          <p:cNvPr id="7" name="Text 5"/>
          <p:cNvSpPr txBox="1"/>
          <p:nvPr/>
        </p:nvSpPr>
        <p:spPr>
          <a:xfrm>
            <a:off x="548640" y="1499616"/>
            <a:ext cx="2468880" cy="1188720"/>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install .[openai], set an explicit provider name and OPENAI_API_KEY; text-embedding-3-small + gpt-5.4-nano, capped output tokens, bounded embedding cache keyed by provider/model/dims/hash.</a:t>
            </a:r>
            <a:endParaRPr lang="en-US" sz="850" dirty="0"/>
          </a:p>
        </p:txBody>
      </p:sp>
      <p:sp>
        <p:nvSpPr>
          <p:cNvPr id="8" name="Shape 6"/>
          <p:cNvSpPr/>
          <p:nvPr/>
        </p:nvSpPr>
        <p:spPr>
          <a:xfrm>
            <a:off x="3246120" y="1188720"/>
            <a:ext cx="2651760" cy="1554480"/>
          </a:xfrm>
          <a:prstGeom prst="roundRect">
            <a:avLst>
              <a:gd name="adj" fmla="val 3529"/>
            </a:avLst>
          </a:prstGeom>
          <a:solidFill>
            <a:srgbClr val="F3F6FA"/>
          </a:solidFill>
          <a:ln w="9525">
            <a:solidFill>
              <a:srgbClr val="C9D3E0"/>
            </a:solidFill>
            <a:prstDash val="solid"/>
          </a:ln>
        </p:spPr>
      </p:sp>
      <p:sp>
        <p:nvSpPr>
          <p:cNvPr id="9" name="Text 7"/>
          <p:cNvSpPr txBox="1"/>
          <p:nvPr/>
        </p:nvSpPr>
        <p:spPr>
          <a:xfrm>
            <a:off x="3337560" y="1243584"/>
            <a:ext cx="246888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Qdrant (optional)</a:t>
            </a:r>
            <a:endParaRPr lang="en-US" sz="1100" dirty="0"/>
          </a:p>
        </p:txBody>
      </p:sp>
      <p:sp>
        <p:nvSpPr>
          <p:cNvPr id="10" name="Text 8"/>
          <p:cNvSpPr txBox="1"/>
          <p:nvPr/>
        </p:nvSpPr>
        <p:spPr>
          <a:xfrm>
            <a:off x="3337560" y="1499616"/>
            <a:ext cx="2468880" cy="1188720"/>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install .[qdrant], REGLENS_RAG_MODE=local; a separate collection per embedding-dimension change; unreachable Qdrant degrades /ready, not startup.</a:t>
            </a:r>
            <a:endParaRPr lang="en-US" sz="850" dirty="0"/>
          </a:p>
        </p:txBody>
      </p:sp>
      <p:sp>
        <p:nvSpPr>
          <p:cNvPr id="11" name="Shape 9"/>
          <p:cNvSpPr/>
          <p:nvPr/>
        </p:nvSpPr>
        <p:spPr>
          <a:xfrm>
            <a:off x="6035040" y="1188720"/>
            <a:ext cx="2651760" cy="1554480"/>
          </a:xfrm>
          <a:prstGeom prst="roundRect">
            <a:avLst>
              <a:gd name="adj" fmla="val 3529"/>
            </a:avLst>
          </a:prstGeom>
          <a:solidFill>
            <a:srgbClr val="F3F6FA"/>
          </a:solidFill>
          <a:ln w="9525">
            <a:solidFill>
              <a:srgbClr val="C9D3E0"/>
            </a:solidFill>
            <a:prstDash val="solid"/>
          </a:ln>
        </p:spPr>
      </p:sp>
      <p:sp>
        <p:nvSpPr>
          <p:cNvPr id="12" name="Text 10"/>
          <p:cNvSpPr txBox="1"/>
          <p:nvPr/>
        </p:nvSpPr>
        <p:spPr>
          <a:xfrm>
            <a:off x="6126480" y="1243584"/>
            <a:ext cx="246888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Cross-encoder (optional)</a:t>
            </a:r>
            <a:endParaRPr lang="en-US" sz="1100" dirty="0"/>
          </a:p>
        </p:txBody>
      </p:sp>
      <p:sp>
        <p:nvSpPr>
          <p:cNvPr id="13" name="Text 11"/>
          <p:cNvSpPr txBox="1"/>
          <p:nvPr/>
        </p:nvSpPr>
        <p:spPr>
          <a:xfrm>
            <a:off x="6126480" y="1499616"/>
            <a:ext cx="2468880" cy="1188720"/>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install .[rerank]; ms-marco-MiniLM-L-6-v2, lazily loaded on first use; REGLENS_CROSS_ENCODER_LOCAL_FILES_ONLY avoids a network fetch.</a:t>
            </a:r>
            <a:endParaRPr lang="en-US" sz="850" dirty="0"/>
          </a:p>
        </p:txBody>
      </p:sp>
      <p:sp>
        <p:nvSpPr>
          <p:cNvPr id="14" name="Shape 12"/>
          <p:cNvSpPr/>
          <p:nvPr/>
        </p:nvSpPr>
        <p:spPr>
          <a:xfrm>
            <a:off x="457200" y="2880360"/>
            <a:ext cx="4251960" cy="1554480"/>
          </a:xfrm>
          <a:prstGeom prst="roundRect">
            <a:avLst>
              <a:gd name="adj" fmla="val 3529"/>
            </a:avLst>
          </a:prstGeom>
          <a:solidFill>
            <a:srgbClr val="F3F6FA"/>
          </a:solidFill>
          <a:ln w="9525">
            <a:solidFill>
              <a:srgbClr val="C9D3E0"/>
            </a:solidFill>
            <a:prstDash val="solid"/>
          </a:ln>
        </p:spPr>
      </p:sp>
      <p:sp>
        <p:nvSpPr>
          <p:cNvPr id="15" name="Text 13"/>
          <p:cNvSpPr txBox="1"/>
          <p:nvPr/>
        </p:nvSpPr>
        <p:spPr>
          <a:xfrm>
            <a:off x="548640" y="2935224"/>
            <a:ext cx="406908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The fail-closed test</a:t>
            </a:r>
            <a:endParaRPr lang="en-US" sz="1100" dirty="0"/>
          </a:p>
        </p:txBody>
      </p:sp>
      <p:sp>
        <p:nvSpPr>
          <p:cNvPr id="16" name="Text 14"/>
          <p:cNvSpPr txBox="1"/>
          <p:nvPr/>
        </p:nvSpPr>
        <p:spPr>
          <a:xfrm>
            <a:off x="548640" y="3191256"/>
            <a:ext cx="4069080" cy="1188720"/>
          </a:xfrm>
          <a:prstGeom prst="rect">
            <a:avLst/>
          </a:prstGeom>
          <a:noFill/>
          <a:ln/>
        </p:spPr>
        <p:txBody>
          <a:bodyPr wrap="square" lIns="0" tIns="0" rIns="0" bIns="0" rtlCol="0" anchor="t"/>
          <a:lstStyle/>
          <a:p>
            <a:pPr indent="0" marL="0">
              <a:buNone/>
            </a:pPr>
            <a:r>
              <a:rPr lang="en-US" sz="900" dirty="0">
                <a:solidFill>
                  <a:srgbClr val="1B2A41"/>
                </a:solidFill>
                <a:latin typeface="Calibri" pitchFamily="34" charset="0"/>
                <a:ea typeface="Calibri" pitchFamily="34" charset="-122"/>
                <a:cs typeface="Calibri" pitchFamily="34" charset="-120"/>
              </a:rPr>
              <a:t>Mock mode rejects live-provider flags outright; setting OPENAI_API_KEY alone enables nothing. `test_openai_api_key_env_does_not_enable_live_providers_by_itself` and `test_provider_factories_do_not_import_openai_sdk_when_api_key_is_missing` make the boundary a test, not a convention.</a:t>
            </a:r>
            <a:endParaRPr lang="en-US" sz="900" dirty="0"/>
          </a:p>
        </p:txBody>
      </p:sp>
      <p:sp>
        <p:nvSpPr>
          <p:cNvPr id="17" name="Shape 15"/>
          <p:cNvSpPr/>
          <p:nvPr/>
        </p:nvSpPr>
        <p:spPr>
          <a:xfrm>
            <a:off x="4892040" y="2880360"/>
            <a:ext cx="3794760" cy="1554480"/>
          </a:xfrm>
          <a:prstGeom prst="roundRect">
            <a:avLst>
              <a:gd name="adj" fmla="val 3529"/>
            </a:avLst>
          </a:prstGeom>
          <a:solidFill>
            <a:srgbClr val="F3F6FA"/>
          </a:solidFill>
          <a:ln w="9525">
            <a:solidFill>
              <a:srgbClr val="C9D3E0"/>
            </a:solidFill>
            <a:prstDash val="solid"/>
          </a:ln>
        </p:spPr>
      </p:sp>
      <p:sp>
        <p:nvSpPr>
          <p:cNvPr id="18" name="Text 16"/>
          <p:cNvSpPr txBox="1"/>
          <p:nvPr/>
        </p:nvSpPr>
        <p:spPr>
          <a:xfrm>
            <a:off x="4983480" y="2935224"/>
            <a:ext cx="361188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FINRA URL ingestion</a:t>
            </a:r>
            <a:endParaRPr lang="en-US" sz="1100" dirty="0"/>
          </a:p>
        </p:txBody>
      </p:sp>
      <p:sp>
        <p:nvSpPr>
          <p:cNvPr id="19" name="Text 17"/>
          <p:cNvSpPr txBox="1"/>
          <p:nvPr/>
        </p:nvSpPr>
        <p:spPr>
          <a:xfrm>
            <a:off x="4983480" y="3191256"/>
            <a:ext cx="3611880" cy="1188720"/>
          </a:xfrm>
          <a:prstGeom prst="rect">
            <a:avLst/>
          </a:prstGeom>
          <a:noFill/>
          <a:ln/>
        </p:spPr>
        <p:txBody>
          <a:bodyPr wrap="square" lIns="0" tIns="0" rIns="0" bIns="0" rtlCol="0" anchor="t"/>
          <a:lstStyle/>
          <a:p>
            <a:pPr indent="0" marL="0">
              <a:buNone/>
            </a:pPr>
            <a:r>
              <a:rPr lang="en-US" sz="900" dirty="0">
                <a:solidFill>
                  <a:srgbClr val="1B2A41"/>
                </a:solidFill>
                <a:latin typeface="Calibri" pitchFamily="34" charset="0"/>
                <a:ea typeface="Calibri" pitchFamily="34" charset="-122"/>
                <a:cs typeface="Calibri" pitchFamily="34" charset="-120"/>
              </a:rPr>
              <a:t>POST /admin/ingest-url accepts only HTTPS finra.org / www.finra.org / rules.finra.org, validates the final redirect host, caps response bytes, snapshots raw bytes locally, then runs the normal ingest/chunk/audit path.</a:t>
            </a:r>
            <a:endParaRPr lang="en-US" sz="900" dirty="0"/>
          </a:p>
        </p:txBody>
      </p:sp>
      <p:sp>
        <p:nvSpPr>
          <p:cNvPr id="20" name="Text 18"/>
          <p:cNvSpPr txBox="1"/>
          <p:nvPr/>
        </p:nvSpPr>
        <p:spPr>
          <a:xfrm>
            <a:off x="457200" y="4526280"/>
            <a:ext cx="8229600" cy="274320"/>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Every optional branch returns a structured dependency_unavailable error rather than crashing at startup when its package, key, quota or model is missing.</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5486400" cy="228600"/>
          </a:xfrm>
          <a:prstGeom prst="rect">
            <a:avLst/>
          </a:prstGeom>
          <a:noFill/>
          <a:ln/>
        </p:spPr>
        <p:txBody>
          <a:bodyPr wrap="square" lIns="0" tIns="0" rIns="0" bIns="0" rtlCol="0" anchor="ctr"/>
          <a:lstStyle/>
          <a:p>
            <a:pPr indent="0" marL="0">
              <a:buNone/>
            </a:pPr>
            <a:r>
              <a:rPr lang="en-US" sz="1000" b="1" spc="200" kern="0" dirty="0">
                <a:solidFill>
                  <a:srgbClr val="2EC4B6"/>
                </a:solidFill>
                <a:latin typeface="Calibri" pitchFamily="34" charset="0"/>
                <a:ea typeface="Calibri" pitchFamily="34" charset="-122"/>
                <a:cs typeface="Calibri" pitchFamily="34" charset="-120"/>
              </a:rPr>
              <a:t>DESIGN DECISIONS</a:t>
            </a:r>
            <a:endParaRPr lang="en-US" sz="1000" dirty="0"/>
          </a:p>
        </p:txBody>
      </p:sp>
      <p:sp>
        <p:nvSpPr>
          <p:cNvPr id="3" name="Text 1"/>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600" b="1" dirty="0">
                <a:solidFill>
                  <a:srgbClr val="14213D"/>
                </a:solidFill>
                <a:latin typeface="Cambria" pitchFamily="34" charset="0"/>
                <a:ea typeface="Cambria" pitchFamily="34" charset="-122"/>
                <a:cs typeface="Cambria" pitchFamily="34" charset="-120"/>
              </a:rPr>
              <a:t>Design choices and why</a:t>
            </a:r>
            <a:endParaRPr lang="en-US" sz="2600" dirty="0"/>
          </a:p>
        </p:txBody>
      </p:sp>
      <p:sp>
        <p:nvSpPr>
          <p:cNvPr id="4" name="Text 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6B7A90"/>
                </a:solidFill>
                <a:latin typeface="Calibri" pitchFamily="34" charset="0"/>
                <a:ea typeface="Calibri" pitchFamily="34" charset="-122"/>
                <a:cs typeface="Calibri" pitchFamily="34" charset="-120"/>
              </a:rPr>
              <a:t>RegLens · AI Systems Architecture Review · 11</a:t>
            </a:r>
            <a:endParaRPr lang="en-US" sz="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468880"/>
                <a:gridCol w="2651760"/>
                <a:gridCol w="3108960"/>
              </a:tblGrid>
              <a:tr h="0">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Decision</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Alternatives considered</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Why this one</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14213D"/>
                    </a:solidFill>
                  </a:tcPr>
                </a:tc>
              </a:tr>
              <a:tr h="0">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Verification in code after generation, not in the prompt</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Trust the model to cite correctly; rely on prompt wording alone</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A wrong citation in compliance is a liability the prompt cannot guarantee away; a code check can be tested and is enforced on every answer</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Fake providers are real implementations, bound by default</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Mocked test doubles that do not resemble production behaviour</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275 tests, the eval harness and the UI all run offline with no key; the same interface later carries a live provider</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Hybrid BM25 + dense fused by RRF; Qdrant optional</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Dense-only retrieval; a vector database required from day one</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Works fully in-memory in mock mode; Qdrant is additive for local/production scale, not a hard dependency</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Prompt-local [E1]…[En] evidence markers</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Free-form citations inside the generated answer text</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Markers exist only in the prompt, so every citation the model produces must resolve to something the system actually retrieved</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Only a refusal may lack citations</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Allow any answer to omit citations when the model is unsure</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Makes 'no evidence' and 'unsupported claim' distinguishable in code, not just in tone</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OCR deferred, scanned PDFs fail closed</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Best-effort OCR bundled into default PDF ingestion</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Uncertain OCR text must not silently enter a compliance answer without an explicit confidence and audit policy (docs/ocr-strategy.md)</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SQLite for metadata and audit</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PostgreSQL from the first line of code</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Zero-infrastructure local development and CI; the audit hash-chain is a code invariant, not tied to a specific store</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5486400" cy="228600"/>
          </a:xfrm>
          <a:prstGeom prst="rect">
            <a:avLst/>
          </a:prstGeom>
          <a:noFill/>
          <a:ln/>
        </p:spPr>
        <p:txBody>
          <a:bodyPr wrap="square" lIns="0" tIns="0" rIns="0" bIns="0" rtlCol="0" anchor="ctr"/>
          <a:lstStyle/>
          <a:p>
            <a:pPr indent="0" marL="0">
              <a:buNone/>
            </a:pPr>
            <a:r>
              <a:rPr lang="en-US" sz="1000" b="1" spc="200" kern="0" dirty="0">
                <a:solidFill>
                  <a:srgbClr val="2EC4B6"/>
                </a:solidFill>
                <a:latin typeface="Calibri" pitchFamily="34" charset="0"/>
                <a:ea typeface="Calibri" pitchFamily="34" charset="-122"/>
                <a:cs typeface="Calibri" pitchFamily="34" charset="-120"/>
              </a:rPr>
              <a:t>PRODUCT</a:t>
            </a:r>
            <a:endParaRPr lang="en-US" sz="1000" dirty="0"/>
          </a:p>
        </p:txBody>
      </p:sp>
      <p:sp>
        <p:nvSpPr>
          <p:cNvPr id="3" name="Text 1"/>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600" b="1" dirty="0">
                <a:solidFill>
                  <a:srgbClr val="14213D"/>
                </a:solidFill>
                <a:latin typeface="Cambria" pitchFamily="34" charset="0"/>
                <a:ea typeface="Cambria" pitchFamily="34" charset="-122"/>
                <a:cs typeface="Cambria" pitchFamily="34" charset="-120"/>
              </a:rPr>
              <a:t>Major features</a:t>
            </a:r>
            <a:endParaRPr lang="en-US" sz="2600" dirty="0"/>
          </a:p>
        </p:txBody>
      </p:sp>
      <p:sp>
        <p:nvSpPr>
          <p:cNvPr id="4" name="Text 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6B7A90"/>
                </a:solidFill>
                <a:latin typeface="Calibri" pitchFamily="34" charset="0"/>
                <a:ea typeface="Calibri" pitchFamily="34" charset="-122"/>
                <a:cs typeface="Calibri" pitchFamily="34" charset="-120"/>
              </a:rPr>
              <a:t>RegLens · AI Systems Architecture Review · 12</a:t>
            </a:r>
            <a:endParaRPr lang="en-US" sz="800" dirty="0"/>
          </a:p>
        </p:txBody>
      </p:sp>
      <p:sp>
        <p:nvSpPr>
          <p:cNvPr id="5" name="Shape 3"/>
          <p:cNvSpPr/>
          <p:nvPr/>
        </p:nvSpPr>
        <p:spPr>
          <a:xfrm>
            <a:off x="457200" y="1188720"/>
            <a:ext cx="3977640" cy="1042416"/>
          </a:xfrm>
          <a:prstGeom prst="roundRect">
            <a:avLst>
              <a:gd name="adj" fmla="val 5263"/>
            </a:avLst>
          </a:prstGeom>
          <a:solidFill>
            <a:srgbClr val="F3F6FA"/>
          </a:solidFill>
          <a:ln w="9525">
            <a:solidFill>
              <a:srgbClr val="C9D3E0"/>
            </a:solidFill>
            <a:prstDash val="solid"/>
          </a:ln>
        </p:spPr>
      </p:sp>
      <p:sp>
        <p:nvSpPr>
          <p:cNvPr id="6" name="Text 4"/>
          <p:cNvSpPr txBox="1"/>
          <p:nvPr/>
        </p:nvSpPr>
        <p:spPr>
          <a:xfrm>
            <a:off x="548640" y="1243584"/>
            <a:ext cx="379476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Citation-preserving ingestion</a:t>
            </a:r>
            <a:endParaRPr lang="en-US" sz="1100" dirty="0"/>
          </a:p>
        </p:txBody>
      </p:sp>
      <p:sp>
        <p:nvSpPr>
          <p:cNvPr id="7" name="Text 5"/>
          <p:cNvSpPr txBox="1"/>
          <p:nvPr/>
        </p:nvSpPr>
        <p:spPr>
          <a:xfrm>
            <a:off x="548640" y="1499616"/>
            <a:ext cx="3794760" cy="676656"/>
          </a:xfrm>
          <a:prstGeom prst="rect">
            <a:avLst/>
          </a:prstGeom>
          <a:noFill/>
          <a:ln/>
        </p:spPr>
        <p:txBody>
          <a:bodyPr wrap="square" lIns="0" tIns="0" rIns="0" bIns="0" rtlCol="0" anchor="t"/>
          <a:lstStyle/>
          <a:p>
            <a:pPr indent="0" marL="0">
              <a:buNone/>
            </a:pPr>
            <a:r>
              <a:rPr lang="en-US" sz="900" dirty="0">
                <a:solidFill>
                  <a:srgbClr val="1B2A41"/>
                </a:solidFill>
                <a:latin typeface="Calibri" pitchFamily="34" charset="0"/>
                <a:ea typeface="Calibri" pitchFamily="34" charset="-122"/>
                <a:cs typeface="Calibri" pitchFamily="34" charset="-120"/>
              </a:rPr>
              <a:t>Markdown, text, HTML, optional PDF with page numbers, plus allowlisted FINRA URL ingestion that snapshots raw bytes</a:t>
            </a:r>
            <a:endParaRPr lang="en-US" sz="900" dirty="0"/>
          </a:p>
        </p:txBody>
      </p:sp>
      <p:sp>
        <p:nvSpPr>
          <p:cNvPr id="8" name="Shape 6"/>
          <p:cNvSpPr/>
          <p:nvPr/>
        </p:nvSpPr>
        <p:spPr>
          <a:xfrm>
            <a:off x="4617720" y="1188720"/>
            <a:ext cx="3977640" cy="1042416"/>
          </a:xfrm>
          <a:prstGeom prst="roundRect">
            <a:avLst>
              <a:gd name="adj" fmla="val 5263"/>
            </a:avLst>
          </a:prstGeom>
          <a:solidFill>
            <a:srgbClr val="F3F6FA"/>
          </a:solidFill>
          <a:ln w="9525">
            <a:solidFill>
              <a:srgbClr val="C9D3E0"/>
            </a:solidFill>
            <a:prstDash val="solid"/>
          </a:ln>
        </p:spPr>
      </p:sp>
      <p:sp>
        <p:nvSpPr>
          <p:cNvPr id="9" name="Text 7"/>
          <p:cNvSpPr txBox="1"/>
          <p:nvPr/>
        </p:nvSpPr>
        <p:spPr>
          <a:xfrm>
            <a:off x="4709160" y="1243584"/>
            <a:ext cx="379476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Hybrid retrieval with exposed diagnostics</a:t>
            </a:r>
            <a:endParaRPr lang="en-US" sz="1100" dirty="0"/>
          </a:p>
        </p:txBody>
      </p:sp>
      <p:sp>
        <p:nvSpPr>
          <p:cNvPr id="10" name="Text 8"/>
          <p:cNvSpPr txBox="1"/>
          <p:nvPr/>
        </p:nvSpPr>
        <p:spPr>
          <a:xfrm>
            <a:off x="4709160" y="1499616"/>
            <a:ext cx="3794760" cy="676656"/>
          </a:xfrm>
          <a:prstGeom prst="rect">
            <a:avLst/>
          </a:prstGeom>
          <a:noFill/>
          <a:ln/>
        </p:spPr>
        <p:txBody>
          <a:bodyPr wrap="square" lIns="0" tIns="0" rIns="0" bIns="0" rtlCol="0" anchor="t"/>
          <a:lstStyle/>
          <a:p>
            <a:pPr indent="0" marL="0">
              <a:buNone/>
            </a:pPr>
            <a:r>
              <a:rPr lang="en-US" sz="900" dirty="0">
                <a:solidFill>
                  <a:srgbClr val="1B2A41"/>
                </a:solidFill>
                <a:latin typeface="Calibri" pitchFamily="34" charset="0"/>
                <a:ea typeface="Calibri" pitchFamily="34" charset="-122"/>
                <a:cs typeface="Calibri" pitchFamily="34" charset="-120"/>
              </a:rPr>
              <a:t>BM25 + dense fused by RRF, exact-citation pinning, optional reranking; every response carries dense/keyword/fusion scores</a:t>
            </a:r>
            <a:endParaRPr lang="en-US" sz="900" dirty="0"/>
          </a:p>
        </p:txBody>
      </p:sp>
      <p:sp>
        <p:nvSpPr>
          <p:cNvPr id="11" name="Shape 9"/>
          <p:cNvSpPr/>
          <p:nvPr/>
        </p:nvSpPr>
        <p:spPr>
          <a:xfrm>
            <a:off x="457200" y="2359152"/>
            <a:ext cx="3977640" cy="1042416"/>
          </a:xfrm>
          <a:prstGeom prst="roundRect">
            <a:avLst>
              <a:gd name="adj" fmla="val 5263"/>
            </a:avLst>
          </a:prstGeom>
          <a:solidFill>
            <a:srgbClr val="F3F6FA"/>
          </a:solidFill>
          <a:ln w="9525">
            <a:solidFill>
              <a:srgbClr val="C9D3E0"/>
            </a:solidFill>
            <a:prstDash val="solid"/>
          </a:ln>
        </p:spPr>
      </p:sp>
      <p:sp>
        <p:nvSpPr>
          <p:cNvPr id="12" name="Text 10"/>
          <p:cNvSpPr txBox="1"/>
          <p:nvPr/>
        </p:nvSpPr>
        <p:spPr>
          <a:xfrm>
            <a:off x="548640" y="2414016"/>
            <a:ext cx="379476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Grounded, verified generation</a:t>
            </a:r>
            <a:endParaRPr lang="en-US" sz="1100" dirty="0"/>
          </a:p>
        </p:txBody>
      </p:sp>
      <p:sp>
        <p:nvSpPr>
          <p:cNvPr id="13" name="Text 11"/>
          <p:cNvSpPr txBox="1"/>
          <p:nvPr/>
        </p:nvSpPr>
        <p:spPr>
          <a:xfrm>
            <a:off x="548640" y="2670048"/>
            <a:ext cx="3794760" cy="676656"/>
          </a:xfrm>
          <a:prstGeom prst="rect">
            <a:avLst/>
          </a:prstGeom>
          <a:noFill/>
          <a:ln/>
        </p:spPr>
        <p:txBody>
          <a:bodyPr wrap="square" lIns="0" tIns="0" rIns="0" bIns="0" rtlCol="0" anchor="t"/>
          <a:lstStyle/>
          <a:p>
            <a:pPr indent="0" marL="0">
              <a:buNone/>
            </a:pPr>
            <a:r>
              <a:rPr lang="en-US" sz="900" dirty="0">
                <a:solidFill>
                  <a:srgbClr val="1B2A41"/>
                </a:solidFill>
                <a:latin typeface="Calibri" pitchFamily="34" charset="0"/>
                <a:ea typeface="Calibri" pitchFamily="34" charset="-122"/>
                <a:cs typeface="Calibri" pitchFamily="34" charset="-120"/>
              </a:rPr>
              <a:t>Prompt-local evidence markers; citation and quote verification in code after every generation call</a:t>
            </a:r>
            <a:endParaRPr lang="en-US" sz="900" dirty="0"/>
          </a:p>
        </p:txBody>
      </p:sp>
      <p:sp>
        <p:nvSpPr>
          <p:cNvPr id="14" name="Shape 12"/>
          <p:cNvSpPr/>
          <p:nvPr/>
        </p:nvSpPr>
        <p:spPr>
          <a:xfrm>
            <a:off x="4617720" y="2359152"/>
            <a:ext cx="3977640" cy="1042416"/>
          </a:xfrm>
          <a:prstGeom prst="roundRect">
            <a:avLst>
              <a:gd name="adj" fmla="val 5263"/>
            </a:avLst>
          </a:prstGeom>
          <a:solidFill>
            <a:srgbClr val="F3F6FA"/>
          </a:solidFill>
          <a:ln w="9525">
            <a:solidFill>
              <a:srgbClr val="C9D3E0"/>
            </a:solidFill>
            <a:prstDash val="solid"/>
          </a:ln>
        </p:spPr>
      </p:sp>
      <p:sp>
        <p:nvSpPr>
          <p:cNvPr id="15" name="Text 13"/>
          <p:cNvSpPr txBox="1"/>
          <p:nvPr/>
        </p:nvSpPr>
        <p:spPr>
          <a:xfrm>
            <a:off x="4709160" y="2414016"/>
            <a:ext cx="379476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Weak-evidence abstention and safety warnings</a:t>
            </a:r>
            <a:endParaRPr lang="en-US" sz="1100" dirty="0"/>
          </a:p>
        </p:txBody>
      </p:sp>
      <p:sp>
        <p:nvSpPr>
          <p:cNvPr id="16" name="Text 14"/>
          <p:cNvSpPr txBox="1"/>
          <p:nvPr/>
        </p:nvSpPr>
        <p:spPr>
          <a:xfrm>
            <a:off x="4709160" y="2670048"/>
            <a:ext cx="3794760" cy="676656"/>
          </a:xfrm>
          <a:prstGeom prst="rect">
            <a:avLst/>
          </a:prstGeom>
          <a:noFill/>
          <a:ln/>
        </p:spPr>
        <p:txBody>
          <a:bodyPr wrap="square" lIns="0" tIns="0" rIns="0" bIns="0" rtlCol="0" anchor="t"/>
          <a:lstStyle/>
          <a:p>
            <a:pPr indent="0" marL="0">
              <a:buNone/>
            </a:pPr>
            <a:r>
              <a:rPr lang="en-US" sz="900" dirty="0">
                <a:solidFill>
                  <a:srgbClr val="1B2A41"/>
                </a:solidFill>
                <a:latin typeface="Calibri" pitchFamily="34" charset="0"/>
                <a:ea typeface="Calibri" pitchFamily="34" charset="-122"/>
                <a:cs typeface="Calibri" pitchFamily="34" charset="-120"/>
              </a:rPr>
              <a:t>Refusal when evidence is thin; adversarial source-instruction text is filtered and warned on, never obeyed</a:t>
            </a:r>
            <a:endParaRPr lang="en-US" sz="900" dirty="0"/>
          </a:p>
        </p:txBody>
      </p:sp>
      <p:sp>
        <p:nvSpPr>
          <p:cNvPr id="17" name="Shape 15"/>
          <p:cNvSpPr/>
          <p:nvPr/>
        </p:nvSpPr>
        <p:spPr>
          <a:xfrm>
            <a:off x="457200" y="3529584"/>
            <a:ext cx="3977640" cy="1042416"/>
          </a:xfrm>
          <a:prstGeom prst="roundRect">
            <a:avLst>
              <a:gd name="adj" fmla="val 5263"/>
            </a:avLst>
          </a:prstGeom>
          <a:solidFill>
            <a:srgbClr val="F3F6FA"/>
          </a:solidFill>
          <a:ln w="9525">
            <a:solidFill>
              <a:srgbClr val="C9D3E0"/>
            </a:solidFill>
            <a:prstDash val="solid"/>
          </a:ln>
        </p:spPr>
      </p:sp>
      <p:sp>
        <p:nvSpPr>
          <p:cNvPr id="18" name="Text 16"/>
          <p:cNvSpPr txBox="1"/>
          <p:nvPr/>
        </p:nvSpPr>
        <p:spPr>
          <a:xfrm>
            <a:off x="548640" y="3584448"/>
            <a:ext cx="379476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Hash-chained audit trail</a:t>
            </a:r>
            <a:endParaRPr lang="en-US" sz="1100" dirty="0"/>
          </a:p>
        </p:txBody>
      </p:sp>
      <p:sp>
        <p:nvSpPr>
          <p:cNvPr id="19" name="Text 17"/>
          <p:cNvSpPr txBox="1"/>
          <p:nvPr/>
        </p:nvSpPr>
        <p:spPr>
          <a:xfrm>
            <a:off x="548640" y="3840480"/>
            <a:ext cx="3794760" cy="676656"/>
          </a:xfrm>
          <a:prstGeom prst="rect">
            <a:avLst/>
          </a:prstGeom>
          <a:noFill/>
          <a:ln/>
        </p:spPr>
        <p:txBody>
          <a:bodyPr wrap="square" lIns="0" tIns="0" rIns="0" bIns="0" rtlCol="0" anchor="t"/>
          <a:lstStyle/>
          <a:p>
            <a:pPr indent="0" marL="0">
              <a:buNone/>
            </a:pPr>
            <a:r>
              <a:rPr lang="en-US" sz="900" dirty="0">
                <a:solidFill>
                  <a:srgbClr val="1B2A41"/>
                </a:solidFill>
                <a:latin typeface="Calibri" pitchFamily="34" charset="0"/>
                <a:ea typeface="Calibri" pitchFamily="34" charset="-122"/>
                <a:cs typeface="Calibri" pitchFamily="34" charset="-120"/>
              </a:rPr>
              <a:t>Append-only query audits with evidence digests; JSON/Markdown export; /audit/verify walks the chain</a:t>
            </a:r>
            <a:endParaRPr lang="en-US" sz="900" dirty="0"/>
          </a:p>
        </p:txBody>
      </p:sp>
      <p:sp>
        <p:nvSpPr>
          <p:cNvPr id="20" name="Shape 18"/>
          <p:cNvSpPr/>
          <p:nvPr/>
        </p:nvSpPr>
        <p:spPr>
          <a:xfrm>
            <a:off x="4617720" y="3529584"/>
            <a:ext cx="3977640" cy="1042416"/>
          </a:xfrm>
          <a:prstGeom prst="roundRect">
            <a:avLst>
              <a:gd name="adj" fmla="val 5263"/>
            </a:avLst>
          </a:prstGeom>
          <a:solidFill>
            <a:srgbClr val="F3F6FA"/>
          </a:solidFill>
          <a:ln w="9525">
            <a:solidFill>
              <a:srgbClr val="C9D3E0"/>
            </a:solidFill>
            <a:prstDash val="solid"/>
          </a:ln>
        </p:spPr>
      </p:sp>
      <p:sp>
        <p:nvSpPr>
          <p:cNvPr id="21" name="Text 19"/>
          <p:cNvSpPr txBox="1"/>
          <p:nvPr/>
        </p:nvSpPr>
        <p:spPr>
          <a:xfrm>
            <a:off x="4709160" y="3584448"/>
            <a:ext cx="379476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Durable chat with SSE streaming</a:t>
            </a:r>
            <a:endParaRPr lang="en-US" sz="1100" dirty="0"/>
          </a:p>
        </p:txBody>
      </p:sp>
      <p:sp>
        <p:nvSpPr>
          <p:cNvPr id="22" name="Text 20"/>
          <p:cNvSpPr txBox="1"/>
          <p:nvPr/>
        </p:nvSpPr>
        <p:spPr>
          <a:xfrm>
            <a:off x="4709160" y="3840480"/>
            <a:ext cx="3794760" cy="676656"/>
          </a:xfrm>
          <a:prstGeom prst="rect">
            <a:avLst/>
          </a:prstGeom>
          <a:noFill/>
          <a:ln/>
        </p:spPr>
        <p:txBody>
          <a:bodyPr wrap="square" lIns="0" tIns="0" rIns="0" bIns="0" rtlCol="0" anchor="t"/>
          <a:lstStyle/>
          <a:p>
            <a:pPr indent="0" marL="0">
              <a:buNone/>
            </a:pPr>
            <a:r>
              <a:rPr lang="en-US" sz="900" dirty="0">
                <a:solidFill>
                  <a:srgbClr val="1B2A41"/>
                </a:solidFill>
                <a:latin typeface="Calibri" pitchFamily="34" charset="0"/>
                <a:ea typeface="Calibri" pitchFamily="34" charset="-122"/>
                <a:cs typeface="Calibri" pitchFamily="34" charset="-120"/>
              </a:rPr>
              <a:t>/chat sessions persist in SQLite, link to immutable audits, and export as reviewer-friendly transcripts</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5486400" cy="228600"/>
          </a:xfrm>
          <a:prstGeom prst="rect">
            <a:avLst/>
          </a:prstGeom>
          <a:noFill/>
          <a:ln/>
        </p:spPr>
        <p:txBody>
          <a:bodyPr wrap="square" lIns="0" tIns="0" rIns="0" bIns="0" rtlCol="0" anchor="ctr"/>
          <a:lstStyle/>
          <a:p>
            <a:pPr indent="0" marL="0">
              <a:buNone/>
            </a:pPr>
            <a:r>
              <a:rPr lang="en-US" sz="1000" b="1" spc="200" kern="0" dirty="0">
                <a:solidFill>
                  <a:srgbClr val="2EC4B6"/>
                </a:solidFill>
                <a:latin typeface="Calibri" pitchFamily="34" charset="0"/>
                <a:ea typeface="Calibri" pitchFamily="34" charset="-122"/>
                <a:cs typeface="Calibri" pitchFamily="34" charset="-120"/>
              </a:rPr>
              <a:t>SCREENSHOTS · ANALYST UI, MOCK MODE</a:t>
            </a:r>
            <a:endParaRPr lang="en-US" sz="1000" dirty="0"/>
          </a:p>
        </p:txBody>
      </p:sp>
      <p:sp>
        <p:nvSpPr>
          <p:cNvPr id="3" name="Text 1"/>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600" b="1" dirty="0">
                <a:solidFill>
                  <a:srgbClr val="14213D"/>
                </a:solidFill>
                <a:latin typeface="Cambria" pitchFamily="34" charset="0"/>
                <a:ea typeface="Cambria" pitchFamily="34" charset="-122"/>
                <a:cs typeface="Cambria" pitchFamily="34" charset="-120"/>
              </a:rPr>
              <a:t>A cited answer, verified against retrieved evidence</a:t>
            </a:r>
            <a:endParaRPr lang="en-US" sz="2600" dirty="0"/>
          </a:p>
        </p:txBody>
      </p:sp>
      <p:sp>
        <p:nvSpPr>
          <p:cNvPr id="4" name="Text 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6B7A90"/>
                </a:solidFill>
                <a:latin typeface="Calibri" pitchFamily="34" charset="0"/>
                <a:ea typeface="Calibri" pitchFamily="34" charset="-122"/>
                <a:cs typeface="Calibri" pitchFamily="34" charset="-120"/>
              </a:rPr>
              <a:t>RegLens · AI Systems Architecture Review · 13</a:t>
            </a:r>
            <a:endParaRPr lang="en-US" sz="800" dirty="0"/>
          </a:p>
        </p:txBody>
      </p:sp>
      <p:pic>
        <p:nvPicPr>
          <p:cNvPr id="5" name="Image 0" descr="C:/Code-Central/RegLens/docs/assets/13-cited-answer.png">    </p:cNvPr>
          <p:cNvPicPr>
            <a:picLocks noChangeAspect="1"/>
          </p:cNvPicPr>
          <p:nvPr/>
        </p:nvPicPr>
        <p:blipFill>
          <a:blip r:embed="rId1"/>
          <a:stretch>
            <a:fillRect/>
          </a:stretch>
        </p:blipFill>
        <p:spPr>
          <a:xfrm>
            <a:off x="457366" y="1143000"/>
            <a:ext cx="8229268" cy="324612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"How long must records be retained?" against the bundled synthetic rulebook. FINRA Rule 1030(b) is cited, its quote is verified, and the provenance panel shows the audit hash chain and evidence digest.</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5486400" cy="228600"/>
          </a:xfrm>
          <a:prstGeom prst="rect">
            <a:avLst/>
          </a:prstGeom>
          <a:noFill/>
          <a:ln/>
        </p:spPr>
        <p:txBody>
          <a:bodyPr wrap="square" lIns="0" tIns="0" rIns="0" bIns="0" rtlCol="0" anchor="ctr"/>
          <a:lstStyle/>
          <a:p>
            <a:pPr indent="0" marL="0">
              <a:buNone/>
            </a:pPr>
            <a:r>
              <a:rPr lang="en-US" sz="1000" b="1" spc="200" kern="0" dirty="0">
                <a:solidFill>
                  <a:srgbClr val="2EC4B6"/>
                </a:solidFill>
                <a:latin typeface="Calibri" pitchFamily="34" charset="0"/>
                <a:ea typeface="Calibri" pitchFamily="34" charset="-122"/>
                <a:cs typeface="Calibri" pitchFamily="34" charset="-120"/>
              </a:rPr>
              <a:t>SCREENSHOTS · ANALYST UI, MOCK MODE</a:t>
            </a:r>
            <a:endParaRPr lang="en-US" sz="1000" dirty="0"/>
          </a:p>
        </p:txBody>
      </p:sp>
      <p:sp>
        <p:nvSpPr>
          <p:cNvPr id="3" name="Text 1"/>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600" b="1" dirty="0">
                <a:solidFill>
                  <a:srgbClr val="14213D"/>
                </a:solidFill>
                <a:latin typeface="Cambria" pitchFamily="34" charset="0"/>
                <a:ea typeface="Cambria" pitchFamily="34" charset="-122"/>
                <a:cs typeface="Cambria" pitchFamily="34" charset="-120"/>
              </a:rPr>
              <a:t>Weak evidence produces a refusal, not a guess</a:t>
            </a:r>
            <a:endParaRPr lang="en-US" sz="2600" dirty="0"/>
          </a:p>
        </p:txBody>
      </p:sp>
      <p:sp>
        <p:nvSpPr>
          <p:cNvPr id="4" name="Text 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6B7A90"/>
                </a:solidFill>
                <a:latin typeface="Calibri" pitchFamily="34" charset="0"/>
                <a:ea typeface="Calibri" pitchFamily="34" charset="-122"/>
                <a:cs typeface="Calibri" pitchFamily="34" charset="-120"/>
              </a:rPr>
              <a:t>RegLens · AI Systems Architecture Review · 14</a:t>
            </a:r>
            <a:endParaRPr lang="en-US" sz="800" dirty="0"/>
          </a:p>
        </p:txBody>
      </p:sp>
      <p:pic>
        <p:nvPicPr>
          <p:cNvPr id="5" name="Image 0" descr="C:/Code-Central/RegLens/docs/assets/14-abstention.png">    </p:cNvPr>
          <p:cNvPicPr>
            <a:picLocks noChangeAspect="1"/>
          </p:cNvPicPr>
          <p:nvPr/>
        </p:nvPicPr>
        <p:blipFill>
          <a:blip r:embed="rId1"/>
          <a:stretch>
            <a:fillRect/>
          </a:stretch>
        </p:blipFill>
        <p:spPr>
          <a:xfrm>
            <a:off x="2093205" y="1143000"/>
            <a:ext cx="4957590" cy="2743200"/>
          </a:xfrm>
          <a:prstGeom prst="rect">
            <a:avLst/>
          </a:prstGeom>
        </p:spPr>
      </p:pic>
      <p:sp>
        <p:nvSpPr>
          <p:cNvPr id="6" name="Shape 3"/>
          <p:cNvSpPr/>
          <p:nvPr/>
        </p:nvSpPr>
        <p:spPr>
          <a:xfrm>
            <a:off x="457200" y="4023360"/>
            <a:ext cx="8229600" cy="685800"/>
          </a:xfrm>
          <a:prstGeom prst="roundRect">
            <a:avLst>
              <a:gd name="adj" fmla="val 8000"/>
            </a:avLst>
          </a:prstGeom>
          <a:solidFill>
            <a:srgbClr val="F3F6FA"/>
          </a:solidFill>
          <a:ln w="9525">
            <a:solidFill>
              <a:srgbClr val="C9D3E0"/>
            </a:solidFill>
            <a:prstDash val="solid"/>
          </a:ln>
        </p:spPr>
      </p:sp>
      <p:sp>
        <p:nvSpPr>
          <p:cNvPr id="7" name="Text 4"/>
          <p:cNvSpPr txBox="1"/>
          <p:nvPr/>
        </p:nvSpPr>
        <p:spPr>
          <a:xfrm>
            <a:off x="548640" y="4078224"/>
            <a:ext cx="804672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What you are looking at</a:t>
            </a:r>
            <a:endParaRPr lang="en-US" sz="1100" dirty="0"/>
          </a:p>
        </p:txBody>
      </p:sp>
      <p:sp>
        <p:nvSpPr>
          <p:cNvPr id="8" name="Text 5"/>
          <p:cNvSpPr txBox="1"/>
          <p:nvPr/>
        </p:nvSpPr>
        <p:spPr>
          <a:xfrm>
            <a:off x="548640" y="4334256"/>
            <a:ext cx="8046720" cy="320040"/>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"What is the weather like in Miami this weekend?" retrieves only weakly related evidence; the system abstains with a weak_retrieval warning and zero citations, and the chat history shows both turns side by side.</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5486400" cy="228600"/>
          </a:xfrm>
          <a:prstGeom prst="rect">
            <a:avLst/>
          </a:prstGeom>
          <a:noFill/>
          <a:ln/>
        </p:spPr>
        <p:txBody>
          <a:bodyPr wrap="square" lIns="0" tIns="0" rIns="0" bIns="0" rtlCol="0" anchor="ctr"/>
          <a:lstStyle/>
          <a:p>
            <a:pPr indent="0" marL="0">
              <a:buNone/>
            </a:pPr>
            <a:r>
              <a:rPr lang="en-US" sz="1000" b="1" spc="200" kern="0" dirty="0">
                <a:solidFill>
                  <a:srgbClr val="2EC4B6"/>
                </a:solidFill>
                <a:latin typeface="Calibri" pitchFamily="34" charset="0"/>
                <a:ea typeface="Calibri" pitchFamily="34" charset="-122"/>
                <a:cs typeface="Calibri" pitchFamily="34" charset="-120"/>
              </a:rPr>
              <a:t>SCREENSHOTS · TERMINAL, THIS TASK RUN</a:t>
            </a:r>
            <a:endParaRPr lang="en-US" sz="1000" dirty="0"/>
          </a:p>
        </p:txBody>
      </p:sp>
      <p:sp>
        <p:nvSpPr>
          <p:cNvPr id="3" name="Text 1"/>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600" b="1" dirty="0">
                <a:solidFill>
                  <a:srgbClr val="14213D"/>
                </a:solidFill>
                <a:latin typeface="Cambria" pitchFamily="34" charset="0"/>
                <a:ea typeface="Cambria" pitchFamily="34" charset="-122"/>
                <a:cs typeface="Cambria" pitchFamily="34" charset="-120"/>
              </a:rPr>
              <a:t>The offline gate: tests, eval and the audit chain</a:t>
            </a:r>
            <a:endParaRPr lang="en-US" sz="2600" dirty="0"/>
          </a:p>
        </p:txBody>
      </p:sp>
      <p:sp>
        <p:nvSpPr>
          <p:cNvPr id="4" name="Text 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6B7A90"/>
                </a:solidFill>
                <a:latin typeface="Calibri" pitchFamily="34" charset="0"/>
                <a:ea typeface="Calibri" pitchFamily="34" charset="-122"/>
                <a:cs typeface="Calibri" pitchFamily="34" charset="-120"/>
              </a:rPr>
              <a:t>RegLens · AI Systems Architecture Review · 15</a:t>
            </a:r>
            <a:endParaRPr lang="en-US" sz="800" dirty="0"/>
          </a:p>
        </p:txBody>
      </p:sp>
      <p:pic>
        <p:nvPicPr>
          <p:cNvPr id="5" name="Image 0" descr="C:/Code-Central/RegLens/docs/assets/15-eval-terminal.png">    </p:cNvPr>
          <p:cNvPicPr>
            <a:picLocks noChangeAspect="1"/>
          </p:cNvPicPr>
          <p:nvPr/>
        </p:nvPicPr>
        <p:blipFill>
          <a:blip r:embed="rId1"/>
          <a:stretch>
            <a:fillRect/>
          </a:stretch>
        </p:blipFill>
        <p:spPr>
          <a:xfrm>
            <a:off x="1524000" y="1143000"/>
            <a:ext cx="6096000" cy="3200400"/>
          </a:xfrm>
          <a:prstGeom prst="rect">
            <a:avLst/>
          </a:prstGeom>
        </p:spPr>
      </p:pic>
      <p:sp>
        <p:nvSpPr>
          <p:cNvPr id="6" name="Text 3"/>
          <p:cNvSpPr txBox="1"/>
          <p:nvPr/>
        </p:nvSpPr>
        <p:spPr>
          <a:xfrm>
            <a:off x="457200" y="4434840"/>
            <a:ext cx="8229600" cy="274320"/>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Commands run for this deck: the default pytest marker set (275 passed, 5 deselected), the eval harness (writes metrics/headline.json), and /audit/verify against the running server.</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5486400" cy="228600"/>
          </a:xfrm>
          <a:prstGeom prst="rect">
            <a:avLst/>
          </a:prstGeom>
          <a:noFill/>
          <a:ln/>
        </p:spPr>
        <p:txBody>
          <a:bodyPr wrap="square" lIns="0" tIns="0" rIns="0" bIns="0" rtlCol="0" anchor="ctr"/>
          <a:lstStyle/>
          <a:p>
            <a:pPr indent="0" marL="0">
              <a:buNone/>
            </a:pPr>
            <a:r>
              <a:rPr lang="en-US" sz="1000" b="1" spc="200" kern="0" dirty="0">
                <a:solidFill>
                  <a:srgbClr val="2EC4B6"/>
                </a:solidFill>
                <a:latin typeface="Calibri" pitchFamily="34" charset="0"/>
                <a:ea typeface="Calibri" pitchFamily="34" charset="-122"/>
                <a:cs typeface="Calibri" pitchFamily="34" charset="-120"/>
              </a:rPr>
              <a:t>SCREENSHOTS · FASTAPI /DOCS, MOCK MODE</a:t>
            </a:r>
            <a:endParaRPr lang="en-US" sz="1000" dirty="0"/>
          </a:p>
        </p:txBody>
      </p:sp>
      <p:sp>
        <p:nvSpPr>
          <p:cNvPr id="3" name="Text 1"/>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600" b="1" dirty="0">
                <a:solidFill>
                  <a:srgbClr val="14213D"/>
                </a:solidFill>
                <a:latin typeface="Cambria" pitchFamily="34" charset="0"/>
                <a:ea typeface="Cambria" pitchFamily="34" charset="-122"/>
                <a:cs typeface="Cambria" pitchFamily="34" charset="-120"/>
              </a:rPr>
              <a:t>Every route is a typed, documented contract</a:t>
            </a:r>
            <a:endParaRPr lang="en-US" sz="2600" dirty="0"/>
          </a:p>
        </p:txBody>
      </p:sp>
      <p:sp>
        <p:nvSpPr>
          <p:cNvPr id="4" name="Text 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6B7A90"/>
                </a:solidFill>
                <a:latin typeface="Calibri" pitchFamily="34" charset="0"/>
                <a:ea typeface="Calibri" pitchFamily="34" charset="-122"/>
                <a:cs typeface="Calibri" pitchFamily="34" charset="-120"/>
              </a:rPr>
              <a:t>RegLens · AI Systems Architecture Review · 16</a:t>
            </a:r>
            <a:endParaRPr lang="en-US" sz="800" dirty="0"/>
          </a:p>
        </p:txBody>
      </p:sp>
      <p:pic>
        <p:nvPicPr>
          <p:cNvPr id="5" name="Image 0" descr="C:/Code-Central/RegLens/docs/assets/16-openapi-docs.png">    </p:cNvPr>
          <p:cNvPicPr>
            <a:picLocks noChangeAspect="1"/>
          </p:cNvPicPr>
          <p:nvPr/>
        </p:nvPicPr>
        <p:blipFill>
          <a:blip r:embed="rId1"/>
          <a:stretch>
            <a:fillRect/>
          </a:stretch>
        </p:blipFill>
        <p:spPr>
          <a:xfrm>
            <a:off x="1975104" y="1143000"/>
            <a:ext cx="5193792" cy="324612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Auto-generated OpenAPI 3.1 documentation for the running service on port 8604: health/readiness, chat sessions, retrieval, query and audit routes.</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5486400" cy="228600"/>
          </a:xfrm>
          <a:prstGeom prst="rect">
            <a:avLst/>
          </a:prstGeom>
          <a:noFill/>
          <a:ln/>
        </p:spPr>
        <p:txBody>
          <a:bodyPr wrap="square" lIns="0" tIns="0" rIns="0" bIns="0" rtlCol="0" anchor="ctr"/>
          <a:lstStyle/>
          <a:p>
            <a:pPr indent="0" marL="0">
              <a:buNone/>
            </a:pPr>
            <a:r>
              <a:rPr lang="en-US" sz="1000" b="1" spc="200" kern="0" dirty="0">
                <a:solidFill>
                  <a:srgbClr val="2EC4B6"/>
                </a:solidFill>
                <a:latin typeface="Calibri" pitchFamily="34" charset="0"/>
                <a:ea typeface="Calibri" pitchFamily="34" charset="-122"/>
                <a:cs typeface="Calibri" pitchFamily="34" charset="-120"/>
              </a:rPr>
              <a:t>ENTERPRISE READINESS · CONTROLS</a:t>
            </a:r>
            <a:endParaRPr lang="en-US" sz="1000" dirty="0"/>
          </a:p>
        </p:txBody>
      </p:sp>
      <p:sp>
        <p:nvSpPr>
          <p:cNvPr id="3" name="Text 1"/>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600" b="1" dirty="0">
                <a:solidFill>
                  <a:srgbClr val="14213D"/>
                </a:solidFill>
                <a:latin typeface="Cambria" pitchFamily="34" charset="0"/>
                <a:ea typeface="Cambria" pitchFamily="34" charset="-122"/>
                <a:cs typeface="Cambria" pitchFamily="34" charset="-120"/>
              </a:rPr>
              <a:t>Security and compliance controls</a:t>
            </a:r>
            <a:endParaRPr lang="en-US" sz="2600" dirty="0"/>
          </a:p>
        </p:txBody>
      </p:sp>
      <p:sp>
        <p:nvSpPr>
          <p:cNvPr id="4" name="Text 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6B7A90"/>
                </a:solidFill>
                <a:latin typeface="Calibri" pitchFamily="34" charset="0"/>
                <a:ea typeface="Calibri" pitchFamily="34" charset="-122"/>
                <a:cs typeface="Calibri" pitchFamily="34" charset="-120"/>
              </a:rPr>
              <a:t>RegLens · AI Systems Architecture Review · 17</a:t>
            </a:r>
            <a:endParaRPr lang="en-US" sz="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234440"/>
                <a:gridCol w="2103120"/>
                <a:gridCol w="3246120"/>
                <a:gridCol w="1645920"/>
              </a:tblGrid>
              <a:tr h="0">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Boundary</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Threat</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Control in the code</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Evidence</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14213D"/>
                    </a:solidFill>
                  </a:tcPr>
                </a:tc>
              </a:tr>
              <a:tr h="0">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B1 user question</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prompt injection through the question text</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question length bound; routing and retrieval do not execute instructions found in input</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eval safety cases</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B2 source documents</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instructions embedded inside ingested regulatory text</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instruction clauses are filtered and warned on without dropping the factual clause in the same sentence</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4 adversarial eval cases, warning_recall 100.0%</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B3 API auth and rate limit</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unauthenticated or unbounded access to operational routes</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optional API-key auth (header or bearer) + per-minute rate limiting; health/ready/docs stay exempt</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test_api_key_auth_protects_operational_routes_but_not_health</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B4 remote ingestion</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fetching or redirecting to an untrusted host</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HTTPS-only, FINRA domain allowlist, byte-size cap, final-redirect host validated, snapshot stored locally</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OPERATIONS.md ingest-url contract</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B5 live providers</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a stray key or flag silently enabling a live model</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mock mode rejects live-provider flags outright; a key alone enables nothing</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test_openai_api_key_env_does_not_enable_live_providers_by_itself</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B6 audit integrity</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edited or deleted evidence rows after the fact</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append-only query audits, hash chain plus evidence digest, /audit/verify detects tampering</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GET /audit/verify</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bl>
          </a:graphicData>
        </a:graphic>
      </p:graphicFrame>
      <p:sp>
        <p:nvSpPr>
          <p:cNvPr id="6" name="Text 3"/>
          <p:cNvSpPr txBox="1"/>
          <p:nvPr/>
        </p:nvSpPr>
        <p:spPr>
          <a:xfrm>
            <a:off x="457200" y="4297680"/>
            <a:ext cx="8229600" cy="365760"/>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Residual risks, stated: API-key auth and in-memory rate limiting are local controls, not an identity system; OCR for scanned PDFs is deferred and fails closed rather than guessing.</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5486400" cy="228600"/>
          </a:xfrm>
          <a:prstGeom prst="rect">
            <a:avLst/>
          </a:prstGeom>
          <a:noFill/>
          <a:ln/>
        </p:spPr>
        <p:txBody>
          <a:bodyPr wrap="square" lIns="0" tIns="0" rIns="0" bIns="0" rtlCol="0" anchor="ctr"/>
          <a:lstStyle/>
          <a:p>
            <a:pPr indent="0" marL="0">
              <a:buNone/>
            </a:pPr>
            <a:r>
              <a:rPr lang="en-US" sz="1000" b="1" spc="200" kern="0" dirty="0">
                <a:solidFill>
                  <a:srgbClr val="2EC4B6"/>
                </a:solidFill>
                <a:latin typeface="Calibri" pitchFamily="34" charset="0"/>
                <a:ea typeface="Calibri" pitchFamily="34" charset="-122"/>
                <a:cs typeface="Calibri" pitchFamily="34" charset="-120"/>
              </a:rPr>
              <a:t>ENTERPRISE READINESS · PROCESS</a:t>
            </a:r>
            <a:endParaRPr lang="en-US" sz="1000" dirty="0"/>
          </a:p>
        </p:txBody>
      </p:sp>
      <p:sp>
        <p:nvSpPr>
          <p:cNvPr id="3" name="Text 1"/>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600" b="1" dirty="0">
                <a:solidFill>
                  <a:srgbClr val="14213D"/>
                </a:solidFill>
                <a:latin typeface="Cambria" pitchFamily="34" charset="0"/>
                <a:ea typeface="Cambria" pitchFamily="34" charset="-122"/>
                <a:cs typeface="Cambria" pitchFamily="34" charset="-120"/>
              </a:rPr>
              <a:t>How it was built: 13 waves behind one gate</a:t>
            </a:r>
            <a:endParaRPr lang="en-US" sz="2600" dirty="0"/>
          </a:p>
        </p:txBody>
      </p:sp>
      <p:sp>
        <p:nvSpPr>
          <p:cNvPr id="4" name="Text 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6B7A90"/>
                </a:solidFill>
                <a:latin typeface="Calibri" pitchFamily="34" charset="0"/>
                <a:ea typeface="Calibri" pitchFamily="34" charset="-122"/>
                <a:cs typeface="Calibri" pitchFamily="34" charset="-120"/>
              </a:rPr>
              <a:t>RegLens · AI Systems Architecture Review · 18</a:t>
            </a:r>
            <a:endParaRPr lang="en-US" sz="800" dirty="0"/>
          </a:p>
        </p:txBody>
      </p:sp>
      <p:sp>
        <p:nvSpPr>
          <p:cNvPr id="5" name="Shape 3"/>
          <p:cNvSpPr/>
          <p:nvPr/>
        </p:nvSpPr>
        <p:spPr>
          <a:xfrm>
            <a:off x="457200" y="1234440"/>
            <a:ext cx="594360" cy="566928"/>
          </a:xfrm>
          <a:prstGeom prst="roundRect">
            <a:avLst>
              <a:gd name="adj" fmla="val 8065"/>
            </a:avLst>
          </a:prstGeom>
          <a:solidFill>
            <a:srgbClr val="1C2B4F"/>
          </a:solidFill>
          <a:ln w="12700">
            <a:solidFill>
              <a:srgbClr val="1C2B4F"/>
            </a:solidFill>
            <a:prstDash val="solid"/>
          </a:ln>
        </p:spPr>
      </p:sp>
      <p:sp>
        <p:nvSpPr>
          <p:cNvPr id="6" name="Text 4"/>
          <p:cNvSpPr txBox="1"/>
          <p:nvPr/>
        </p:nvSpPr>
        <p:spPr>
          <a:xfrm>
            <a:off x="475488" y="1252728"/>
            <a:ext cx="557784" cy="530352"/>
          </a:xfrm>
          <a:prstGeom prst="rect">
            <a:avLst/>
          </a:prstGeom>
          <a:noFill/>
          <a:ln/>
        </p:spPr>
        <p:txBody>
          <a:bodyPr wrap="square" lIns="0" tIns="0" rIns="0" bIns="0" rtlCol="0" anchor="ctr"/>
          <a:lstStyle/>
          <a:p>
            <a:pPr algn="ctr" indent="0" marL="0">
              <a:buNone/>
            </a:pPr>
            <a:r>
              <a:rPr lang="en-US" sz="600" b="1" dirty="0">
                <a:solidFill>
                  <a:srgbClr val="FFFFFF"/>
                </a:solidFill>
                <a:latin typeface="Calibri" pitchFamily="34" charset="0"/>
                <a:ea typeface="Calibri" pitchFamily="34" charset="-122"/>
                <a:cs typeface="Calibri" pitchFamily="34" charset="-120"/>
              </a:rPr>
              <a:t>W1 foundation</a:t>
            </a:r>
            <a:endParaRPr lang="en-US" sz="600" dirty="0"/>
          </a:p>
        </p:txBody>
      </p:sp>
      <p:sp>
        <p:nvSpPr>
          <p:cNvPr id="7" name="Shape 5"/>
          <p:cNvSpPr/>
          <p:nvPr/>
        </p:nvSpPr>
        <p:spPr>
          <a:xfrm>
            <a:off x="1106424" y="1234440"/>
            <a:ext cx="594360" cy="566928"/>
          </a:xfrm>
          <a:prstGeom prst="roundRect">
            <a:avLst>
              <a:gd name="adj" fmla="val 8065"/>
            </a:avLst>
          </a:prstGeom>
          <a:solidFill>
            <a:srgbClr val="1C2B4F"/>
          </a:solidFill>
          <a:ln w="12700">
            <a:solidFill>
              <a:srgbClr val="1C2B4F"/>
            </a:solidFill>
            <a:prstDash val="solid"/>
          </a:ln>
        </p:spPr>
      </p:sp>
      <p:sp>
        <p:nvSpPr>
          <p:cNvPr id="8" name="Text 6"/>
          <p:cNvSpPr txBox="1"/>
          <p:nvPr/>
        </p:nvSpPr>
        <p:spPr>
          <a:xfrm>
            <a:off x="1124712" y="1252728"/>
            <a:ext cx="557784" cy="530352"/>
          </a:xfrm>
          <a:prstGeom prst="rect">
            <a:avLst/>
          </a:prstGeom>
          <a:noFill/>
          <a:ln/>
        </p:spPr>
        <p:txBody>
          <a:bodyPr wrap="square" lIns="0" tIns="0" rIns="0" bIns="0" rtlCol="0" anchor="ctr"/>
          <a:lstStyle/>
          <a:p>
            <a:pPr algn="ctr" indent="0" marL="0">
              <a:buNone/>
            </a:pPr>
            <a:r>
              <a:rPr lang="en-US" sz="600" b="1" dirty="0">
                <a:solidFill>
                  <a:srgbClr val="FFFFFF"/>
                </a:solidFill>
                <a:latin typeface="Calibri" pitchFamily="34" charset="0"/>
                <a:ea typeface="Calibri" pitchFamily="34" charset="-122"/>
                <a:cs typeface="Calibri" pitchFamily="34" charset="-120"/>
              </a:rPr>
              <a:t>W2 retrieval loop</a:t>
            </a:r>
            <a:endParaRPr lang="en-US" sz="600" dirty="0"/>
          </a:p>
        </p:txBody>
      </p:sp>
      <p:sp>
        <p:nvSpPr>
          <p:cNvPr id="9" name="Shape 7"/>
          <p:cNvSpPr/>
          <p:nvPr/>
        </p:nvSpPr>
        <p:spPr>
          <a:xfrm>
            <a:off x="1755648" y="1234440"/>
            <a:ext cx="594360" cy="566928"/>
          </a:xfrm>
          <a:prstGeom prst="roundRect">
            <a:avLst>
              <a:gd name="adj" fmla="val 8065"/>
            </a:avLst>
          </a:prstGeom>
          <a:solidFill>
            <a:srgbClr val="1C2B4F"/>
          </a:solidFill>
          <a:ln w="12700">
            <a:solidFill>
              <a:srgbClr val="1C2B4F"/>
            </a:solidFill>
            <a:prstDash val="solid"/>
          </a:ln>
        </p:spPr>
      </p:sp>
      <p:sp>
        <p:nvSpPr>
          <p:cNvPr id="10" name="Text 8"/>
          <p:cNvSpPr txBox="1"/>
          <p:nvPr/>
        </p:nvSpPr>
        <p:spPr>
          <a:xfrm>
            <a:off x="1773936" y="1252728"/>
            <a:ext cx="557784" cy="530352"/>
          </a:xfrm>
          <a:prstGeom prst="rect">
            <a:avLst/>
          </a:prstGeom>
          <a:noFill/>
          <a:ln/>
        </p:spPr>
        <p:txBody>
          <a:bodyPr wrap="square" lIns="0" tIns="0" rIns="0" bIns="0" rtlCol="0" anchor="ctr"/>
          <a:lstStyle/>
          <a:p>
            <a:pPr algn="ctr" indent="0" marL="0">
              <a:buNone/>
            </a:pPr>
            <a:r>
              <a:rPr lang="en-US" sz="600" b="1" dirty="0">
                <a:solidFill>
                  <a:srgbClr val="FFFFFF"/>
                </a:solidFill>
                <a:latin typeface="Calibri" pitchFamily="34" charset="0"/>
                <a:ea typeface="Calibri" pitchFamily="34" charset="-122"/>
                <a:cs typeface="Calibri" pitchFamily="34" charset="-120"/>
              </a:rPr>
              <a:t>W3 audited answers</a:t>
            </a:r>
            <a:endParaRPr lang="en-US" sz="600" dirty="0"/>
          </a:p>
        </p:txBody>
      </p:sp>
      <p:sp>
        <p:nvSpPr>
          <p:cNvPr id="11" name="Shape 9"/>
          <p:cNvSpPr/>
          <p:nvPr/>
        </p:nvSpPr>
        <p:spPr>
          <a:xfrm>
            <a:off x="2404872" y="1234440"/>
            <a:ext cx="594360" cy="566928"/>
          </a:xfrm>
          <a:prstGeom prst="roundRect">
            <a:avLst>
              <a:gd name="adj" fmla="val 8065"/>
            </a:avLst>
          </a:prstGeom>
          <a:solidFill>
            <a:srgbClr val="1C2B4F"/>
          </a:solidFill>
          <a:ln w="12700">
            <a:solidFill>
              <a:srgbClr val="1C2B4F"/>
            </a:solidFill>
            <a:prstDash val="solid"/>
          </a:ln>
        </p:spPr>
      </p:sp>
      <p:sp>
        <p:nvSpPr>
          <p:cNvPr id="12" name="Text 10"/>
          <p:cNvSpPr txBox="1"/>
          <p:nvPr/>
        </p:nvSpPr>
        <p:spPr>
          <a:xfrm>
            <a:off x="2423160" y="1252728"/>
            <a:ext cx="557784" cy="530352"/>
          </a:xfrm>
          <a:prstGeom prst="rect">
            <a:avLst/>
          </a:prstGeom>
          <a:noFill/>
          <a:ln/>
        </p:spPr>
        <p:txBody>
          <a:bodyPr wrap="square" lIns="0" tIns="0" rIns="0" bIns="0" rtlCol="0" anchor="ctr"/>
          <a:lstStyle/>
          <a:p>
            <a:pPr algn="ctr" indent="0" marL="0">
              <a:buNone/>
            </a:pPr>
            <a:r>
              <a:rPr lang="en-US" sz="600" b="1" dirty="0">
                <a:solidFill>
                  <a:srgbClr val="FFFFFF"/>
                </a:solidFill>
                <a:latin typeface="Calibri" pitchFamily="34" charset="0"/>
                <a:ea typeface="Calibri" pitchFamily="34" charset="-122"/>
                <a:cs typeface="Calibri" pitchFamily="34" charset="-120"/>
              </a:rPr>
              <a:t>W4 quality gates</a:t>
            </a:r>
            <a:endParaRPr lang="en-US" sz="600" dirty="0"/>
          </a:p>
        </p:txBody>
      </p:sp>
      <p:sp>
        <p:nvSpPr>
          <p:cNvPr id="13" name="Shape 11"/>
          <p:cNvSpPr/>
          <p:nvPr/>
        </p:nvSpPr>
        <p:spPr>
          <a:xfrm>
            <a:off x="3054096" y="1234440"/>
            <a:ext cx="594360" cy="566928"/>
          </a:xfrm>
          <a:prstGeom prst="roundRect">
            <a:avLst>
              <a:gd name="adj" fmla="val 8065"/>
            </a:avLst>
          </a:prstGeom>
          <a:solidFill>
            <a:srgbClr val="1C2B4F"/>
          </a:solidFill>
          <a:ln w="12700">
            <a:solidFill>
              <a:srgbClr val="1C2B4F"/>
            </a:solidFill>
            <a:prstDash val="solid"/>
          </a:ln>
        </p:spPr>
      </p:sp>
      <p:sp>
        <p:nvSpPr>
          <p:cNvPr id="14" name="Text 12"/>
          <p:cNvSpPr txBox="1"/>
          <p:nvPr/>
        </p:nvSpPr>
        <p:spPr>
          <a:xfrm>
            <a:off x="3072384" y="1252728"/>
            <a:ext cx="557784" cy="530352"/>
          </a:xfrm>
          <a:prstGeom prst="rect">
            <a:avLst/>
          </a:prstGeom>
          <a:noFill/>
          <a:ln/>
        </p:spPr>
        <p:txBody>
          <a:bodyPr wrap="square" lIns="0" tIns="0" rIns="0" bIns="0" rtlCol="0" anchor="ctr"/>
          <a:lstStyle/>
          <a:p>
            <a:pPr algn="ctr" indent="0" marL="0">
              <a:buNone/>
            </a:pPr>
            <a:r>
              <a:rPr lang="en-US" sz="600" b="1" dirty="0">
                <a:solidFill>
                  <a:srgbClr val="FFFFFF"/>
                </a:solidFill>
                <a:latin typeface="Calibri" pitchFamily="34" charset="0"/>
                <a:ea typeface="Calibri" pitchFamily="34" charset="-122"/>
                <a:cs typeface="Calibri" pitchFamily="34" charset="-120"/>
              </a:rPr>
              <a:t>W5 local ingestion</a:t>
            </a:r>
            <a:endParaRPr lang="en-US" sz="600" dirty="0"/>
          </a:p>
        </p:txBody>
      </p:sp>
      <p:sp>
        <p:nvSpPr>
          <p:cNvPr id="15" name="Shape 13"/>
          <p:cNvSpPr/>
          <p:nvPr/>
        </p:nvSpPr>
        <p:spPr>
          <a:xfrm>
            <a:off x="3703320" y="1234440"/>
            <a:ext cx="594360" cy="566928"/>
          </a:xfrm>
          <a:prstGeom prst="roundRect">
            <a:avLst>
              <a:gd name="adj" fmla="val 8065"/>
            </a:avLst>
          </a:prstGeom>
          <a:solidFill>
            <a:srgbClr val="1C2B4F"/>
          </a:solidFill>
          <a:ln w="12700">
            <a:solidFill>
              <a:srgbClr val="1C2B4F"/>
            </a:solidFill>
            <a:prstDash val="solid"/>
          </a:ln>
        </p:spPr>
      </p:sp>
      <p:sp>
        <p:nvSpPr>
          <p:cNvPr id="16" name="Text 14"/>
          <p:cNvSpPr txBox="1"/>
          <p:nvPr/>
        </p:nvSpPr>
        <p:spPr>
          <a:xfrm>
            <a:off x="3721608" y="1252728"/>
            <a:ext cx="557784" cy="530352"/>
          </a:xfrm>
          <a:prstGeom prst="rect">
            <a:avLst/>
          </a:prstGeom>
          <a:noFill/>
          <a:ln/>
        </p:spPr>
        <p:txBody>
          <a:bodyPr wrap="square" lIns="0" tIns="0" rIns="0" bIns="0" rtlCol="0" anchor="ctr"/>
          <a:lstStyle/>
          <a:p>
            <a:pPr algn="ctr" indent="0" marL="0">
              <a:buNone/>
            </a:pPr>
            <a:r>
              <a:rPr lang="en-US" sz="600" b="1" dirty="0">
                <a:solidFill>
                  <a:srgbClr val="FFFFFF"/>
                </a:solidFill>
                <a:latin typeface="Calibri" pitchFamily="34" charset="0"/>
                <a:ea typeface="Calibri" pitchFamily="34" charset="-122"/>
                <a:cs typeface="Calibri" pitchFamily="34" charset="-120"/>
              </a:rPr>
              <a:t>W6 provider scaffold</a:t>
            </a:r>
            <a:endParaRPr lang="en-US" sz="600" dirty="0"/>
          </a:p>
        </p:txBody>
      </p:sp>
      <p:sp>
        <p:nvSpPr>
          <p:cNvPr id="17" name="Shape 15"/>
          <p:cNvSpPr/>
          <p:nvPr/>
        </p:nvSpPr>
        <p:spPr>
          <a:xfrm>
            <a:off x="4352544" y="1234440"/>
            <a:ext cx="594360" cy="566928"/>
          </a:xfrm>
          <a:prstGeom prst="roundRect">
            <a:avLst>
              <a:gd name="adj" fmla="val 8065"/>
            </a:avLst>
          </a:prstGeom>
          <a:solidFill>
            <a:srgbClr val="1C2B4F"/>
          </a:solidFill>
          <a:ln w="12700">
            <a:solidFill>
              <a:srgbClr val="1C2B4F"/>
            </a:solidFill>
            <a:prstDash val="solid"/>
          </a:ln>
        </p:spPr>
      </p:sp>
      <p:sp>
        <p:nvSpPr>
          <p:cNvPr id="18" name="Text 16"/>
          <p:cNvSpPr txBox="1"/>
          <p:nvPr/>
        </p:nvSpPr>
        <p:spPr>
          <a:xfrm>
            <a:off x="4370832" y="1252728"/>
            <a:ext cx="557784" cy="530352"/>
          </a:xfrm>
          <a:prstGeom prst="rect">
            <a:avLst/>
          </a:prstGeom>
          <a:noFill/>
          <a:ln/>
        </p:spPr>
        <p:txBody>
          <a:bodyPr wrap="square" lIns="0" tIns="0" rIns="0" bIns="0" rtlCol="0" anchor="ctr"/>
          <a:lstStyle/>
          <a:p>
            <a:pPr algn="ctr" indent="0" marL="0">
              <a:buNone/>
            </a:pPr>
            <a:r>
              <a:rPr lang="en-US" sz="600" b="1" dirty="0">
                <a:solidFill>
                  <a:srgbClr val="FFFFFF"/>
                </a:solidFill>
                <a:latin typeface="Calibri" pitchFamily="34" charset="0"/>
                <a:ea typeface="Calibri" pitchFamily="34" charset="-122"/>
                <a:cs typeface="Calibri" pitchFamily="34" charset="-120"/>
              </a:rPr>
              <a:t>W7 OpenAI live</a:t>
            </a:r>
            <a:endParaRPr lang="en-US" sz="600" dirty="0"/>
          </a:p>
        </p:txBody>
      </p:sp>
      <p:sp>
        <p:nvSpPr>
          <p:cNvPr id="19" name="Shape 17"/>
          <p:cNvSpPr/>
          <p:nvPr/>
        </p:nvSpPr>
        <p:spPr>
          <a:xfrm>
            <a:off x="5001768" y="1234440"/>
            <a:ext cx="594360" cy="566928"/>
          </a:xfrm>
          <a:prstGeom prst="roundRect">
            <a:avLst>
              <a:gd name="adj" fmla="val 8065"/>
            </a:avLst>
          </a:prstGeom>
          <a:solidFill>
            <a:srgbClr val="1C2B4F"/>
          </a:solidFill>
          <a:ln w="12700">
            <a:solidFill>
              <a:srgbClr val="1C2B4F"/>
            </a:solidFill>
            <a:prstDash val="solid"/>
          </a:ln>
        </p:spPr>
      </p:sp>
      <p:sp>
        <p:nvSpPr>
          <p:cNvPr id="20" name="Text 18"/>
          <p:cNvSpPr txBox="1"/>
          <p:nvPr/>
        </p:nvSpPr>
        <p:spPr>
          <a:xfrm>
            <a:off x="5020056" y="1252728"/>
            <a:ext cx="557784" cy="530352"/>
          </a:xfrm>
          <a:prstGeom prst="rect">
            <a:avLst/>
          </a:prstGeom>
          <a:noFill/>
          <a:ln/>
        </p:spPr>
        <p:txBody>
          <a:bodyPr wrap="square" lIns="0" tIns="0" rIns="0" bIns="0" rtlCol="0" anchor="ctr"/>
          <a:lstStyle/>
          <a:p>
            <a:pPr algn="ctr" indent="0" marL="0">
              <a:buNone/>
            </a:pPr>
            <a:r>
              <a:rPr lang="en-US" sz="600" b="1" dirty="0">
                <a:solidFill>
                  <a:srgbClr val="FFFFFF"/>
                </a:solidFill>
                <a:latin typeface="Calibri" pitchFamily="34" charset="0"/>
                <a:ea typeface="Calibri" pitchFamily="34" charset="-122"/>
                <a:cs typeface="Calibri" pitchFamily="34" charset="-120"/>
              </a:rPr>
              <a:t>W8 cross-encoder</a:t>
            </a:r>
            <a:endParaRPr lang="en-US" sz="600" dirty="0"/>
          </a:p>
        </p:txBody>
      </p:sp>
      <p:sp>
        <p:nvSpPr>
          <p:cNvPr id="21" name="Shape 19"/>
          <p:cNvSpPr/>
          <p:nvPr/>
        </p:nvSpPr>
        <p:spPr>
          <a:xfrm>
            <a:off x="5650992" y="1234440"/>
            <a:ext cx="594360" cy="566928"/>
          </a:xfrm>
          <a:prstGeom prst="roundRect">
            <a:avLst>
              <a:gd name="adj" fmla="val 8065"/>
            </a:avLst>
          </a:prstGeom>
          <a:solidFill>
            <a:srgbClr val="1C2B4F"/>
          </a:solidFill>
          <a:ln w="12700">
            <a:solidFill>
              <a:srgbClr val="1C2B4F"/>
            </a:solidFill>
            <a:prstDash val="solid"/>
          </a:ln>
        </p:spPr>
      </p:sp>
      <p:sp>
        <p:nvSpPr>
          <p:cNvPr id="22" name="Text 20"/>
          <p:cNvSpPr txBox="1"/>
          <p:nvPr/>
        </p:nvSpPr>
        <p:spPr>
          <a:xfrm>
            <a:off x="5669280" y="1252728"/>
            <a:ext cx="557784" cy="530352"/>
          </a:xfrm>
          <a:prstGeom prst="rect">
            <a:avLst/>
          </a:prstGeom>
          <a:noFill/>
          <a:ln/>
        </p:spPr>
        <p:txBody>
          <a:bodyPr wrap="square" lIns="0" tIns="0" rIns="0" bIns="0" rtlCol="0" anchor="ctr"/>
          <a:lstStyle/>
          <a:p>
            <a:pPr algn="ctr" indent="0" marL="0">
              <a:buNone/>
            </a:pPr>
            <a:r>
              <a:rPr lang="en-US" sz="600" b="1" dirty="0">
                <a:solidFill>
                  <a:srgbClr val="FFFFFF"/>
                </a:solidFill>
                <a:latin typeface="Calibri" pitchFamily="34" charset="0"/>
                <a:ea typeface="Calibri" pitchFamily="34" charset="-122"/>
                <a:cs typeface="Calibri" pitchFamily="34" charset="-120"/>
              </a:rPr>
              <a:t>W9 chat API</a:t>
            </a:r>
            <a:endParaRPr lang="en-US" sz="600" dirty="0"/>
          </a:p>
        </p:txBody>
      </p:sp>
      <p:sp>
        <p:nvSpPr>
          <p:cNvPr id="23" name="Shape 21"/>
          <p:cNvSpPr/>
          <p:nvPr/>
        </p:nvSpPr>
        <p:spPr>
          <a:xfrm>
            <a:off x="6300216" y="1234440"/>
            <a:ext cx="594360" cy="566928"/>
          </a:xfrm>
          <a:prstGeom prst="roundRect">
            <a:avLst>
              <a:gd name="adj" fmla="val 8065"/>
            </a:avLst>
          </a:prstGeom>
          <a:solidFill>
            <a:srgbClr val="1E5C57"/>
          </a:solidFill>
          <a:ln w="12700">
            <a:solidFill>
              <a:srgbClr val="1E5C57"/>
            </a:solidFill>
            <a:prstDash val="solid"/>
          </a:ln>
        </p:spPr>
      </p:sp>
      <p:sp>
        <p:nvSpPr>
          <p:cNvPr id="24" name="Text 22"/>
          <p:cNvSpPr txBox="1"/>
          <p:nvPr/>
        </p:nvSpPr>
        <p:spPr>
          <a:xfrm>
            <a:off x="6318504" y="1252728"/>
            <a:ext cx="557784" cy="530352"/>
          </a:xfrm>
          <a:prstGeom prst="rect">
            <a:avLst/>
          </a:prstGeom>
          <a:noFill/>
          <a:ln/>
        </p:spPr>
        <p:txBody>
          <a:bodyPr wrap="square" lIns="0" tIns="0" rIns="0" bIns="0" rtlCol="0" anchor="ctr"/>
          <a:lstStyle/>
          <a:p>
            <a:pPr algn="ctr" indent="0" marL="0">
              <a:buNone/>
            </a:pPr>
            <a:r>
              <a:rPr lang="en-US" sz="600" b="1" dirty="0">
                <a:solidFill>
                  <a:srgbClr val="FFFFFF"/>
                </a:solidFill>
                <a:latin typeface="Calibri" pitchFamily="34" charset="0"/>
                <a:ea typeface="Calibri" pitchFamily="34" charset="-122"/>
                <a:cs typeface="Calibri" pitchFamily="34" charset="-120"/>
              </a:rPr>
              <a:t>W10 chat sessions</a:t>
            </a:r>
            <a:endParaRPr lang="en-US" sz="600" dirty="0"/>
          </a:p>
        </p:txBody>
      </p:sp>
      <p:sp>
        <p:nvSpPr>
          <p:cNvPr id="25" name="Shape 23"/>
          <p:cNvSpPr/>
          <p:nvPr/>
        </p:nvSpPr>
        <p:spPr>
          <a:xfrm>
            <a:off x="6949440" y="1234440"/>
            <a:ext cx="594360" cy="566928"/>
          </a:xfrm>
          <a:prstGeom prst="roundRect">
            <a:avLst>
              <a:gd name="adj" fmla="val 8065"/>
            </a:avLst>
          </a:prstGeom>
          <a:solidFill>
            <a:srgbClr val="1E5C57"/>
          </a:solidFill>
          <a:ln w="12700">
            <a:solidFill>
              <a:srgbClr val="1E5C57"/>
            </a:solidFill>
            <a:prstDash val="solid"/>
          </a:ln>
        </p:spPr>
      </p:sp>
      <p:sp>
        <p:nvSpPr>
          <p:cNvPr id="26" name="Text 24"/>
          <p:cNvSpPr txBox="1"/>
          <p:nvPr/>
        </p:nvSpPr>
        <p:spPr>
          <a:xfrm>
            <a:off x="6967728" y="1252728"/>
            <a:ext cx="557784" cy="530352"/>
          </a:xfrm>
          <a:prstGeom prst="rect">
            <a:avLst/>
          </a:prstGeom>
          <a:noFill/>
          <a:ln/>
        </p:spPr>
        <p:txBody>
          <a:bodyPr wrap="square" lIns="0" tIns="0" rIns="0" bIns="0" rtlCol="0" anchor="ctr"/>
          <a:lstStyle/>
          <a:p>
            <a:pPr algn="ctr" indent="0" marL="0">
              <a:buNone/>
            </a:pPr>
            <a:r>
              <a:rPr lang="en-US" sz="600" b="1" dirty="0">
                <a:solidFill>
                  <a:srgbClr val="FFFFFF"/>
                </a:solidFill>
                <a:latin typeface="Calibri" pitchFamily="34" charset="0"/>
                <a:ea typeface="Calibri" pitchFamily="34" charset="-122"/>
                <a:cs typeface="Calibri" pitchFamily="34" charset="-120"/>
              </a:rPr>
              <a:t>W11 audit↔chat</a:t>
            </a:r>
            <a:endParaRPr lang="en-US" sz="600" dirty="0"/>
          </a:p>
        </p:txBody>
      </p:sp>
      <p:sp>
        <p:nvSpPr>
          <p:cNvPr id="27" name="Shape 25"/>
          <p:cNvSpPr/>
          <p:nvPr/>
        </p:nvSpPr>
        <p:spPr>
          <a:xfrm>
            <a:off x="7598664" y="1234440"/>
            <a:ext cx="594360" cy="566928"/>
          </a:xfrm>
          <a:prstGeom prst="roundRect">
            <a:avLst>
              <a:gd name="adj" fmla="val 8065"/>
            </a:avLst>
          </a:prstGeom>
          <a:solidFill>
            <a:srgbClr val="1E5C57"/>
          </a:solidFill>
          <a:ln w="12700">
            <a:solidFill>
              <a:srgbClr val="1E5C57"/>
            </a:solidFill>
            <a:prstDash val="solid"/>
          </a:ln>
        </p:spPr>
      </p:sp>
      <p:sp>
        <p:nvSpPr>
          <p:cNvPr id="28" name="Text 26"/>
          <p:cNvSpPr txBox="1"/>
          <p:nvPr/>
        </p:nvSpPr>
        <p:spPr>
          <a:xfrm>
            <a:off x="7616952" y="1252728"/>
            <a:ext cx="557784" cy="530352"/>
          </a:xfrm>
          <a:prstGeom prst="rect">
            <a:avLst/>
          </a:prstGeom>
          <a:noFill/>
          <a:ln/>
        </p:spPr>
        <p:txBody>
          <a:bodyPr wrap="square" lIns="0" tIns="0" rIns="0" bIns="0" rtlCol="0" anchor="ctr"/>
          <a:lstStyle/>
          <a:p>
            <a:pPr algn="ctr" indent="0" marL="0">
              <a:buNone/>
            </a:pPr>
            <a:r>
              <a:rPr lang="en-US" sz="600" b="1" dirty="0">
                <a:solidFill>
                  <a:srgbClr val="FFFFFF"/>
                </a:solidFill>
                <a:latin typeface="Calibri" pitchFamily="34" charset="0"/>
                <a:ea typeface="Calibri" pitchFamily="34" charset="-122"/>
                <a:cs typeface="Calibri" pitchFamily="34" charset="-120"/>
              </a:rPr>
              <a:t>W12 transcripts</a:t>
            </a:r>
            <a:endParaRPr lang="en-US" sz="600" dirty="0"/>
          </a:p>
        </p:txBody>
      </p:sp>
      <p:sp>
        <p:nvSpPr>
          <p:cNvPr id="29" name="Shape 27"/>
          <p:cNvSpPr/>
          <p:nvPr/>
        </p:nvSpPr>
        <p:spPr>
          <a:xfrm>
            <a:off x="8247888" y="1234440"/>
            <a:ext cx="594360" cy="566928"/>
          </a:xfrm>
          <a:prstGeom prst="roundRect">
            <a:avLst>
              <a:gd name="adj" fmla="val 8065"/>
            </a:avLst>
          </a:prstGeom>
          <a:solidFill>
            <a:srgbClr val="1E5C57"/>
          </a:solidFill>
          <a:ln w="12700">
            <a:solidFill>
              <a:srgbClr val="1E5C57"/>
            </a:solidFill>
            <a:prstDash val="solid"/>
          </a:ln>
        </p:spPr>
      </p:sp>
      <p:sp>
        <p:nvSpPr>
          <p:cNvPr id="30" name="Text 28"/>
          <p:cNvSpPr txBox="1"/>
          <p:nvPr/>
        </p:nvSpPr>
        <p:spPr>
          <a:xfrm>
            <a:off x="8266176" y="1252728"/>
            <a:ext cx="557784" cy="530352"/>
          </a:xfrm>
          <a:prstGeom prst="rect">
            <a:avLst/>
          </a:prstGeom>
          <a:noFill/>
          <a:ln/>
        </p:spPr>
        <p:txBody>
          <a:bodyPr wrap="square" lIns="0" tIns="0" rIns="0" bIns="0" rtlCol="0" anchor="ctr"/>
          <a:lstStyle/>
          <a:p>
            <a:pPr algn="ctr" indent="0" marL="0">
              <a:buNone/>
            </a:pPr>
            <a:r>
              <a:rPr lang="en-US" sz="600" b="1" dirty="0">
                <a:solidFill>
                  <a:srgbClr val="FFFFFF"/>
                </a:solidFill>
                <a:latin typeface="Calibri" pitchFamily="34" charset="0"/>
                <a:ea typeface="Calibri" pitchFamily="34" charset="-122"/>
                <a:cs typeface="Calibri" pitchFamily="34" charset="-120"/>
              </a:rPr>
              <a:t>W13 hardening</a:t>
            </a:r>
            <a:endParaRPr lang="en-US" sz="600" dirty="0"/>
          </a:p>
        </p:txBody>
      </p:sp>
      <p:sp>
        <p:nvSpPr>
          <p:cNvPr id="31" name="Shape 29"/>
          <p:cNvSpPr/>
          <p:nvPr/>
        </p:nvSpPr>
        <p:spPr>
          <a:xfrm>
            <a:off x="457200" y="2011680"/>
            <a:ext cx="1965960" cy="1143000"/>
          </a:xfrm>
          <a:prstGeom prst="roundRect">
            <a:avLst>
              <a:gd name="adj" fmla="val 4800"/>
            </a:avLst>
          </a:prstGeom>
          <a:solidFill>
            <a:srgbClr val="F3F6FA"/>
          </a:solidFill>
          <a:ln w="9525">
            <a:solidFill>
              <a:srgbClr val="C9D3E0"/>
            </a:solidFill>
            <a:prstDash val="solid"/>
          </a:ln>
        </p:spPr>
      </p:sp>
      <p:sp>
        <p:nvSpPr>
          <p:cNvPr id="32" name="Text 30"/>
          <p:cNvSpPr txBox="1"/>
          <p:nvPr/>
        </p:nvSpPr>
        <p:spPr>
          <a:xfrm>
            <a:off x="566928" y="2057400"/>
            <a:ext cx="1737360" cy="457200"/>
          </a:xfrm>
          <a:prstGeom prst="rect">
            <a:avLst/>
          </a:prstGeom>
          <a:noFill/>
          <a:ln/>
        </p:spPr>
        <p:txBody>
          <a:bodyPr wrap="square" lIns="0" tIns="0" rIns="0" bIns="0" rtlCol="0" anchor="ctr"/>
          <a:lstStyle/>
          <a:p>
            <a:pPr indent="0" marL="0">
              <a:buNone/>
            </a:pPr>
            <a:r>
              <a:rPr lang="en-US" sz="2800" b="1" dirty="0">
                <a:solidFill>
                  <a:srgbClr val="F2B134"/>
                </a:solidFill>
                <a:latin typeface="Cambria" pitchFamily="34" charset="0"/>
                <a:ea typeface="Cambria" pitchFamily="34" charset="-122"/>
                <a:cs typeface="Cambria" pitchFamily="34" charset="-120"/>
              </a:rPr>
              <a:t>275</a:t>
            </a:r>
            <a:endParaRPr lang="en-US" sz="2800" dirty="0"/>
          </a:p>
        </p:txBody>
      </p:sp>
      <p:sp>
        <p:nvSpPr>
          <p:cNvPr id="33" name="Text 31"/>
          <p:cNvSpPr txBox="1"/>
          <p:nvPr/>
        </p:nvSpPr>
        <p:spPr>
          <a:xfrm>
            <a:off x="566928" y="2514600"/>
            <a:ext cx="1737360" cy="594360"/>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deterministic fake-mode tests, plus 5 deselected optional-profile tests</a:t>
            </a:r>
            <a:endParaRPr lang="en-US" sz="850" dirty="0"/>
          </a:p>
        </p:txBody>
      </p:sp>
      <p:sp>
        <p:nvSpPr>
          <p:cNvPr id="34" name="Shape 32"/>
          <p:cNvSpPr/>
          <p:nvPr/>
        </p:nvSpPr>
        <p:spPr>
          <a:xfrm>
            <a:off x="2560320" y="2011680"/>
            <a:ext cx="1965960" cy="1143000"/>
          </a:xfrm>
          <a:prstGeom prst="roundRect">
            <a:avLst>
              <a:gd name="adj" fmla="val 4800"/>
            </a:avLst>
          </a:prstGeom>
          <a:solidFill>
            <a:srgbClr val="F3F6FA"/>
          </a:solidFill>
          <a:ln w="9525">
            <a:solidFill>
              <a:srgbClr val="C9D3E0"/>
            </a:solidFill>
            <a:prstDash val="solid"/>
          </a:ln>
        </p:spPr>
      </p:sp>
      <p:sp>
        <p:nvSpPr>
          <p:cNvPr id="35" name="Text 33"/>
          <p:cNvSpPr txBox="1"/>
          <p:nvPr/>
        </p:nvSpPr>
        <p:spPr>
          <a:xfrm>
            <a:off x="2670048" y="2057400"/>
            <a:ext cx="1737360" cy="457200"/>
          </a:xfrm>
          <a:prstGeom prst="rect">
            <a:avLst/>
          </a:prstGeom>
          <a:noFill/>
          <a:ln/>
        </p:spPr>
        <p:txBody>
          <a:bodyPr wrap="square" lIns="0" tIns="0" rIns="0" bIns="0" rtlCol="0" anchor="ctr"/>
          <a:lstStyle/>
          <a:p>
            <a:pPr indent="0" marL="0">
              <a:buNone/>
            </a:pPr>
            <a:r>
              <a:rPr lang="en-US" sz="2800" b="1" dirty="0">
                <a:solidFill>
                  <a:srgbClr val="F2B134"/>
                </a:solidFill>
                <a:latin typeface="Cambria" pitchFamily="34" charset="0"/>
                <a:ea typeface="Cambria" pitchFamily="34" charset="-122"/>
                <a:cs typeface="Cambria" pitchFamily="34" charset="-120"/>
              </a:rPr>
              <a:t>13</a:t>
            </a:r>
            <a:endParaRPr lang="en-US" sz="2800" dirty="0"/>
          </a:p>
        </p:txBody>
      </p:sp>
      <p:sp>
        <p:nvSpPr>
          <p:cNvPr id="36" name="Text 34"/>
          <p:cNvSpPr txBox="1"/>
          <p:nvPr/>
        </p:nvSpPr>
        <p:spPr>
          <a:xfrm>
            <a:off x="2670048" y="2514600"/>
            <a:ext cx="1737360" cy="594360"/>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build waves, each shipped behind the same offline gate</a:t>
            </a:r>
            <a:endParaRPr lang="en-US" sz="850" dirty="0"/>
          </a:p>
        </p:txBody>
      </p:sp>
      <p:sp>
        <p:nvSpPr>
          <p:cNvPr id="37" name="Shape 35"/>
          <p:cNvSpPr/>
          <p:nvPr/>
        </p:nvSpPr>
        <p:spPr>
          <a:xfrm>
            <a:off x="4663440" y="2011680"/>
            <a:ext cx="1965960" cy="1143000"/>
          </a:xfrm>
          <a:prstGeom prst="roundRect">
            <a:avLst>
              <a:gd name="adj" fmla="val 4800"/>
            </a:avLst>
          </a:prstGeom>
          <a:solidFill>
            <a:srgbClr val="F3F6FA"/>
          </a:solidFill>
          <a:ln w="9525">
            <a:solidFill>
              <a:srgbClr val="C9D3E0"/>
            </a:solidFill>
            <a:prstDash val="solid"/>
          </a:ln>
        </p:spPr>
      </p:sp>
      <p:sp>
        <p:nvSpPr>
          <p:cNvPr id="38" name="Text 36"/>
          <p:cNvSpPr txBox="1"/>
          <p:nvPr/>
        </p:nvSpPr>
        <p:spPr>
          <a:xfrm>
            <a:off x="4773168" y="2057400"/>
            <a:ext cx="1737360" cy="457200"/>
          </a:xfrm>
          <a:prstGeom prst="rect">
            <a:avLst/>
          </a:prstGeom>
          <a:noFill/>
          <a:ln/>
        </p:spPr>
        <p:txBody>
          <a:bodyPr wrap="square" lIns="0" tIns="0" rIns="0" bIns="0" rtlCol="0" anchor="ctr"/>
          <a:lstStyle/>
          <a:p>
            <a:pPr indent="0" marL="0">
              <a:buNone/>
            </a:pPr>
            <a:r>
              <a:rPr lang="en-US" sz="2800" b="1" dirty="0">
                <a:solidFill>
                  <a:srgbClr val="F2B134"/>
                </a:solidFill>
                <a:latin typeface="Cambria" pitchFamily="34" charset="0"/>
                <a:ea typeface="Cambria" pitchFamily="34" charset="-122"/>
                <a:cs typeface="Cambria" pitchFamily="34" charset="-120"/>
              </a:rPr>
              <a:t>21</a:t>
            </a:r>
            <a:endParaRPr lang="en-US" sz="2800" dirty="0"/>
          </a:p>
        </p:txBody>
      </p:sp>
      <p:sp>
        <p:nvSpPr>
          <p:cNvPr id="39" name="Text 37"/>
          <p:cNvSpPr txBox="1"/>
          <p:nvPr/>
        </p:nvSpPr>
        <p:spPr>
          <a:xfrm>
            <a:off x="4773168" y="2514600"/>
            <a:ext cx="1737360" cy="594360"/>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eval fixture cases, including 4 adversarial source-instruction safety cases</a:t>
            </a:r>
            <a:endParaRPr lang="en-US" sz="850" dirty="0"/>
          </a:p>
        </p:txBody>
      </p:sp>
      <p:sp>
        <p:nvSpPr>
          <p:cNvPr id="40" name="Shape 38"/>
          <p:cNvSpPr/>
          <p:nvPr/>
        </p:nvSpPr>
        <p:spPr>
          <a:xfrm>
            <a:off x="6766560" y="2011680"/>
            <a:ext cx="1965960" cy="1143000"/>
          </a:xfrm>
          <a:prstGeom prst="roundRect">
            <a:avLst>
              <a:gd name="adj" fmla="val 4800"/>
            </a:avLst>
          </a:prstGeom>
          <a:solidFill>
            <a:srgbClr val="F3F6FA"/>
          </a:solidFill>
          <a:ln w="9525">
            <a:solidFill>
              <a:srgbClr val="C9D3E0"/>
            </a:solidFill>
            <a:prstDash val="solid"/>
          </a:ln>
        </p:spPr>
      </p:sp>
      <p:sp>
        <p:nvSpPr>
          <p:cNvPr id="41" name="Text 39"/>
          <p:cNvSpPr txBox="1"/>
          <p:nvPr/>
        </p:nvSpPr>
        <p:spPr>
          <a:xfrm>
            <a:off x="6876288" y="2057400"/>
            <a:ext cx="1737360" cy="457200"/>
          </a:xfrm>
          <a:prstGeom prst="rect">
            <a:avLst/>
          </a:prstGeom>
          <a:noFill/>
          <a:ln/>
        </p:spPr>
        <p:txBody>
          <a:bodyPr wrap="square" lIns="0" tIns="0" rIns="0" bIns="0" rtlCol="0" anchor="ctr"/>
          <a:lstStyle/>
          <a:p>
            <a:pPr indent="0" marL="0">
              <a:buNone/>
            </a:pPr>
            <a:r>
              <a:rPr lang="en-US" sz="2800" b="1" dirty="0">
                <a:solidFill>
                  <a:srgbClr val="F2B134"/>
                </a:solidFill>
                <a:latin typeface="Cambria" pitchFamily="34" charset="0"/>
                <a:ea typeface="Cambria" pitchFamily="34" charset="-122"/>
                <a:cs typeface="Cambria" pitchFamily="34" charset="-120"/>
              </a:rPr>
              <a:t>2</a:t>
            </a:r>
            <a:endParaRPr lang="en-US" sz="2800" dirty="0"/>
          </a:p>
        </p:txBody>
      </p:sp>
      <p:sp>
        <p:nvSpPr>
          <p:cNvPr id="42" name="Text 40"/>
          <p:cNvSpPr txBox="1"/>
          <p:nvPr/>
        </p:nvSpPr>
        <p:spPr>
          <a:xfrm>
            <a:off x="6876288" y="2514600"/>
            <a:ext cx="1737360" cy="594360"/>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CI jobs on every push: default-verify (lint, mypy, tests, eval, card-drift) and container-verify</a:t>
            </a:r>
            <a:endParaRPr lang="en-US" sz="850" dirty="0"/>
          </a:p>
        </p:txBody>
      </p:sp>
      <p:sp>
        <p:nvSpPr>
          <p:cNvPr id="43" name="Shape 41"/>
          <p:cNvSpPr/>
          <p:nvPr/>
        </p:nvSpPr>
        <p:spPr>
          <a:xfrm>
            <a:off x="457200" y="3337560"/>
            <a:ext cx="4023360" cy="1143000"/>
          </a:xfrm>
          <a:prstGeom prst="roundRect">
            <a:avLst>
              <a:gd name="adj" fmla="val 4800"/>
            </a:avLst>
          </a:prstGeom>
          <a:solidFill>
            <a:srgbClr val="F3F6FA"/>
          </a:solidFill>
          <a:ln w="9525">
            <a:solidFill>
              <a:srgbClr val="C9D3E0"/>
            </a:solidFill>
            <a:prstDash val="solid"/>
          </a:ln>
        </p:spPr>
      </p:sp>
      <p:sp>
        <p:nvSpPr>
          <p:cNvPr id="44" name="Text 42"/>
          <p:cNvSpPr txBox="1"/>
          <p:nvPr/>
        </p:nvSpPr>
        <p:spPr>
          <a:xfrm>
            <a:off x="548640" y="3392424"/>
            <a:ext cx="384048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One command validates everything</a:t>
            </a:r>
            <a:endParaRPr lang="en-US" sz="1100" dirty="0"/>
          </a:p>
        </p:txBody>
      </p:sp>
      <p:sp>
        <p:nvSpPr>
          <p:cNvPr id="45" name="Text 43"/>
          <p:cNvSpPr txBox="1"/>
          <p:nvPr/>
        </p:nvSpPr>
        <p:spPr>
          <a:xfrm>
            <a:off x="548640" y="3648456"/>
            <a:ext cx="3840480" cy="777240"/>
          </a:xfrm>
          <a:prstGeom prst="rect">
            <a:avLst/>
          </a:prstGeom>
          <a:noFill/>
          <a:ln/>
        </p:spPr>
        <p:txBody>
          <a:bodyPr wrap="square" lIns="0" tIns="0" rIns="0" bIns="0" rtlCol="0" anchor="t"/>
          <a:lstStyle/>
          <a:p>
            <a:pPr indent="0" marL="0">
              <a:buNone/>
            </a:pPr>
            <a:r>
              <a:rPr lang="en-US" sz="900" dirty="0">
                <a:solidFill>
                  <a:srgbClr val="1B2A41"/>
                </a:solidFill>
                <a:latin typeface="Calibri" pitchFamily="34" charset="0"/>
                <a:ea typeface="Calibri" pitchFamily="34" charset="-122"/>
                <a:cs typeface="Calibri" pitchFamily="34" charset="-120"/>
              </a:rPr>
              <a:t>`make verify` = ruff lint + mypy strict + the default pytest marker set + the eval harness. CI runs the same profile via `python -m scripts.verify default`, plus a README results-card drift check.</a:t>
            </a:r>
            <a:endParaRPr lang="en-US" sz="900" dirty="0"/>
          </a:p>
        </p:txBody>
      </p:sp>
      <p:sp>
        <p:nvSpPr>
          <p:cNvPr id="46" name="Shape 44"/>
          <p:cNvSpPr/>
          <p:nvPr/>
        </p:nvSpPr>
        <p:spPr>
          <a:xfrm>
            <a:off x="4663440" y="3337560"/>
            <a:ext cx="4023360" cy="1143000"/>
          </a:xfrm>
          <a:prstGeom prst="roundRect">
            <a:avLst>
              <a:gd name="adj" fmla="val 4800"/>
            </a:avLst>
          </a:prstGeom>
          <a:solidFill>
            <a:srgbClr val="F3F6FA"/>
          </a:solidFill>
          <a:ln w="9525">
            <a:solidFill>
              <a:srgbClr val="C9D3E0"/>
            </a:solidFill>
            <a:prstDash val="solid"/>
          </a:ln>
        </p:spPr>
      </p:sp>
      <p:sp>
        <p:nvSpPr>
          <p:cNvPr id="47" name="Text 45"/>
          <p:cNvSpPr txBox="1"/>
          <p:nvPr/>
        </p:nvSpPr>
        <p:spPr>
          <a:xfrm>
            <a:off x="4754880" y="3392424"/>
            <a:ext cx="384048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Deterministic-first, live optional</a:t>
            </a:r>
            <a:endParaRPr lang="en-US" sz="1100" dirty="0"/>
          </a:p>
        </p:txBody>
      </p:sp>
      <p:sp>
        <p:nvSpPr>
          <p:cNvPr id="48" name="Text 46"/>
          <p:cNvSpPr txBox="1"/>
          <p:nvPr/>
        </p:nvSpPr>
        <p:spPr>
          <a:xfrm>
            <a:off x="4754880" y="3648456"/>
            <a:ext cx="3840480" cy="777240"/>
          </a:xfrm>
          <a:prstGeom prst="rect">
            <a:avLst/>
          </a:prstGeom>
          <a:noFill/>
          <a:ln/>
        </p:spPr>
        <p:txBody>
          <a:bodyPr wrap="square" lIns="0" tIns="0" rIns="0" bIns="0" rtlCol="0" anchor="t"/>
          <a:lstStyle/>
          <a:p>
            <a:pPr indent="0" marL="0">
              <a:buNone/>
            </a:pPr>
            <a:r>
              <a:rPr lang="en-US" sz="900" dirty="0">
                <a:solidFill>
                  <a:srgbClr val="1B2A41"/>
                </a:solidFill>
                <a:latin typeface="Calibri" pitchFamily="34" charset="0"/>
                <a:ea typeface="Calibri" pitchFamily="34" charset="-122"/>
                <a:cs typeface="Calibri" pitchFamily="34" charset="-120"/>
              </a:rPr>
              <a:t>Fake embeddings, generation and reranker are real implementations satisfying the same interface as live providers, so the whole gate — UI included — never needs a key, a vector DB, or a model download.</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5486400" cy="228600"/>
          </a:xfrm>
          <a:prstGeom prst="rect">
            <a:avLst/>
          </a:prstGeom>
          <a:noFill/>
          <a:ln/>
        </p:spPr>
        <p:txBody>
          <a:bodyPr wrap="square" lIns="0" tIns="0" rIns="0" bIns="0" rtlCol="0" anchor="ctr"/>
          <a:lstStyle/>
          <a:p>
            <a:pPr indent="0" marL="0">
              <a:buNone/>
            </a:pPr>
            <a:r>
              <a:rPr lang="en-US" sz="1000" b="1" spc="200" kern="0" dirty="0">
                <a:solidFill>
                  <a:srgbClr val="2EC4B6"/>
                </a:solidFill>
                <a:latin typeface="Calibri" pitchFamily="34" charset="0"/>
                <a:ea typeface="Calibri" pitchFamily="34" charset="-122"/>
                <a:cs typeface="Calibri" pitchFamily="34" charset="-120"/>
              </a:rPr>
              <a:t>ENTERPRISE READINESS · MEASUREMENT</a:t>
            </a:r>
            <a:endParaRPr lang="en-US" sz="1000" dirty="0"/>
          </a:p>
        </p:txBody>
      </p:sp>
      <p:sp>
        <p:nvSpPr>
          <p:cNvPr id="3" name="Text 1"/>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600" b="1" dirty="0">
                <a:solidFill>
                  <a:srgbClr val="14213D"/>
                </a:solidFill>
                <a:latin typeface="Cambria" pitchFamily="34" charset="0"/>
                <a:ea typeface="Cambria" pitchFamily="34" charset="-122"/>
                <a:cs typeface="Cambria" pitchFamily="34" charset="-120"/>
              </a:rPr>
              <a:t>Quality metrics from the gate</a:t>
            </a:r>
            <a:endParaRPr lang="en-US" sz="2600" dirty="0"/>
          </a:p>
        </p:txBody>
      </p:sp>
      <p:sp>
        <p:nvSpPr>
          <p:cNvPr id="4" name="Text 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6B7A90"/>
                </a:solidFill>
                <a:latin typeface="Calibri" pitchFamily="34" charset="0"/>
                <a:ea typeface="Calibri" pitchFamily="34" charset="-122"/>
                <a:cs typeface="Calibri" pitchFamily="34" charset="-120"/>
              </a:rPr>
              <a:t>RegLens · AI Systems Architecture Review · 19</a:t>
            </a:r>
            <a:endParaRPr lang="en-US" sz="800" dirty="0"/>
          </a:p>
        </p:txBody>
      </p:sp>
      <p:graphicFrame>
        <p:nvGraphicFramePr>
          <p:cNvPr id="5" name="Chart 0" descr=""/>
          <p:cNvGraphicFramePr/>
          <p:nvPr/>
        </p:nvGraphicFramePr>
        <p:xfrm>
          <a:off x="457200" y="1188720"/>
          <a:ext cx="475488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394960" y="1188720"/>
          <a:ext cx="3291840" cy="914400"/>
        </p:xfrm>
        <a:graphic>
          <a:graphicData uri="http://schemas.openxmlformats.org/drawingml/2006/table">
            <a:tbl>
              <a:tblPr/>
              <a:tblGrid>
                <a:gridCol w="1325880"/>
                <a:gridCol w="1051560"/>
                <a:gridCol w="914400"/>
              </a:tblGrid>
              <a:tr h="0">
                <a:tc>
                  <a:txBody>
                    <a:bodyPr/>
                    <a:lstStyle/>
                    <a:p>
                      <a:pPr indent="0" marL="0">
                        <a:buNone/>
                      </a:pPr>
                      <a:r>
                        <a:rPr lang="en-US" sz="750" b="1" dirty="0">
                          <a:solidFill>
                            <a:srgbClr val="FFFFFF"/>
                          </a:solidFill>
                          <a:latin typeface="Calibri" pitchFamily="34" charset="0"/>
                          <a:ea typeface="Calibri" pitchFamily="34" charset="-122"/>
                          <a:cs typeface="Calibri" pitchFamily="34" charset="-120"/>
                        </a:rPr>
                        <a:t>KPI</a:t>
                      </a:r>
                      <a:endParaRPr lang="en-US" sz="7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750" b="1" dirty="0">
                          <a:solidFill>
                            <a:srgbClr val="FFFFFF"/>
                          </a:solidFill>
                          <a:latin typeface="Calibri" pitchFamily="34" charset="0"/>
                          <a:ea typeface="Calibri" pitchFamily="34" charset="-122"/>
                          <a:cs typeface="Calibri" pitchFamily="34" charset="-120"/>
                        </a:rPr>
                        <a:t>Value</a:t>
                      </a:r>
                      <a:endParaRPr lang="en-US" sz="7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750" b="1" dirty="0">
                          <a:solidFill>
                            <a:srgbClr val="FFFFFF"/>
                          </a:solidFill>
                          <a:latin typeface="Calibri" pitchFamily="34" charset="0"/>
                          <a:ea typeface="Calibri" pitchFamily="34" charset="-122"/>
                          <a:cs typeface="Calibri" pitchFamily="34" charset="-120"/>
                        </a:rPr>
                        <a:t>How measured</a:t>
                      </a:r>
                      <a:endParaRPr lang="en-US" sz="7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14213D"/>
                    </a:solidFill>
                  </a:tcPr>
                </a:tc>
              </a:tr>
              <a:tr h="0">
                <a:tc>
                  <a:txBody>
                    <a:bodyPr/>
                    <a:lstStyle/>
                    <a:p>
                      <a:pPr indent="0" marL="0">
                        <a:buNone/>
                      </a:pPr>
                      <a:r>
                        <a:rPr lang="en-US" sz="750" dirty="0">
                          <a:solidFill>
                            <a:srgbClr val="1B2A41"/>
                          </a:solidFill>
                          <a:latin typeface="Calibri" pitchFamily="34" charset="0"/>
                          <a:ea typeface="Calibri" pitchFamily="34" charset="-122"/>
                          <a:cs typeface="Calibri" pitchFamily="34" charset="-120"/>
                        </a:rPr>
                        <a:t>Tests</a:t>
                      </a:r>
                      <a:endParaRPr lang="en-US" sz="7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750" dirty="0">
                          <a:solidFill>
                            <a:srgbClr val="1B2A41"/>
                          </a:solidFill>
                          <a:latin typeface="Calibri" pitchFamily="34" charset="0"/>
                          <a:ea typeface="Calibri" pitchFamily="34" charset="-122"/>
                          <a:cs typeface="Calibri" pitchFamily="34" charset="-120"/>
                        </a:rPr>
                        <a:t>275 passed, 5 deselected</a:t>
                      </a:r>
                      <a:endParaRPr lang="en-US" sz="7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750" dirty="0">
                          <a:solidFill>
                            <a:srgbClr val="1B2A41"/>
                          </a:solidFill>
                          <a:latin typeface="Calibri" pitchFamily="34" charset="0"/>
                          <a:ea typeface="Calibri" pitchFamily="34" charset="-122"/>
                          <a:cs typeface="Calibri" pitchFamily="34" charset="-120"/>
                        </a:rPr>
                        <a:t>pytest, this run</a:t>
                      </a:r>
                      <a:endParaRPr lang="en-US" sz="7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750" dirty="0">
                          <a:solidFill>
                            <a:srgbClr val="1B2A41"/>
                          </a:solidFill>
                          <a:latin typeface="Calibri" pitchFamily="34" charset="0"/>
                          <a:ea typeface="Calibri" pitchFamily="34" charset="-122"/>
                          <a:cs typeface="Calibri" pitchFamily="34" charset="-120"/>
                        </a:rPr>
                        <a:t>Abstention rate</a:t>
                      </a:r>
                      <a:endParaRPr lang="en-US" sz="7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750" dirty="0">
                          <a:solidFill>
                            <a:srgbClr val="1B2A41"/>
                          </a:solidFill>
                          <a:latin typeface="Calibri" pitchFamily="34" charset="0"/>
                          <a:ea typeface="Calibri" pitchFamily="34" charset="-122"/>
                          <a:cs typeface="Calibri" pitchFamily="34" charset="-120"/>
                        </a:rPr>
                        <a:t>14.3% (3/21), 0 false abstentions</a:t>
                      </a:r>
                      <a:endParaRPr lang="en-US" sz="7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750" dirty="0">
                          <a:solidFill>
                            <a:srgbClr val="1B2A41"/>
                          </a:solidFill>
                          <a:latin typeface="Calibri" pitchFamily="34" charset="0"/>
                          <a:ea typeface="Calibri" pitchFamily="34" charset="-122"/>
                          <a:cs typeface="Calibri" pitchFamily="34" charset="-120"/>
                        </a:rPr>
                        <a:t>make eval</a:t>
                      </a:r>
                      <a:endParaRPr lang="en-US" sz="7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750" dirty="0">
                          <a:solidFill>
                            <a:srgbClr val="1B2A41"/>
                          </a:solidFill>
                          <a:latin typeface="Calibri" pitchFamily="34" charset="0"/>
                          <a:ea typeface="Calibri" pitchFamily="34" charset="-122"/>
                          <a:cs typeface="Calibri" pitchFamily="34" charset="-120"/>
                        </a:rPr>
                        <a:t>Citation faithfulness</a:t>
                      </a:r>
                      <a:endParaRPr lang="en-US" sz="7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750" dirty="0">
                          <a:solidFill>
                            <a:srgbClr val="1B2A41"/>
                          </a:solidFill>
                          <a:latin typeface="Calibri" pitchFamily="34" charset="0"/>
                          <a:ea typeface="Calibri" pitchFamily="34" charset="-122"/>
                          <a:cs typeface="Calibri" pitchFamily="34" charset="-120"/>
                        </a:rPr>
                        <a:t>100.0% (21/21)</a:t>
                      </a:r>
                      <a:endParaRPr lang="en-US" sz="7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750" dirty="0">
                          <a:solidFill>
                            <a:srgbClr val="1B2A41"/>
                          </a:solidFill>
                          <a:latin typeface="Calibri" pitchFamily="34" charset="0"/>
                          <a:ea typeface="Calibri" pitchFamily="34" charset="-122"/>
                          <a:cs typeface="Calibri" pitchFamily="34" charset="-120"/>
                        </a:rPr>
                        <a:t>make eval</a:t>
                      </a:r>
                      <a:endParaRPr lang="en-US" sz="7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750" dirty="0">
                          <a:solidFill>
                            <a:srgbClr val="1B2A41"/>
                          </a:solidFill>
                          <a:latin typeface="Calibri" pitchFamily="34" charset="0"/>
                          <a:ea typeface="Calibri" pitchFamily="34" charset="-122"/>
                          <a:cs typeface="Calibri" pitchFamily="34" charset="-120"/>
                        </a:rPr>
                        <a:t>Recall@5 reranker ON vs OFF</a:t>
                      </a:r>
                      <a:endParaRPr lang="en-US" sz="7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750" dirty="0">
                          <a:solidFill>
                            <a:srgbClr val="1B2A41"/>
                          </a:solidFill>
                          <a:latin typeface="Calibri" pitchFamily="34" charset="0"/>
                          <a:ea typeface="Calibri" pitchFamily="34" charset="-122"/>
                          <a:cs typeface="Calibri" pitchFamily="34" charset="-120"/>
                        </a:rPr>
                        <a:t>100.0% vs 94.4% (n=18)</a:t>
                      </a:r>
                      <a:endParaRPr lang="en-US" sz="7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750" dirty="0">
                          <a:solidFill>
                            <a:srgbClr val="1B2A41"/>
                          </a:solidFill>
                          <a:latin typeface="Calibri" pitchFamily="34" charset="0"/>
                          <a:ea typeface="Calibri" pitchFamily="34" charset="-122"/>
                          <a:cs typeface="Calibri" pitchFamily="34" charset="-120"/>
                        </a:rPr>
                        <a:t>headline.json</a:t>
                      </a:r>
                      <a:endParaRPr lang="en-US" sz="7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750" dirty="0">
                          <a:solidFill>
                            <a:srgbClr val="1B2A41"/>
                          </a:solidFill>
                          <a:latin typeface="Calibri" pitchFamily="34" charset="0"/>
                          <a:ea typeface="Calibri" pitchFamily="34" charset="-122"/>
                          <a:cs typeface="Calibri" pitchFamily="34" charset="-120"/>
                        </a:rPr>
                        <a:t>Cost / query (fake-run model)</a:t>
                      </a:r>
                      <a:endParaRPr lang="en-US" sz="7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750" dirty="0">
                          <a:solidFill>
                            <a:srgbClr val="1B2A41"/>
                          </a:solidFill>
                          <a:latin typeface="Calibri" pitchFamily="34" charset="0"/>
                          <a:ea typeface="Calibri" pitchFamily="34" charset="-122"/>
                          <a:cs typeface="Calibri" pitchFamily="34" charset="-120"/>
                        </a:rPr>
                        <a:t>$0.000202</a:t>
                      </a:r>
                      <a:endParaRPr lang="en-US" sz="7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750" dirty="0">
                          <a:solidFill>
                            <a:srgbClr val="1B2A41"/>
                          </a:solidFill>
                          <a:latin typeface="Calibri" pitchFamily="34" charset="0"/>
                          <a:ea typeface="Calibri" pitchFamily="34" charset="-122"/>
                          <a:cs typeface="Calibri" pitchFamily="34" charset="-120"/>
                        </a:rPr>
                        <a:t>costing model</a:t>
                      </a:r>
                      <a:endParaRPr lang="en-US" sz="7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750" dirty="0">
                          <a:solidFill>
                            <a:srgbClr val="1B2A41"/>
                          </a:solidFill>
                          <a:latin typeface="Calibri" pitchFamily="34" charset="0"/>
                          <a:ea typeface="Calibri" pitchFamily="34" charset="-122"/>
                          <a:cs typeface="Calibri" pitchFamily="34" charset="-120"/>
                        </a:rPr>
                        <a:t>Avg eval latency</a:t>
                      </a:r>
                      <a:endParaRPr lang="en-US" sz="7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750" dirty="0">
                          <a:solidFill>
                            <a:srgbClr val="1B2A41"/>
                          </a:solidFill>
                          <a:latin typeface="Calibri" pitchFamily="34" charset="0"/>
                          <a:ea typeface="Calibri" pitchFamily="34" charset="-122"/>
                          <a:cs typeface="Calibri" pitchFamily="34" charset="-120"/>
                        </a:rPr>
                        <a:t>5.8 ms (in-process, fake providers)</a:t>
                      </a:r>
                      <a:endParaRPr lang="en-US" sz="7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750" dirty="0">
                          <a:solidFill>
                            <a:srgbClr val="1B2A41"/>
                          </a:solidFill>
                          <a:latin typeface="Calibri" pitchFamily="34" charset="0"/>
                          <a:ea typeface="Calibri" pitchFamily="34" charset="-122"/>
                          <a:cs typeface="Calibri" pitchFamily="34" charset="-120"/>
                        </a:rPr>
                        <a:t>make eval</a:t>
                      </a:r>
                      <a:endParaRPr lang="en-US" sz="7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750" dirty="0">
                          <a:solidFill>
                            <a:srgbClr val="1B2A41"/>
                          </a:solidFill>
                          <a:latin typeface="Calibri" pitchFamily="34" charset="0"/>
                          <a:ea typeface="Calibri" pitchFamily="34" charset="-122"/>
                          <a:cs typeface="Calibri" pitchFamily="34" charset="-120"/>
                        </a:rPr>
                        <a:t>Live OpenAI cost / cross-encoder</a:t>
                      </a:r>
                      <a:endParaRPr lang="en-US" sz="7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750" dirty="0">
                          <a:solidFill>
                            <a:srgbClr val="1B2A41"/>
                          </a:solidFill>
                          <a:latin typeface="Calibri" pitchFamily="34" charset="0"/>
                          <a:ea typeface="Calibri" pitchFamily="34" charset="-122"/>
                          <a:cs typeface="Calibri" pitchFamily="34" charset="-120"/>
                        </a:rPr>
                        <a:t>pending</a:t>
                      </a:r>
                      <a:endParaRPr lang="en-US" sz="7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750" dirty="0">
                          <a:solidFill>
                            <a:srgbClr val="1B2A41"/>
                          </a:solidFill>
                          <a:latin typeface="Calibri" pitchFamily="34" charset="0"/>
                          <a:ea typeface="Calibri" pitchFamily="34" charset="-122"/>
                          <a:cs typeface="Calibri" pitchFamily="34" charset="-120"/>
                        </a:rPr>
                        <a:t>needs key/model</a:t>
                      </a:r>
                      <a:endParaRPr lang="en-US" sz="7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bl>
          </a:graphicData>
        </a:graphic>
      </p:graphicFrame>
      <p:sp>
        <p:nvSpPr>
          <p:cNvPr id="7" name="Text 3"/>
          <p:cNvSpPr txBox="1"/>
          <p:nvPr/>
        </p:nvSpPr>
        <p:spPr>
          <a:xfrm>
            <a:off x="457200" y="4480560"/>
            <a:ext cx="8229600" cy="320040"/>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All five ratios read 1.0 on the 21-case offline fixture; the honest caveat is the corpus is 15 chunks and the embeddings are deterministic lexical hashes, not a production-scale semantic benchmark.</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5486400" cy="228600"/>
          </a:xfrm>
          <a:prstGeom prst="rect">
            <a:avLst/>
          </a:prstGeom>
          <a:noFill/>
          <a:ln/>
        </p:spPr>
        <p:txBody>
          <a:bodyPr wrap="square" lIns="0" tIns="0" rIns="0" bIns="0" rtlCol="0" anchor="ctr"/>
          <a:lstStyle/>
          <a:p>
            <a:pPr indent="0" marL="0">
              <a:buNone/>
            </a:pPr>
            <a:r>
              <a:rPr lang="en-US" sz="1000" b="1" spc="200" kern="0" dirty="0">
                <a:solidFill>
                  <a:srgbClr val="2EC4B6"/>
                </a:solidFill>
                <a:latin typeface="Calibri" pitchFamily="34" charset="0"/>
                <a:ea typeface="Calibri" pitchFamily="34" charset="-122"/>
                <a:cs typeface="Calibri" pitchFamily="34" charset="-120"/>
              </a:rPr>
              <a:t>HONESTY</a:t>
            </a:r>
            <a:endParaRPr lang="en-US" sz="1000" dirty="0"/>
          </a:p>
        </p:txBody>
      </p:sp>
      <p:sp>
        <p:nvSpPr>
          <p:cNvPr id="3" name="Text 1"/>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600" b="1" dirty="0">
                <a:solidFill>
                  <a:srgbClr val="14213D"/>
                </a:solidFill>
                <a:latin typeface="Cambria" pitchFamily="34" charset="0"/>
                <a:ea typeface="Cambria" pitchFamily="34" charset="-122"/>
                <a:cs typeface="Cambria" pitchFamily="34" charset="-120"/>
              </a:rPr>
              <a:t>Quirks and known limitations (stated, not hidden)</a:t>
            </a:r>
            <a:endParaRPr lang="en-US" sz="2600" dirty="0"/>
          </a:p>
        </p:txBody>
      </p:sp>
      <p:sp>
        <p:nvSpPr>
          <p:cNvPr id="4" name="Text 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6B7A90"/>
                </a:solidFill>
                <a:latin typeface="Calibri" pitchFamily="34" charset="0"/>
                <a:ea typeface="Calibri" pitchFamily="34" charset="-122"/>
                <a:cs typeface="Calibri" pitchFamily="34" charset="-120"/>
              </a:rPr>
              <a:t>RegLens · AI Systems Architecture Review · 20</a:t>
            </a:r>
            <a:endParaRPr lang="en-US" sz="800" dirty="0"/>
          </a:p>
        </p:txBody>
      </p:sp>
      <p:sp>
        <p:nvSpPr>
          <p:cNvPr id="5" name="Shape 3"/>
          <p:cNvSpPr/>
          <p:nvPr/>
        </p:nvSpPr>
        <p:spPr>
          <a:xfrm>
            <a:off x="457200" y="1188720"/>
            <a:ext cx="4069080" cy="749808"/>
          </a:xfrm>
          <a:prstGeom prst="roundRect">
            <a:avLst>
              <a:gd name="adj" fmla="val 7317"/>
            </a:avLst>
          </a:prstGeom>
          <a:solidFill>
            <a:srgbClr val="F3F6FA"/>
          </a:solidFill>
          <a:ln w="9525">
            <a:solidFill>
              <a:srgbClr val="C9D3E0"/>
            </a:solidFill>
            <a:prstDash val="solid"/>
          </a:ln>
        </p:spPr>
      </p:sp>
      <p:sp>
        <p:nvSpPr>
          <p:cNvPr id="6" name="Text 4"/>
          <p:cNvSpPr txBox="1"/>
          <p:nvPr/>
        </p:nvSpPr>
        <p:spPr>
          <a:xfrm>
            <a:off x="548640" y="1243584"/>
            <a:ext cx="3886200" cy="256032"/>
          </a:xfrm>
          <a:prstGeom prst="rect">
            <a:avLst/>
          </a:prstGeom>
          <a:noFill/>
          <a:ln/>
        </p:spPr>
        <p:txBody>
          <a:bodyPr wrap="square" lIns="0" tIns="0" rIns="0" bIns="0" rtlCol="0" anchor="ctr"/>
          <a:lstStyle/>
          <a:p>
            <a:pPr indent="0" marL="0">
              <a:buNone/>
            </a:pPr>
            <a:r>
              <a:rPr lang="en-US" sz="950" b="1" dirty="0">
                <a:solidFill>
                  <a:srgbClr val="14213D"/>
                </a:solidFill>
                <a:latin typeface="Calibri" pitchFamily="34" charset="0"/>
                <a:ea typeface="Calibri" pitchFamily="34" charset="-122"/>
                <a:cs typeface="Calibri" pitchFamily="34" charset="-120"/>
              </a:rPr>
              <a:t>100.0% recall/faithfulness is a small-fixture number</a:t>
            </a:r>
            <a:endParaRPr lang="en-US" sz="950" dirty="0"/>
          </a:p>
        </p:txBody>
      </p:sp>
      <p:sp>
        <p:nvSpPr>
          <p:cNvPr id="7" name="Text 5"/>
          <p:cNvSpPr txBox="1"/>
          <p:nvPr/>
        </p:nvSpPr>
        <p:spPr>
          <a:xfrm>
            <a:off x="548640" y="1499616"/>
            <a:ext cx="3886200" cy="384048"/>
          </a:xfrm>
          <a:prstGeom prst="rect">
            <a:avLst/>
          </a:prstGeom>
          <a:noFill/>
          <a:ln/>
        </p:spPr>
        <p:txBody>
          <a:bodyPr wrap="square" lIns="0" tIns="0" rIns="0" bIns="0" rtlCol="0" anchor="t"/>
          <a:lstStyle/>
          <a:p>
            <a:pPr indent="0" marL="0">
              <a:buNone/>
            </a:pPr>
            <a:r>
              <a:rPr lang="en-US" sz="800" dirty="0">
                <a:solidFill>
                  <a:srgbClr val="1B2A41"/>
                </a:solidFill>
                <a:latin typeface="Calibri" pitchFamily="34" charset="0"/>
                <a:ea typeface="Calibri" pitchFamily="34" charset="-122"/>
                <a:cs typeface="Calibri" pitchFamily="34" charset="-120"/>
              </a:rPr>
              <a:t>21 queries over a 15-chunk synthetic corpus with deterministic lexical embeddings; not a production-scale or semantic benchmark.</a:t>
            </a:r>
            <a:endParaRPr lang="en-US" sz="800" dirty="0"/>
          </a:p>
        </p:txBody>
      </p:sp>
      <p:sp>
        <p:nvSpPr>
          <p:cNvPr id="8" name="Shape 6"/>
          <p:cNvSpPr/>
          <p:nvPr/>
        </p:nvSpPr>
        <p:spPr>
          <a:xfrm>
            <a:off x="4663440" y="1188720"/>
            <a:ext cx="4069080" cy="749808"/>
          </a:xfrm>
          <a:prstGeom prst="roundRect">
            <a:avLst>
              <a:gd name="adj" fmla="val 7317"/>
            </a:avLst>
          </a:prstGeom>
          <a:solidFill>
            <a:srgbClr val="F3F6FA"/>
          </a:solidFill>
          <a:ln w="9525">
            <a:solidFill>
              <a:srgbClr val="C9D3E0"/>
            </a:solidFill>
            <a:prstDash val="solid"/>
          </a:ln>
        </p:spPr>
      </p:sp>
      <p:sp>
        <p:nvSpPr>
          <p:cNvPr id="9" name="Text 7"/>
          <p:cNvSpPr txBox="1"/>
          <p:nvPr/>
        </p:nvSpPr>
        <p:spPr>
          <a:xfrm>
            <a:off x="4754880" y="1243584"/>
            <a:ext cx="3886200" cy="256032"/>
          </a:xfrm>
          <a:prstGeom prst="rect">
            <a:avLst/>
          </a:prstGeom>
          <a:noFill/>
          <a:ln/>
        </p:spPr>
        <p:txBody>
          <a:bodyPr wrap="square" lIns="0" tIns="0" rIns="0" bIns="0" rtlCol="0" anchor="ctr"/>
          <a:lstStyle/>
          <a:p>
            <a:pPr indent="0" marL="0">
              <a:buNone/>
            </a:pPr>
            <a:r>
              <a:rPr lang="en-US" sz="950" b="1" dirty="0">
                <a:solidFill>
                  <a:srgbClr val="14213D"/>
                </a:solidFill>
                <a:latin typeface="Calibri" pitchFamily="34" charset="0"/>
                <a:ea typeface="Calibri" pitchFamily="34" charset="-122"/>
                <a:cs typeface="Calibri" pitchFamily="34" charset="-120"/>
              </a:rPr>
              <a:t>Live OpenAI cost is pending</a:t>
            </a:r>
            <a:endParaRPr lang="en-US" sz="950" dirty="0"/>
          </a:p>
        </p:txBody>
      </p:sp>
      <p:sp>
        <p:nvSpPr>
          <p:cNvPr id="10" name="Text 8"/>
          <p:cNvSpPr txBox="1"/>
          <p:nvPr/>
        </p:nvSpPr>
        <p:spPr>
          <a:xfrm>
            <a:off x="4754880" y="1499616"/>
            <a:ext cx="3886200" cy="384048"/>
          </a:xfrm>
          <a:prstGeom prst="rect">
            <a:avLst/>
          </a:prstGeom>
          <a:noFill/>
          <a:ln/>
        </p:spPr>
        <p:txBody>
          <a:bodyPr wrap="square" lIns="0" tIns="0" rIns="0" bIns="0" rtlCol="0" anchor="t"/>
          <a:lstStyle/>
          <a:p>
            <a:pPr indent="0" marL="0">
              <a:buNone/>
            </a:pPr>
            <a:r>
              <a:rPr lang="en-US" sz="800" dirty="0">
                <a:solidFill>
                  <a:srgbClr val="1B2A41"/>
                </a:solidFill>
                <a:latin typeface="Calibri" pitchFamily="34" charset="0"/>
                <a:ea typeface="Calibri" pitchFamily="34" charset="-122"/>
                <a:cs typeface="Calibri" pitchFamily="34" charset="-120"/>
              </a:rPr>
              <a:t>The $0.000202/query figure is the repo's char/4-token costing model over fake-generated text, not a metered API call.</a:t>
            </a:r>
            <a:endParaRPr lang="en-US" sz="800" dirty="0"/>
          </a:p>
        </p:txBody>
      </p:sp>
      <p:sp>
        <p:nvSpPr>
          <p:cNvPr id="11" name="Shape 9"/>
          <p:cNvSpPr/>
          <p:nvPr/>
        </p:nvSpPr>
        <p:spPr>
          <a:xfrm>
            <a:off x="457200" y="2011680"/>
            <a:ext cx="4069080" cy="749808"/>
          </a:xfrm>
          <a:prstGeom prst="roundRect">
            <a:avLst>
              <a:gd name="adj" fmla="val 7317"/>
            </a:avLst>
          </a:prstGeom>
          <a:solidFill>
            <a:srgbClr val="F3F6FA"/>
          </a:solidFill>
          <a:ln w="9525">
            <a:solidFill>
              <a:srgbClr val="C9D3E0"/>
            </a:solidFill>
            <a:prstDash val="solid"/>
          </a:ln>
        </p:spPr>
      </p:sp>
      <p:sp>
        <p:nvSpPr>
          <p:cNvPr id="12" name="Text 10"/>
          <p:cNvSpPr txBox="1"/>
          <p:nvPr/>
        </p:nvSpPr>
        <p:spPr>
          <a:xfrm>
            <a:off x="548640" y="2066544"/>
            <a:ext cx="3886200" cy="256032"/>
          </a:xfrm>
          <a:prstGeom prst="rect">
            <a:avLst/>
          </a:prstGeom>
          <a:noFill/>
          <a:ln/>
        </p:spPr>
        <p:txBody>
          <a:bodyPr wrap="square" lIns="0" tIns="0" rIns="0" bIns="0" rtlCol="0" anchor="ctr"/>
          <a:lstStyle/>
          <a:p>
            <a:pPr indent="0" marL="0">
              <a:buNone/>
            </a:pPr>
            <a:r>
              <a:rPr lang="en-US" sz="950" b="1" dirty="0">
                <a:solidFill>
                  <a:srgbClr val="14213D"/>
                </a:solidFill>
                <a:latin typeface="Calibri" pitchFamily="34" charset="0"/>
                <a:ea typeface="Calibri" pitchFamily="34" charset="-122"/>
                <a:cs typeface="Calibri" pitchFamily="34" charset="-120"/>
              </a:rPr>
              <a:t>Cross-encoder reranker is unmeasured</a:t>
            </a:r>
            <a:endParaRPr lang="en-US" sz="950" dirty="0"/>
          </a:p>
        </p:txBody>
      </p:sp>
      <p:sp>
        <p:nvSpPr>
          <p:cNvPr id="13" name="Text 11"/>
          <p:cNvSpPr txBox="1"/>
          <p:nvPr/>
        </p:nvSpPr>
        <p:spPr>
          <a:xfrm>
            <a:off x="548640" y="2322576"/>
            <a:ext cx="3886200" cy="384048"/>
          </a:xfrm>
          <a:prstGeom prst="rect">
            <a:avLst/>
          </a:prstGeom>
          <a:noFill/>
          <a:ln/>
        </p:spPr>
        <p:txBody>
          <a:bodyPr wrap="square" lIns="0" tIns="0" rIns="0" bIns="0" rtlCol="0" anchor="t"/>
          <a:lstStyle/>
          <a:p>
            <a:pPr indent="0" marL="0">
              <a:buNone/>
            </a:pPr>
            <a:r>
              <a:rPr lang="en-US" sz="800" dirty="0">
                <a:solidFill>
                  <a:srgbClr val="1B2A41"/>
                </a:solidFill>
                <a:latin typeface="Calibri" pitchFamily="34" charset="0"/>
                <a:ea typeface="Calibri" pitchFamily="34" charset="-122"/>
                <a:cs typeface="Calibri" pitchFamily="34" charset="-120"/>
              </a:rPr>
              <a:t>ms-marco-MiniLM-L-6-v2 needs sentence-transformers and a model weight download; the offline gate never fetches it.</a:t>
            </a:r>
            <a:endParaRPr lang="en-US" sz="800" dirty="0"/>
          </a:p>
        </p:txBody>
      </p:sp>
      <p:sp>
        <p:nvSpPr>
          <p:cNvPr id="14" name="Shape 12"/>
          <p:cNvSpPr/>
          <p:nvPr/>
        </p:nvSpPr>
        <p:spPr>
          <a:xfrm>
            <a:off x="4663440" y="2011680"/>
            <a:ext cx="4069080" cy="749808"/>
          </a:xfrm>
          <a:prstGeom prst="roundRect">
            <a:avLst>
              <a:gd name="adj" fmla="val 7317"/>
            </a:avLst>
          </a:prstGeom>
          <a:solidFill>
            <a:srgbClr val="F3F6FA"/>
          </a:solidFill>
          <a:ln w="9525">
            <a:solidFill>
              <a:srgbClr val="C9D3E0"/>
            </a:solidFill>
            <a:prstDash val="solid"/>
          </a:ln>
        </p:spPr>
      </p:sp>
      <p:sp>
        <p:nvSpPr>
          <p:cNvPr id="15" name="Text 13"/>
          <p:cNvSpPr txBox="1"/>
          <p:nvPr/>
        </p:nvSpPr>
        <p:spPr>
          <a:xfrm>
            <a:off x="4754880" y="2066544"/>
            <a:ext cx="3886200" cy="256032"/>
          </a:xfrm>
          <a:prstGeom prst="rect">
            <a:avLst/>
          </a:prstGeom>
          <a:noFill/>
          <a:ln/>
        </p:spPr>
        <p:txBody>
          <a:bodyPr wrap="square" lIns="0" tIns="0" rIns="0" bIns="0" rtlCol="0" anchor="ctr"/>
          <a:lstStyle/>
          <a:p>
            <a:pPr indent="0" marL="0">
              <a:buNone/>
            </a:pPr>
            <a:r>
              <a:rPr lang="en-US" sz="950" b="1" dirty="0">
                <a:solidFill>
                  <a:srgbClr val="14213D"/>
                </a:solidFill>
                <a:latin typeface="Calibri" pitchFamily="34" charset="0"/>
                <a:ea typeface="Calibri" pitchFamily="34" charset="-122"/>
                <a:cs typeface="Calibri" pitchFamily="34" charset="-120"/>
              </a:rPr>
              <a:t>OCR is a contract, not an implementation</a:t>
            </a:r>
            <a:endParaRPr lang="en-US" sz="950" dirty="0"/>
          </a:p>
        </p:txBody>
      </p:sp>
      <p:sp>
        <p:nvSpPr>
          <p:cNvPr id="16" name="Text 14"/>
          <p:cNvSpPr txBox="1"/>
          <p:nvPr/>
        </p:nvSpPr>
        <p:spPr>
          <a:xfrm>
            <a:off x="4754880" y="2322576"/>
            <a:ext cx="3886200" cy="384048"/>
          </a:xfrm>
          <a:prstGeom prst="rect">
            <a:avLst/>
          </a:prstGeom>
          <a:noFill/>
          <a:ln/>
        </p:spPr>
        <p:txBody>
          <a:bodyPr wrap="square" lIns="0" tIns="0" rIns="0" bIns="0" rtlCol="0" anchor="t"/>
          <a:lstStyle/>
          <a:p>
            <a:pPr indent="0" marL="0">
              <a:buNone/>
            </a:pPr>
            <a:r>
              <a:rPr lang="en-US" sz="800" dirty="0">
                <a:solidFill>
                  <a:srgbClr val="1B2A41"/>
                </a:solidFill>
                <a:latin typeface="Calibri" pitchFamily="34" charset="0"/>
                <a:ea typeface="Calibri" pitchFamily="34" charset="-122"/>
                <a:cs typeface="Calibri" pitchFamily="34" charset="-120"/>
              </a:rPr>
              <a:t>Scanned/image PDFs return corpus_load_error by design; docs/ocr-strategy.md is a deferred, explicit decision.</a:t>
            </a:r>
            <a:endParaRPr lang="en-US" sz="800" dirty="0"/>
          </a:p>
        </p:txBody>
      </p:sp>
      <p:sp>
        <p:nvSpPr>
          <p:cNvPr id="17" name="Shape 15"/>
          <p:cNvSpPr/>
          <p:nvPr/>
        </p:nvSpPr>
        <p:spPr>
          <a:xfrm>
            <a:off x="457200" y="2834640"/>
            <a:ext cx="4069080" cy="749808"/>
          </a:xfrm>
          <a:prstGeom prst="roundRect">
            <a:avLst>
              <a:gd name="adj" fmla="val 7317"/>
            </a:avLst>
          </a:prstGeom>
          <a:solidFill>
            <a:srgbClr val="F3F6FA"/>
          </a:solidFill>
          <a:ln w="9525">
            <a:solidFill>
              <a:srgbClr val="C9D3E0"/>
            </a:solidFill>
            <a:prstDash val="solid"/>
          </a:ln>
        </p:spPr>
      </p:sp>
      <p:sp>
        <p:nvSpPr>
          <p:cNvPr id="18" name="Text 16"/>
          <p:cNvSpPr txBox="1"/>
          <p:nvPr/>
        </p:nvSpPr>
        <p:spPr>
          <a:xfrm>
            <a:off x="548640" y="2889504"/>
            <a:ext cx="3886200" cy="256032"/>
          </a:xfrm>
          <a:prstGeom prst="rect">
            <a:avLst/>
          </a:prstGeom>
          <a:noFill/>
          <a:ln/>
        </p:spPr>
        <p:txBody>
          <a:bodyPr wrap="square" lIns="0" tIns="0" rIns="0" bIns="0" rtlCol="0" anchor="ctr"/>
          <a:lstStyle/>
          <a:p>
            <a:pPr indent="0" marL="0">
              <a:buNone/>
            </a:pPr>
            <a:r>
              <a:rPr lang="en-US" sz="950" b="1" dirty="0">
                <a:solidFill>
                  <a:srgbClr val="14213D"/>
                </a:solidFill>
                <a:latin typeface="Calibri" pitchFamily="34" charset="0"/>
                <a:ea typeface="Calibri" pitchFamily="34" charset="-122"/>
                <a:cs typeface="Calibri" pitchFamily="34" charset="-120"/>
              </a:rPr>
              <a:t>Local controls, not an identity system</a:t>
            </a:r>
            <a:endParaRPr lang="en-US" sz="950" dirty="0"/>
          </a:p>
        </p:txBody>
      </p:sp>
      <p:sp>
        <p:nvSpPr>
          <p:cNvPr id="19" name="Text 17"/>
          <p:cNvSpPr txBox="1"/>
          <p:nvPr/>
        </p:nvSpPr>
        <p:spPr>
          <a:xfrm>
            <a:off x="548640" y="3145536"/>
            <a:ext cx="3886200" cy="384048"/>
          </a:xfrm>
          <a:prstGeom prst="rect">
            <a:avLst/>
          </a:prstGeom>
          <a:noFill/>
          <a:ln/>
        </p:spPr>
        <p:txBody>
          <a:bodyPr wrap="square" lIns="0" tIns="0" rIns="0" bIns="0" rtlCol="0" anchor="t"/>
          <a:lstStyle/>
          <a:p>
            <a:pPr indent="0" marL="0">
              <a:buNone/>
            </a:pPr>
            <a:r>
              <a:rPr lang="en-US" sz="800" dirty="0">
                <a:solidFill>
                  <a:srgbClr val="1B2A41"/>
                </a:solidFill>
                <a:latin typeface="Calibri" pitchFamily="34" charset="0"/>
                <a:ea typeface="Calibri" pitchFamily="34" charset="-122"/>
                <a:cs typeface="Calibri" pitchFamily="34" charset="-120"/>
              </a:rPr>
              <a:t>API-key auth and in-memory rate limiting are single-process; no SSO, no tenant isolation, no multi-instance limiter.</a:t>
            </a:r>
            <a:endParaRPr lang="en-US" sz="800" dirty="0"/>
          </a:p>
        </p:txBody>
      </p:sp>
      <p:sp>
        <p:nvSpPr>
          <p:cNvPr id="20" name="Shape 18"/>
          <p:cNvSpPr/>
          <p:nvPr/>
        </p:nvSpPr>
        <p:spPr>
          <a:xfrm>
            <a:off x="4663440" y="2834640"/>
            <a:ext cx="4069080" cy="749808"/>
          </a:xfrm>
          <a:prstGeom prst="roundRect">
            <a:avLst>
              <a:gd name="adj" fmla="val 7317"/>
            </a:avLst>
          </a:prstGeom>
          <a:solidFill>
            <a:srgbClr val="F3F6FA"/>
          </a:solidFill>
          <a:ln w="9525">
            <a:solidFill>
              <a:srgbClr val="C9D3E0"/>
            </a:solidFill>
            <a:prstDash val="solid"/>
          </a:ln>
        </p:spPr>
      </p:sp>
      <p:sp>
        <p:nvSpPr>
          <p:cNvPr id="21" name="Text 19"/>
          <p:cNvSpPr txBox="1"/>
          <p:nvPr/>
        </p:nvSpPr>
        <p:spPr>
          <a:xfrm>
            <a:off x="4754880" y="2889504"/>
            <a:ext cx="3886200" cy="256032"/>
          </a:xfrm>
          <a:prstGeom prst="rect">
            <a:avLst/>
          </a:prstGeom>
          <a:noFill/>
          <a:ln/>
        </p:spPr>
        <p:txBody>
          <a:bodyPr wrap="square" lIns="0" tIns="0" rIns="0" bIns="0" rtlCol="0" anchor="ctr"/>
          <a:lstStyle/>
          <a:p>
            <a:pPr indent="0" marL="0">
              <a:buNone/>
            </a:pPr>
            <a:r>
              <a:rPr lang="en-US" sz="950" b="1" dirty="0">
                <a:solidFill>
                  <a:srgbClr val="14213D"/>
                </a:solidFill>
                <a:latin typeface="Calibri" pitchFamily="34" charset="0"/>
                <a:ea typeface="Calibri" pitchFamily="34" charset="-122"/>
                <a:cs typeface="Calibri" pitchFamily="34" charset="-120"/>
              </a:rPr>
              <a:t>reglens.db, tmp/ and reports/ are gitignored</a:t>
            </a:r>
            <a:endParaRPr lang="en-US" sz="950" dirty="0"/>
          </a:p>
        </p:txBody>
      </p:sp>
      <p:sp>
        <p:nvSpPr>
          <p:cNvPr id="22" name="Text 20"/>
          <p:cNvSpPr txBox="1"/>
          <p:nvPr/>
        </p:nvSpPr>
        <p:spPr>
          <a:xfrm>
            <a:off x="4754880" y="3145536"/>
            <a:ext cx="3886200" cy="384048"/>
          </a:xfrm>
          <a:prstGeom prst="rect">
            <a:avLst/>
          </a:prstGeom>
          <a:noFill/>
          <a:ln/>
        </p:spPr>
        <p:txBody>
          <a:bodyPr wrap="square" lIns="0" tIns="0" rIns="0" bIns="0" rtlCol="0" anchor="t"/>
          <a:lstStyle/>
          <a:p>
            <a:pPr indent="0" marL="0">
              <a:buNone/>
            </a:pPr>
            <a:r>
              <a:rPr lang="en-US" sz="800" dirty="0">
                <a:solidFill>
                  <a:srgbClr val="1B2A41"/>
                </a:solidFill>
                <a:latin typeface="Calibri" pitchFamily="34" charset="0"/>
                <a:ea typeface="Calibri" pitchFamily="34" charset="-122"/>
                <a:cs typeface="Calibri" pitchFamily="34" charset="-120"/>
              </a:rPr>
              <a:t>The demo database and reports regenerate from `make eval`/ingestion; this deck's screenshots came from a fresh run.</a:t>
            </a:r>
            <a:endParaRPr lang="en-US" sz="800" dirty="0"/>
          </a:p>
        </p:txBody>
      </p:sp>
      <p:sp>
        <p:nvSpPr>
          <p:cNvPr id="23" name="Shape 21"/>
          <p:cNvSpPr/>
          <p:nvPr/>
        </p:nvSpPr>
        <p:spPr>
          <a:xfrm>
            <a:off x="457200" y="3657600"/>
            <a:ext cx="4069080" cy="749808"/>
          </a:xfrm>
          <a:prstGeom prst="roundRect">
            <a:avLst>
              <a:gd name="adj" fmla="val 7317"/>
            </a:avLst>
          </a:prstGeom>
          <a:solidFill>
            <a:srgbClr val="F3F6FA"/>
          </a:solidFill>
          <a:ln w="9525">
            <a:solidFill>
              <a:srgbClr val="C9D3E0"/>
            </a:solidFill>
            <a:prstDash val="solid"/>
          </a:ln>
        </p:spPr>
      </p:sp>
      <p:sp>
        <p:nvSpPr>
          <p:cNvPr id="24" name="Text 22"/>
          <p:cNvSpPr txBox="1"/>
          <p:nvPr/>
        </p:nvSpPr>
        <p:spPr>
          <a:xfrm>
            <a:off x="548640" y="3712464"/>
            <a:ext cx="3886200" cy="256032"/>
          </a:xfrm>
          <a:prstGeom prst="rect">
            <a:avLst/>
          </a:prstGeom>
          <a:noFill/>
          <a:ln/>
        </p:spPr>
        <p:txBody>
          <a:bodyPr wrap="square" lIns="0" tIns="0" rIns="0" bIns="0" rtlCol="0" anchor="ctr"/>
          <a:lstStyle/>
          <a:p>
            <a:pPr indent="0" marL="0">
              <a:buNone/>
            </a:pPr>
            <a:r>
              <a:rPr lang="en-US" sz="950" b="1" dirty="0">
                <a:solidFill>
                  <a:srgbClr val="14213D"/>
                </a:solidFill>
                <a:latin typeface="Calibri" pitchFamily="34" charset="0"/>
                <a:ea typeface="Calibri" pitchFamily="34" charset="-122"/>
                <a:cs typeface="Calibri" pitchFamily="34" charset="-120"/>
              </a:rPr>
              <a:t>The bundled rulebook is synthetic</a:t>
            </a:r>
            <a:endParaRPr lang="en-US" sz="950" dirty="0"/>
          </a:p>
        </p:txBody>
      </p:sp>
      <p:sp>
        <p:nvSpPr>
          <p:cNvPr id="25" name="Text 23"/>
          <p:cNvSpPr txBox="1"/>
          <p:nvPr/>
        </p:nvSpPr>
        <p:spPr>
          <a:xfrm>
            <a:off x="548640" y="3968496"/>
            <a:ext cx="3886200" cy="384048"/>
          </a:xfrm>
          <a:prstGeom prst="rect">
            <a:avLst/>
          </a:prstGeom>
          <a:noFill/>
          <a:ln/>
        </p:spPr>
        <p:txBody>
          <a:bodyPr wrap="square" lIns="0" tIns="0" rIns="0" bIns="0" rtlCol="0" anchor="t"/>
          <a:lstStyle/>
          <a:p>
            <a:pPr indent="0" marL="0">
              <a:buNone/>
            </a:pPr>
            <a:r>
              <a:rPr lang="en-US" sz="800" dirty="0">
                <a:solidFill>
                  <a:srgbClr val="1B2A41"/>
                </a:solidFill>
                <a:latin typeface="Calibri" pitchFamily="34" charset="0"/>
                <a:ea typeface="Calibri" pitchFamily="34" charset="-122"/>
                <a:cs typeface="Calibri" pitchFamily="34" charset="-120"/>
              </a:rPr>
              <a:t>FINRA rule numbers and text in the fixture are illustrative for testing, not the live FINRA rulebook.</a:t>
            </a:r>
            <a:endParaRPr lang="en-US" sz="800" dirty="0"/>
          </a:p>
        </p:txBody>
      </p:sp>
      <p:sp>
        <p:nvSpPr>
          <p:cNvPr id="26" name="Shape 24"/>
          <p:cNvSpPr/>
          <p:nvPr/>
        </p:nvSpPr>
        <p:spPr>
          <a:xfrm>
            <a:off x="4663440" y="3657600"/>
            <a:ext cx="4069080" cy="749808"/>
          </a:xfrm>
          <a:prstGeom prst="roundRect">
            <a:avLst>
              <a:gd name="adj" fmla="val 7317"/>
            </a:avLst>
          </a:prstGeom>
          <a:solidFill>
            <a:srgbClr val="F3F6FA"/>
          </a:solidFill>
          <a:ln w="9525">
            <a:solidFill>
              <a:srgbClr val="C9D3E0"/>
            </a:solidFill>
            <a:prstDash val="solid"/>
          </a:ln>
        </p:spPr>
      </p:sp>
      <p:sp>
        <p:nvSpPr>
          <p:cNvPr id="27" name="Text 25"/>
          <p:cNvSpPr txBox="1"/>
          <p:nvPr/>
        </p:nvSpPr>
        <p:spPr>
          <a:xfrm>
            <a:off x="4754880" y="3712464"/>
            <a:ext cx="3886200" cy="256032"/>
          </a:xfrm>
          <a:prstGeom prst="rect">
            <a:avLst/>
          </a:prstGeom>
          <a:noFill/>
          <a:ln/>
        </p:spPr>
        <p:txBody>
          <a:bodyPr wrap="square" lIns="0" tIns="0" rIns="0" bIns="0" rtlCol="0" anchor="ctr"/>
          <a:lstStyle/>
          <a:p>
            <a:pPr indent="0" marL="0">
              <a:buNone/>
            </a:pPr>
            <a:r>
              <a:rPr lang="en-US" sz="950" b="1" dirty="0">
                <a:solidFill>
                  <a:srgbClr val="14213D"/>
                </a:solidFill>
                <a:latin typeface="Calibri" pitchFamily="34" charset="0"/>
                <a:ea typeface="Calibri" pitchFamily="34" charset="-122"/>
                <a:cs typeface="Calibri" pitchFamily="34" charset="-120"/>
              </a:rPr>
              <a:t>Container check is static</a:t>
            </a:r>
            <a:endParaRPr lang="en-US" sz="950" dirty="0"/>
          </a:p>
        </p:txBody>
      </p:sp>
      <p:sp>
        <p:nvSpPr>
          <p:cNvPr id="28" name="Text 26"/>
          <p:cNvSpPr txBox="1"/>
          <p:nvPr/>
        </p:nvSpPr>
        <p:spPr>
          <a:xfrm>
            <a:off x="4754880" y="3968496"/>
            <a:ext cx="3886200" cy="384048"/>
          </a:xfrm>
          <a:prstGeom prst="rect">
            <a:avLst/>
          </a:prstGeom>
          <a:noFill/>
          <a:ln/>
        </p:spPr>
        <p:txBody>
          <a:bodyPr wrap="square" lIns="0" tIns="0" rIns="0" bIns="0" rtlCol="0" anchor="t"/>
          <a:lstStyle/>
          <a:p>
            <a:pPr indent="0" marL="0">
              <a:buNone/>
            </a:pPr>
            <a:r>
              <a:rPr lang="en-US" sz="800" dirty="0">
                <a:solidFill>
                  <a:srgbClr val="1B2A41"/>
                </a:solidFill>
                <a:latin typeface="Calibri" pitchFamily="34" charset="0"/>
                <a:ea typeface="Calibri" pitchFamily="34" charset="-122"/>
                <a:cs typeface="Calibri" pitchFamily="34" charset="-120"/>
              </a:rPr>
              <a:t>`scripts.verify container` renders and validates Docker Compose config; this task did not build or run the image.</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5486400" cy="228600"/>
          </a:xfrm>
          <a:prstGeom prst="rect">
            <a:avLst/>
          </a:prstGeom>
          <a:noFill/>
          <a:ln/>
        </p:spPr>
        <p:txBody>
          <a:bodyPr wrap="square" lIns="0" tIns="0" rIns="0" bIns="0" rtlCol="0" anchor="ctr"/>
          <a:lstStyle/>
          <a:p>
            <a:pPr indent="0" marL="0">
              <a:buNone/>
            </a:pPr>
            <a:r>
              <a:rPr lang="en-US" sz="1000" b="1" spc="200" kern="0" dirty="0">
                <a:solidFill>
                  <a:srgbClr val="2EC4B6"/>
                </a:solidFill>
                <a:latin typeface="Calibri" pitchFamily="34" charset="0"/>
                <a:ea typeface="Calibri" pitchFamily="34" charset="-122"/>
                <a:cs typeface="Calibri" pitchFamily="34" charset="-120"/>
              </a:rPr>
              <a:t>ENTERPRISE READINESS · OPERATIONS</a:t>
            </a:r>
            <a:endParaRPr lang="en-US" sz="1000" dirty="0"/>
          </a:p>
        </p:txBody>
      </p:sp>
      <p:sp>
        <p:nvSpPr>
          <p:cNvPr id="3" name="Text 1"/>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600" b="1" dirty="0">
                <a:solidFill>
                  <a:srgbClr val="14213D"/>
                </a:solidFill>
                <a:latin typeface="Cambria" pitchFamily="34" charset="0"/>
                <a:ea typeface="Cambria" pitchFamily="34" charset="-122"/>
                <a:cs typeface="Cambria" pitchFamily="34" charset="-120"/>
              </a:rPr>
              <a:t>Cost, performance and operability</a:t>
            </a:r>
            <a:endParaRPr lang="en-US" sz="2600" dirty="0"/>
          </a:p>
        </p:txBody>
      </p:sp>
      <p:sp>
        <p:nvSpPr>
          <p:cNvPr id="4" name="Text 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6B7A90"/>
                </a:solidFill>
                <a:latin typeface="Calibri" pitchFamily="34" charset="0"/>
                <a:ea typeface="Calibri" pitchFamily="34" charset="-122"/>
                <a:cs typeface="Calibri" pitchFamily="34" charset="-120"/>
              </a:rPr>
              <a:t>RegLens · AI Systems Architecture Review · 21</a:t>
            </a:r>
            <a:endParaRPr lang="en-US" sz="800" dirty="0"/>
          </a:p>
        </p:txBody>
      </p:sp>
      <p:sp>
        <p:nvSpPr>
          <p:cNvPr id="5" name="Shape 3"/>
          <p:cNvSpPr/>
          <p:nvPr/>
        </p:nvSpPr>
        <p:spPr>
          <a:xfrm>
            <a:off x="457200" y="1188720"/>
            <a:ext cx="1965960" cy="1234440"/>
          </a:xfrm>
          <a:prstGeom prst="roundRect">
            <a:avLst>
              <a:gd name="adj" fmla="val 4444"/>
            </a:avLst>
          </a:prstGeom>
          <a:solidFill>
            <a:srgbClr val="F3F6FA"/>
          </a:solidFill>
          <a:ln w="9525">
            <a:solidFill>
              <a:srgbClr val="C9D3E0"/>
            </a:solidFill>
            <a:prstDash val="solid"/>
          </a:ln>
        </p:spPr>
      </p:sp>
      <p:sp>
        <p:nvSpPr>
          <p:cNvPr id="6" name="Text 4"/>
          <p:cNvSpPr txBox="1"/>
          <p:nvPr/>
        </p:nvSpPr>
        <p:spPr>
          <a:xfrm>
            <a:off x="566928" y="1234440"/>
            <a:ext cx="1737360" cy="457200"/>
          </a:xfrm>
          <a:prstGeom prst="rect">
            <a:avLst/>
          </a:prstGeom>
          <a:noFill/>
          <a:ln/>
        </p:spPr>
        <p:txBody>
          <a:bodyPr wrap="square" lIns="0" tIns="0" rIns="0" bIns="0" rtlCol="0" anchor="ctr"/>
          <a:lstStyle/>
          <a:p>
            <a:pPr indent="0" marL="0">
              <a:buNone/>
            </a:pPr>
            <a:r>
              <a:rPr lang="en-US" sz="2200" b="1" dirty="0">
                <a:solidFill>
                  <a:srgbClr val="F2B134"/>
                </a:solidFill>
                <a:latin typeface="Cambria" pitchFamily="34" charset="0"/>
                <a:ea typeface="Cambria" pitchFamily="34" charset="-122"/>
                <a:cs typeface="Cambria" pitchFamily="34" charset="-120"/>
              </a:rPr>
              <a:t>$0.0002</a:t>
            </a:r>
            <a:endParaRPr lang="en-US" sz="2200" dirty="0"/>
          </a:p>
        </p:txBody>
      </p:sp>
      <p:sp>
        <p:nvSpPr>
          <p:cNvPr id="7" name="Text 5"/>
          <p:cNvSpPr txBox="1"/>
          <p:nvPr/>
        </p:nvSpPr>
        <p:spPr>
          <a:xfrm>
            <a:off x="566928" y="1709928"/>
            <a:ext cx="1737360" cy="685800"/>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mean fake-run cost per query, repo costing model, ~792 in / 34 out tokens</a:t>
            </a:r>
            <a:endParaRPr lang="en-US" sz="850" dirty="0"/>
          </a:p>
        </p:txBody>
      </p:sp>
      <p:sp>
        <p:nvSpPr>
          <p:cNvPr id="8" name="Shape 6"/>
          <p:cNvSpPr/>
          <p:nvPr/>
        </p:nvSpPr>
        <p:spPr>
          <a:xfrm>
            <a:off x="2560320" y="1188720"/>
            <a:ext cx="1965960" cy="1234440"/>
          </a:xfrm>
          <a:prstGeom prst="roundRect">
            <a:avLst>
              <a:gd name="adj" fmla="val 4444"/>
            </a:avLst>
          </a:prstGeom>
          <a:solidFill>
            <a:srgbClr val="F3F6FA"/>
          </a:solidFill>
          <a:ln w="9525">
            <a:solidFill>
              <a:srgbClr val="C9D3E0"/>
            </a:solidFill>
            <a:prstDash val="solid"/>
          </a:ln>
        </p:spPr>
      </p:sp>
      <p:sp>
        <p:nvSpPr>
          <p:cNvPr id="9" name="Text 7"/>
          <p:cNvSpPr txBox="1"/>
          <p:nvPr/>
        </p:nvSpPr>
        <p:spPr>
          <a:xfrm>
            <a:off x="2670048" y="1234440"/>
            <a:ext cx="1737360" cy="457200"/>
          </a:xfrm>
          <a:prstGeom prst="rect">
            <a:avLst/>
          </a:prstGeom>
          <a:noFill/>
          <a:ln/>
        </p:spPr>
        <p:txBody>
          <a:bodyPr wrap="square" lIns="0" tIns="0" rIns="0" bIns="0" rtlCol="0" anchor="ctr"/>
          <a:lstStyle/>
          <a:p>
            <a:pPr indent="0" marL="0">
              <a:buNone/>
            </a:pPr>
            <a:r>
              <a:rPr lang="en-US" sz="2200" b="1" dirty="0">
                <a:solidFill>
                  <a:srgbClr val="F2B134"/>
                </a:solidFill>
                <a:latin typeface="Cambria" pitchFamily="34" charset="0"/>
                <a:ea typeface="Cambria" pitchFamily="34" charset="-122"/>
                <a:cs typeface="Cambria" pitchFamily="34" charset="-120"/>
              </a:rPr>
              <a:t>5.8 ms</a:t>
            </a:r>
            <a:endParaRPr lang="en-US" sz="2200" dirty="0"/>
          </a:p>
        </p:txBody>
      </p:sp>
      <p:sp>
        <p:nvSpPr>
          <p:cNvPr id="10" name="Text 8"/>
          <p:cNvSpPr txBox="1"/>
          <p:nvPr/>
        </p:nvSpPr>
        <p:spPr>
          <a:xfrm>
            <a:off x="2670048" y="1709928"/>
            <a:ext cx="1737360" cy="685800"/>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average eval latency, in-process fake providers, 21 cases</a:t>
            </a:r>
            <a:endParaRPr lang="en-US" sz="850" dirty="0"/>
          </a:p>
        </p:txBody>
      </p:sp>
      <p:sp>
        <p:nvSpPr>
          <p:cNvPr id="11" name="Shape 9"/>
          <p:cNvSpPr/>
          <p:nvPr/>
        </p:nvSpPr>
        <p:spPr>
          <a:xfrm>
            <a:off x="4663440" y="1188720"/>
            <a:ext cx="1965960" cy="1234440"/>
          </a:xfrm>
          <a:prstGeom prst="roundRect">
            <a:avLst>
              <a:gd name="adj" fmla="val 4444"/>
            </a:avLst>
          </a:prstGeom>
          <a:solidFill>
            <a:srgbClr val="F3F6FA"/>
          </a:solidFill>
          <a:ln w="9525">
            <a:solidFill>
              <a:srgbClr val="C9D3E0"/>
            </a:solidFill>
            <a:prstDash val="solid"/>
          </a:ln>
        </p:spPr>
      </p:sp>
      <p:sp>
        <p:nvSpPr>
          <p:cNvPr id="12" name="Text 10"/>
          <p:cNvSpPr txBox="1"/>
          <p:nvPr/>
        </p:nvSpPr>
        <p:spPr>
          <a:xfrm>
            <a:off x="4773168" y="1234440"/>
            <a:ext cx="1737360" cy="457200"/>
          </a:xfrm>
          <a:prstGeom prst="rect">
            <a:avLst/>
          </a:prstGeom>
          <a:noFill/>
          <a:ln/>
        </p:spPr>
        <p:txBody>
          <a:bodyPr wrap="square" lIns="0" tIns="0" rIns="0" bIns="0" rtlCol="0" anchor="ctr"/>
          <a:lstStyle/>
          <a:p>
            <a:pPr indent="0" marL="0">
              <a:buNone/>
            </a:pPr>
            <a:r>
              <a:rPr lang="en-US" sz="2200" b="1" dirty="0">
                <a:solidFill>
                  <a:srgbClr val="F2B134"/>
                </a:solidFill>
                <a:latin typeface="Cambria" pitchFamily="34" charset="0"/>
                <a:ea typeface="Cambria" pitchFamily="34" charset="-122"/>
                <a:cs typeface="Cambria" pitchFamily="34" charset="-120"/>
              </a:rPr>
              <a:t>21</a:t>
            </a:r>
            <a:endParaRPr lang="en-US" sz="2200" dirty="0"/>
          </a:p>
        </p:txBody>
      </p:sp>
      <p:sp>
        <p:nvSpPr>
          <p:cNvPr id="13" name="Text 11"/>
          <p:cNvSpPr txBox="1"/>
          <p:nvPr/>
        </p:nvSpPr>
        <p:spPr>
          <a:xfrm>
            <a:off x="4773168" y="1709928"/>
            <a:ext cx="1737360" cy="685800"/>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fixture queries over a 15-chunk synthetic corpus, 2 corpora, seed 0</a:t>
            </a:r>
            <a:endParaRPr lang="en-US" sz="850" dirty="0"/>
          </a:p>
        </p:txBody>
      </p:sp>
      <p:sp>
        <p:nvSpPr>
          <p:cNvPr id="14" name="Shape 12"/>
          <p:cNvSpPr/>
          <p:nvPr/>
        </p:nvSpPr>
        <p:spPr>
          <a:xfrm>
            <a:off x="6766560" y="1188720"/>
            <a:ext cx="1965960" cy="1234440"/>
          </a:xfrm>
          <a:prstGeom prst="roundRect">
            <a:avLst>
              <a:gd name="adj" fmla="val 4444"/>
            </a:avLst>
          </a:prstGeom>
          <a:solidFill>
            <a:srgbClr val="F3F6FA"/>
          </a:solidFill>
          <a:ln w="9525">
            <a:solidFill>
              <a:srgbClr val="C9D3E0"/>
            </a:solidFill>
            <a:prstDash val="solid"/>
          </a:ln>
        </p:spPr>
      </p:sp>
      <p:sp>
        <p:nvSpPr>
          <p:cNvPr id="15" name="Text 13"/>
          <p:cNvSpPr txBox="1"/>
          <p:nvPr/>
        </p:nvSpPr>
        <p:spPr>
          <a:xfrm>
            <a:off x="6876288" y="1234440"/>
            <a:ext cx="1737360" cy="457200"/>
          </a:xfrm>
          <a:prstGeom prst="rect">
            <a:avLst/>
          </a:prstGeom>
          <a:noFill/>
          <a:ln/>
        </p:spPr>
        <p:txBody>
          <a:bodyPr wrap="square" lIns="0" tIns="0" rIns="0" bIns="0" rtlCol="0" anchor="ctr"/>
          <a:lstStyle/>
          <a:p>
            <a:pPr indent="0" marL="0">
              <a:buNone/>
            </a:pPr>
            <a:r>
              <a:rPr lang="en-US" sz="2200" b="1" dirty="0">
                <a:solidFill>
                  <a:srgbClr val="F2B134"/>
                </a:solidFill>
                <a:latin typeface="Cambria" pitchFamily="34" charset="0"/>
                <a:ea typeface="Cambria" pitchFamily="34" charset="-122"/>
                <a:cs typeface="Cambria" pitchFamily="34" charset="-120"/>
              </a:rPr>
              <a:t>0 keys</a:t>
            </a:r>
            <a:endParaRPr lang="en-US" sz="2200" dirty="0"/>
          </a:p>
        </p:txBody>
      </p:sp>
      <p:sp>
        <p:nvSpPr>
          <p:cNvPr id="16" name="Text 14"/>
          <p:cNvSpPr txBox="1"/>
          <p:nvPr/>
        </p:nvSpPr>
        <p:spPr>
          <a:xfrm>
            <a:off x="6876288" y="1709928"/>
            <a:ext cx="1737360" cy="685800"/>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needed for the full offline demo — mock mode, no OpenAI, no Qdrant</a:t>
            </a:r>
            <a:endParaRPr lang="en-US" sz="850" dirty="0"/>
          </a:p>
        </p:txBody>
      </p:sp>
      <p:sp>
        <p:nvSpPr>
          <p:cNvPr id="17" name="Shape 15"/>
          <p:cNvSpPr/>
          <p:nvPr/>
        </p:nvSpPr>
        <p:spPr>
          <a:xfrm>
            <a:off x="457200" y="2606040"/>
            <a:ext cx="4023360" cy="1828800"/>
          </a:xfrm>
          <a:prstGeom prst="roundRect">
            <a:avLst>
              <a:gd name="adj" fmla="val 3000"/>
            </a:avLst>
          </a:prstGeom>
          <a:solidFill>
            <a:srgbClr val="F3F6FA"/>
          </a:solidFill>
          <a:ln w="9525">
            <a:solidFill>
              <a:srgbClr val="C9D3E0"/>
            </a:solidFill>
            <a:prstDash val="solid"/>
          </a:ln>
        </p:spPr>
      </p:sp>
      <p:sp>
        <p:nvSpPr>
          <p:cNvPr id="18" name="Text 16"/>
          <p:cNvSpPr txBox="1"/>
          <p:nvPr/>
        </p:nvSpPr>
        <p:spPr>
          <a:xfrm>
            <a:off x="548640" y="2660904"/>
            <a:ext cx="384048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Operability</a:t>
            </a:r>
            <a:endParaRPr lang="en-US" sz="1100" dirty="0"/>
          </a:p>
        </p:txBody>
      </p:sp>
      <p:sp>
        <p:nvSpPr>
          <p:cNvPr id="19" name="Text 17"/>
          <p:cNvSpPr txBox="1"/>
          <p:nvPr/>
        </p:nvSpPr>
        <p:spPr>
          <a:xfrm>
            <a:off x="548640" y="2916936"/>
            <a:ext cx="3840480" cy="1463040"/>
          </a:xfrm>
          <a:prstGeom prst="rect">
            <a:avLst/>
          </a:prstGeom>
          <a:noFill/>
          <a:ln/>
        </p:spPr>
        <p:txBody>
          <a:bodyPr wrap="square" lIns="0" tIns="0" rIns="0" bIns="0" rtlCol="0" anchor="t"/>
          <a:lstStyle/>
          <a:p>
            <a:pPr indent="0" marL="0">
              <a:buNone/>
            </a:pPr>
            <a:r>
              <a:rPr lang="en-US" sz="900" dirty="0">
                <a:solidFill>
                  <a:srgbClr val="1B2A41"/>
                </a:solidFill>
                <a:latin typeface="Calibri" pitchFamily="34" charset="0"/>
                <a:ea typeface="Calibri" pitchFamily="34" charset="-122"/>
                <a:cs typeface="Calibri" pitchFamily="34" charset="-120"/>
              </a:rPr>
              <a:t>• /health and /ready with per-provider status, mode and gated errors</a:t>
            </a:r>
            <a:endParaRPr lang="en-US" sz="900" dirty="0"/>
          </a:p>
          <a:p>
            <a:pPr indent="0" marL="0">
              <a:buNone/>
            </a:pPr>
            <a:r>
              <a:rPr lang="en-US" sz="900" dirty="0">
                <a:solidFill>
                  <a:srgbClr val="1B2A41"/>
                </a:solidFill>
                <a:latin typeface="Calibri" pitchFamily="34" charset="0"/>
                <a:ea typeface="Calibri" pitchFamily="34" charset="-122"/>
                <a:cs typeface="Calibri" pitchFamily="34" charset="-120"/>
              </a:rPr>
              <a:t>• `make verify` is the one-command gate; CI runs the same profile</a:t>
            </a:r>
            <a:endParaRPr lang="en-US" sz="900" dirty="0"/>
          </a:p>
          <a:p>
            <a:pPr indent="0" marL="0">
              <a:buNone/>
            </a:pPr>
            <a:r>
              <a:rPr lang="en-US" sz="900" dirty="0">
                <a:solidFill>
                  <a:srgbClr val="1B2A41"/>
                </a:solidFill>
                <a:latin typeface="Calibri" pitchFamily="34" charset="0"/>
                <a:ea typeface="Calibri" pitchFamily="34" charset="-122"/>
                <a:cs typeface="Calibri" pitchFamily="34" charset="-120"/>
              </a:rPr>
              <a:t>• Docker + Compose default to mock-safe (no key, no Qdrant needed)</a:t>
            </a:r>
            <a:endParaRPr lang="en-US" sz="900" dirty="0"/>
          </a:p>
          <a:p>
            <a:pPr indent="0" marL="0">
              <a:buNone/>
            </a:pPr>
            <a:r>
              <a:rPr lang="en-US" sz="900" dirty="0">
                <a:solidFill>
                  <a:srgbClr val="1B2A41"/>
                </a:solidFill>
                <a:latin typeface="Calibri" pitchFamily="34" charset="0"/>
                <a:ea typeface="Calibri" pitchFamily="34" charset="-122"/>
                <a:cs typeface="Calibri" pitchFamily="34" charset="-120"/>
              </a:rPr>
              <a:t>• Rollback is an environment variable: REGLENS_RAG_MODE mock ↔ local</a:t>
            </a:r>
            <a:endParaRPr lang="en-US" sz="900" dirty="0"/>
          </a:p>
          <a:p>
            <a:pPr indent="0" marL="0">
              <a:buNone/>
            </a:pPr>
            <a:r>
              <a:rPr lang="en-US" sz="900" dirty="0">
                <a:solidFill>
                  <a:srgbClr val="1B2A41"/>
                </a:solidFill>
                <a:latin typeface="Calibri" pitchFamily="34" charset="0"/>
                <a:ea typeface="Calibri" pitchFamily="34" charset="-122"/>
                <a:cs typeface="Calibri" pitchFamily="34" charset="-120"/>
              </a:rPr>
              <a:t>• `scripts.verify container` statically checks the Compose config</a:t>
            </a:r>
            <a:endParaRPr lang="en-US" sz="900" dirty="0"/>
          </a:p>
        </p:txBody>
      </p:sp>
      <p:sp>
        <p:nvSpPr>
          <p:cNvPr id="20" name="Shape 18"/>
          <p:cNvSpPr/>
          <p:nvPr/>
        </p:nvSpPr>
        <p:spPr>
          <a:xfrm>
            <a:off x="4663440" y="2606040"/>
            <a:ext cx="4023360" cy="1828800"/>
          </a:xfrm>
          <a:prstGeom prst="roundRect">
            <a:avLst>
              <a:gd name="adj" fmla="val 3000"/>
            </a:avLst>
          </a:prstGeom>
          <a:solidFill>
            <a:srgbClr val="F3F6FA"/>
          </a:solidFill>
          <a:ln w="9525">
            <a:solidFill>
              <a:srgbClr val="C9D3E0"/>
            </a:solidFill>
            <a:prstDash val="solid"/>
          </a:ln>
        </p:spPr>
      </p:sp>
      <p:sp>
        <p:nvSpPr>
          <p:cNvPr id="21" name="Text 19"/>
          <p:cNvSpPr txBox="1"/>
          <p:nvPr/>
        </p:nvSpPr>
        <p:spPr>
          <a:xfrm>
            <a:off x="4754880" y="2660904"/>
            <a:ext cx="384048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Observability and audit</a:t>
            </a:r>
            <a:endParaRPr lang="en-US" sz="1100" dirty="0"/>
          </a:p>
        </p:txBody>
      </p:sp>
      <p:sp>
        <p:nvSpPr>
          <p:cNvPr id="22" name="Text 20"/>
          <p:cNvSpPr txBox="1"/>
          <p:nvPr/>
        </p:nvSpPr>
        <p:spPr>
          <a:xfrm>
            <a:off x="4754880" y="2916936"/>
            <a:ext cx="3840480" cy="1463040"/>
          </a:xfrm>
          <a:prstGeom prst="rect">
            <a:avLst/>
          </a:prstGeom>
          <a:noFill/>
          <a:ln/>
        </p:spPr>
        <p:txBody>
          <a:bodyPr wrap="square" lIns="0" tIns="0" rIns="0" bIns="0" rtlCol="0" anchor="t"/>
          <a:lstStyle/>
          <a:p>
            <a:pPr indent="0" marL="0">
              <a:buNone/>
            </a:pPr>
            <a:r>
              <a:rPr lang="en-US" sz="900" dirty="0">
                <a:solidFill>
                  <a:srgbClr val="1B2A41"/>
                </a:solidFill>
                <a:latin typeface="Calibri" pitchFamily="34" charset="0"/>
                <a:ea typeface="Calibri" pitchFamily="34" charset="-122"/>
                <a:cs typeface="Calibri" pitchFamily="34" charset="-120"/>
              </a:rPr>
              <a:t>• Hash-chained query audit rows with an evidence digest per query</a:t>
            </a:r>
            <a:endParaRPr lang="en-US" sz="900" dirty="0"/>
          </a:p>
          <a:p>
            <a:pPr indent="0" marL="0">
              <a:buNone/>
            </a:pPr>
            <a:r>
              <a:rPr lang="en-US" sz="900" dirty="0">
                <a:solidFill>
                  <a:srgbClr val="1B2A41"/>
                </a:solidFill>
                <a:latin typeface="Calibri" pitchFamily="34" charset="0"/>
                <a:ea typeface="Calibri" pitchFamily="34" charset="-122"/>
                <a:cs typeface="Calibri" pitchFamily="34" charset="-120"/>
              </a:rPr>
              <a:t>• GET /audit/verify walks the chain and reports failures, if any</a:t>
            </a:r>
            <a:endParaRPr lang="en-US" sz="900" dirty="0"/>
          </a:p>
          <a:p>
            <a:pPr indent="0" marL="0">
              <a:buNone/>
            </a:pPr>
            <a:r>
              <a:rPr lang="en-US" sz="900" dirty="0">
                <a:solidFill>
                  <a:srgbClr val="1B2A41"/>
                </a:solidFill>
                <a:latin typeface="Calibri" pitchFamily="34" charset="0"/>
                <a:ea typeface="Calibri" pitchFamily="34" charset="-122"/>
                <a:cs typeface="Calibri" pitchFamily="34" charset="-120"/>
              </a:rPr>
              <a:t>• Request-ID propagation (X-Request-ID) through every response</a:t>
            </a:r>
            <a:endParaRPr lang="en-US" sz="900" dirty="0"/>
          </a:p>
          <a:p>
            <a:pPr indent="0" marL="0">
              <a:buNone/>
            </a:pPr>
            <a:r>
              <a:rPr lang="en-US" sz="900" dirty="0">
                <a:solidFill>
                  <a:srgbClr val="1B2A41"/>
                </a:solidFill>
                <a:latin typeface="Calibri" pitchFamily="34" charset="0"/>
                <a:ea typeface="Calibri" pitchFamily="34" charset="-122"/>
                <a:cs typeface="Calibri" pitchFamily="34" charset="-120"/>
              </a:rPr>
              <a:t>• Structured dependency_unavailable errors, never a bare crash</a:t>
            </a:r>
            <a:endParaRPr lang="en-US" sz="900" dirty="0"/>
          </a:p>
          <a:p>
            <a:pPr indent="0" marL="0">
              <a:buNone/>
            </a:pPr>
            <a:r>
              <a:rPr lang="en-US" sz="900" dirty="0">
                <a:solidFill>
                  <a:srgbClr val="1B2A41"/>
                </a:solidFill>
                <a:latin typeface="Calibri" pitchFamily="34" charset="0"/>
                <a:ea typeface="Calibri" pitchFamily="34" charset="-122"/>
                <a:cs typeface="Calibri" pitchFamily="34" charset="-120"/>
              </a:rPr>
              <a:t>• Deterministic cost estimate stored on every audit row</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5486400" cy="228600"/>
          </a:xfrm>
          <a:prstGeom prst="rect">
            <a:avLst/>
          </a:prstGeom>
          <a:noFill/>
          <a:ln/>
        </p:spPr>
        <p:txBody>
          <a:bodyPr wrap="square" lIns="0" tIns="0" rIns="0" bIns="0" rtlCol="0" anchor="ctr"/>
          <a:lstStyle/>
          <a:p>
            <a:pPr indent="0" marL="0">
              <a:buNone/>
            </a:pPr>
            <a:r>
              <a:rPr lang="en-US" sz="1000" b="1" spc="200" kern="0" dirty="0">
                <a:solidFill>
                  <a:srgbClr val="2EC4B6"/>
                </a:solidFill>
                <a:latin typeface="Calibri" pitchFamily="34" charset="0"/>
                <a:ea typeface="Calibri" pitchFamily="34" charset="-122"/>
                <a:cs typeface="Calibri" pitchFamily="34" charset="-120"/>
              </a:rPr>
              <a:t>NEXT STEPS</a:t>
            </a:r>
            <a:endParaRPr lang="en-US" sz="1000" dirty="0"/>
          </a:p>
        </p:txBody>
      </p:sp>
      <p:sp>
        <p:nvSpPr>
          <p:cNvPr id="3" name="Text 1"/>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600" b="1" dirty="0">
                <a:solidFill>
                  <a:srgbClr val="14213D"/>
                </a:solidFill>
                <a:latin typeface="Cambria" pitchFamily="34" charset="0"/>
                <a:ea typeface="Cambria" pitchFamily="34" charset="-122"/>
                <a:cs typeface="Cambria" pitchFamily="34" charset="-120"/>
              </a:rPr>
              <a:t>Roadmap to a pilot</a:t>
            </a:r>
            <a:endParaRPr lang="en-US" sz="2600" dirty="0"/>
          </a:p>
        </p:txBody>
      </p:sp>
      <p:sp>
        <p:nvSpPr>
          <p:cNvPr id="4" name="Text 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6B7A90"/>
                </a:solidFill>
                <a:latin typeface="Calibri" pitchFamily="34" charset="0"/>
                <a:ea typeface="Calibri" pitchFamily="34" charset="-122"/>
                <a:cs typeface="Calibri" pitchFamily="34" charset="-120"/>
              </a:rPr>
              <a:t>RegLens · AI Systems Architecture Review · 22</a:t>
            </a:r>
            <a:endParaRPr lang="en-US" sz="800" dirty="0"/>
          </a:p>
        </p:txBody>
      </p:sp>
      <p:sp>
        <p:nvSpPr>
          <p:cNvPr id="5" name="Shape 3"/>
          <p:cNvSpPr/>
          <p:nvPr/>
        </p:nvSpPr>
        <p:spPr>
          <a:xfrm>
            <a:off x="457200" y="1188720"/>
            <a:ext cx="1965960" cy="3200400"/>
          </a:xfrm>
          <a:prstGeom prst="roundRect">
            <a:avLst>
              <a:gd name="adj" fmla="val 2791"/>
            </a:avLst>
          </a:prstGeom>
          <a:solidFill>
            <a:srgbClr val="EEF6F4"/>
          </a:solidFill>
          <a:ln w="9525">
            <a:solidFill>
              <a:srgbClr val="2EC4B6"/>
            </a:solidFill>
            <a:prstDash val="solid"/>
          </a:ln>
        </p:spPr>
      </p:sp>
      <p:sp>
        <p:nvSpPr>
          <p:cNvPr id="6" name="Text 4"/>
          <p:cNvSpPr txBox="1"/>
          <p:nvPr/>
        </p:nvSpPr>
        <p:spPr>
          <a:xfrm>
            <a:off x="566928" y="1243584"/>
            <a:ext cx="1737360" cy="256032"/>
          </a:xfrm>
          <a:prstGeom prst="rect">
            <a:avLst/>
          </a:prstGeom>
          <a:noFill/>
          <a:ln/>
        </p:spPr>
        <p:txBody>
          <a:bodyPr wrap="square" lIns="0" tIns="0" rIns="0" bIns="0" rtlCol="0" anchor="ctr"/>
          <a:lstStyle/>
          <a:p>
            <a:pPr indent="0" marL="0">
              <a:buNone/>
            </a:pPr>
            <a:r>
              <a:rPr lang="en-US" sz="900" b="1" spc="100" kern="0" dirty="0">
                <a:solidFill>
                  <a:srgbClr val="2EC4B6"/>
                </a:solidFill>
                <a:latin typeface="Calibri" pitchFamily="34" charset="0"/>
                <a:ea typeface="Calibri" pitchFamily="34" charset="-122"/>
                <a:cs typeface="Calibri" pitchFamily="34" charset="-120"/>
              </a:rPr>
              <a:t>Weeks 1–2</a:t>
            </a:r>
            <a:endParaRPr lang="en-US" sz="900" dirty="0"/>
          </a:p>
        </p:txBody>
      </p:sp>
      <p:sp>
        <p:nvSpPr>
          <p:cNvPr id="7" name="Text 5"/>
          <p:cNvSpPr txBox="1"/>
          <p:nvPr/>
        </p:nvSpPr>
        <p:spPr>
          <a:xfrm>
            <a:off x="566928" y="1481328"/>
            <a:ext cx="1737360" cy="320040"/>
          </a:xfrm>
          <a:prstGeom prst="rect">
            <a:avLst/>
          </a:prstGeom>
          <a:noFill/>
          <a:ln/>
        </p:spPr>
        <p:txBody>
          <a:bodyPr wrap="square" lIns="0" tIns="0" rIns="0" bIns="0" rtlCol="0" anchor="ctr"/>
          <a:lstStyle/>
          <a:p>
            <a:pPr indent="0" marL="0">
              <a:buNone/>
            </a:pPr>
            <a:r>
              <a:rPr lang="en-US" sz="1400" b="1" dirty="0">
                <a:solidFill>
                  <a:srgbClr val="14213D"/>
                </a:solidFill>
                <a:latin typeface="Cambria" pitchFamily="34" charset="0"/>
                <a:ea typeface="Cambria" pitchFamily="34" charset="-122"/>
                <a:cs typeface="Cambria" pitchFamily="34" charset="-120"/>
              </a:rPr>
              <a:t>Harden data</a:t>
            </a:r>
            <a:endParaRPr lang="en-US" sz="1400" dirty="0"/>
          </a:p>
        </p:txBody>
      </p:sp>
      <p:sp>
        <p:nvSpPr>
          <p:cNvPr id="8" name="Text 6"/>
          <p:cNvSpPr txBox="1"/>
          <p:nvPr/>
        </p:nvSpPr>
        <p:spPr>
          <a:xfrm>
            <a:off x="566928" y="1874520"/>
            <a:ext cx="1737360" cy="2468880"/>
          </a:xfrm>
          <a:prstGeom prst="rect">
            <a:avLst/>
          </a:prstGeom>
          <a:noFill/>
          <a:ln/>
        </p:spPr>
        <p:txBody>
          <a:bodyPr wrap="square" lIns="0" tIns="0" rIns="0" bIns="0" rtlCol="0" anchor="t"/>
          <a:lstStyle/>
          <a:p>
            <a:pPr marL="342900" indent="-342900">
              <a:spcAft>
                <a:spcPts val="400"/>
              </a:spcAft>
              <a:buSzPct val="100000"/>
              <a:buChar char="•"/>
            </a:pPr>
            <a:r>
              <a:rPr lang="en-US" sz="850" dirty="0">
                <a:solidFill>
                  <a:srgbClr val="1B2A41"/>
                </a:solidFill>
                <a:latin typeface="Calibri" pitchFamily="34" charset="0"/>
                <a:ea typeface="Calibri" pitchFamily="34" charset="-122"/>
                <a:cs typeface="Calibri" pitchFamily="34" charset="-120"/>
              </a:rPr>
              <a:t>OCR as an explicit opt-in extra, behind REGLENS_ENABLE_PDF_OCR</a:t>
            </a:r>
            <a:endParaRPr lang="en-US" sz="850" dirty="0"/>
          </a:p>
          <a:p>
            <a:pPr marL="342900" indent="-342900">
              <a:spcAft>
                <a:spcPts val="400"/>
              </a:spcAft>
              <a:buSzPct val="100000"/>
              <a:buChar char="•"/>
            </a:pPr>
            <a:r>
              <a:rPr lang="en-US" sz="850" dirty="0">
                <a:solidFill>
                  <a:srgbClr val="1B2A41"/>
                </a:solidFill>
                <a:latin typeface="Calibri" pitchFamily="34" charset="0"/>
                <a:ea typeface="Calibri" pitchFamily="34" charset="-122"/>
                <a:cs typeface="Calibri" pitchFamily="34" charset="-120"/>
              </a:rPr>
              <a:t>PostgreSQL for production metadata and audit storage</a:t>
            </a:r>
            <a:endParaRPr lang="en-US" sz="850" dirty="0"/>
          </a:p>
          <a:p>
            <a:pPr marL="342900" indent="-342900">
              <a:spcAft>
                <a:spcPts val="400"/>
              </a:spcAft>
              <a:buSzPct val="100000"/>
              <a:buChar char="•"/>
            </a:pPr>
            <a:r>
              <a:rPr lang="en-US" sz="850" dirty="0">
                <a:solidFill>
                  <a:srgbClr val="1B2A41"/>
                </a:solidFill>
                <a:latin typeface="Calibri" pitchFamily="34" charset="0"/>
                <a:ea typeface="Calibri" pitchFamily="34" charset="-122"/>
                <a:cs typeface="Calibri" pitchFamily="34" charset="-120"/>
              </a:rPr>
              <a:t>Richer corpus version diffing</a:t>
            </a:r>
            <a:endParaRPr lang="en-US" sz="850" dirty="0"/>
          </a:p>
        </p:txBody>
      </p:sp>
      <p:sp>
        <p:nvSpPr>
          <p:cNvPr id="9" name="Shape 7"/>
          <p:cNvSpPr/>
          <p:nvPr/>
        </p:nvSpPr>
        <p:spPr>
          <a:xfrm>
            <a:off x="2560320" y="1188720"/>
            <a:ext cx="1965960" cy="3200400"/>
          </a:xfrm>
          <a:prstGeom prst="roundRect">
            <a:avLst>
              <a:gd name="adj" fmla="val 2791"/>
            </a:avLst>
          </a:prstGeom>
          <a:solidFill>
            <a:srgbClr val="F3F6FA"/>
          </a:solidFill>
          <a:ln w="9525">
            <a:solidFill>
              <a:srgbClr val="C9D3E0"/>
            </a:solidFill>
            <a:prstDash val="solid"/>
          </a:ln>
        </p:spPr>
      </p:sp>
      <p:sp>
        <p:nvSpPr>
          <p:cNvPr id="10" name="Text 8"/>
          <p:cNvSpPr txBox="1"/>
          <p:nvPr/>
        </p:nvSpPr>
        <p:spPr>
          <a:xfrm>
            <a:off x="2670048" y="1243584"/>
            <a:ext cx="1737360" cy="256032"/>
          </a:xfrm>
          <a:prstGeom prst="rect">
            <a:avLst/>
          </a:prstGeom>
          <a:noFill/>
          <a:ln/>
        </p:spPr>
        <p:txBody>
          <a:bodyPr wrap="square" lIns="0" tIns="0" rIns="0" bIns="0" rtlCol="0" anchor="ctr"/>
          <a:lstStyle/>
          <a:p>
            <a:pPr indent="0" marL="0">
              <a:buNone/>
            </a:pPr>
            <a:r>
              <a:rPr lang="en-US" sz="900" b="1" spc="100" kern="0" dirty="0">
                <a:solidFill>
                  <a:srgbClr val="2EC4B6"/>
                </a:solidFill>
                <a:latin typeface="Calibri" pitchFamily="34" charset="0"/>
                <a:ea typeface="Calibri" pitchFamily="34" charset="-122"/>
                <a:cs typeface="Calibri" pitchFamily="34" charset="-120"/>
              </a:rPr>
              <a:t>Weeks 3–4</a:t>
            </a:r>
            <a:endParaRPr lang="en-US" sz="900" dirty="0"/>
          </a:p>
        </p:txBody>
      </p:sp>
      <p:sp>
        <p:nvSpPr>
          <p:cNvPr id="11" name="Text 9"/>
          <p:cNvSpPr txBox="1"/>
          <p:nvPr/>
        </p:nvSpPr>
        <p:spPr>
          <a:xfrm>
            <a:off x="2670048" y="1481328"/>
            <a:ext cx="1737360" cy="320040"/>
          </a:xfrm>
          <a:prstGeom prst="rect">
            <a:avLst/>
          </a:prstGeom>
          <a:noFill/>
          <a:ln/>
        </p:spPr>
        <p:txBody>
          <a:bodyPr wrap="square" lIns="0" tIns="0" rIns="0" bIns="0" rtlCol="0" anchor="ctr"/>
          <a:lstStyle/>
          <a:p>
            <a:pPr indent="0" marL="0">
              <a:buNone/>
            </a:pPr>
            <a:r>
              <a:rPr lang="en-US" sz="1400" b="1" dirty="0">
                <a:solidFill>
                  <a:srgbClr val="14213D"/>
                </a:solidFill>
                <a:latin typeface="Cambria" pitchFamily="34" charset="0"/>
                <a:ea typeface="Cambria" pitchFamily="34" charset="-122"/>
                <a:cs typeface="Cambria" pitchFamily="34" charset="-120"/>
              </a:rPr>
              <a:t>Secure and scale</a:t>
            </a:r>
            <a:endParaRPr lang="en-US" sz="1400" dirty="0"/>
          </a:p>
        </p:txBody>
      </p:sp>
      <p:sp>
        <p:nvSpPr>
          <p:cNvPr id="12" name="Text 10"/>
          <p:cNvSpPr txBox="1"/>
          <p:nvPr/>
        </p:nvSpPr>
        <p:spPr>
          <a:xfrm>
            <a:off x="2670048" y="1874520"/>
            <a:ext cx="1737360" cy="2468880"/>
          </a:xfrm>
          <a:prstGeom prst="rect">
            <a:avLst/>
          </a:prstGeom>
          <a:noFill/>
          <a:ln/>
        </p:spPr>
        <p:txBody>
          <a:bodyPr wrap="square" lIns="0" tIns="0" rIns="0" bIns="0" rtlCol="0" anchor="t"/>
          <a:lstStyle/>
          <a:p>
            <a:pPr marL="342900" indent="-342900">
              <a:spcAft>
                <a:spcPts val="400"/>
              </a:spcAft>
              <a:buSzPct val="100000"/>
              <a:buChar char="•"/>
            </a:pPr>
            <a:r>
              <a:rPr lang="en-US" sz="850" dirty="0">
                <a:solidFill>
                  <a:srgbClr val="1B2A41"/>
                </a:solidFill>
                <a:latin typeface="Calibri" pitchFamily="34" charset="0"/>
                <a:ea typeface="Calibri" pitchFamily="34" charset="-122"/>
                <a:cs typeface="Calibri" pitchFamily="34" charset="-120"/>
              </a:rPr>
              <a:t>SSO / RBAC in front of the API</a:t>
            </a:r>
            <a:endParaRPr lang="en-US" sz="850" dirty="0"/>
          </a:p>
          <a:p>
            <a:pPr marL="342900" indent="-342900">
              <a:spcAft>
                <a:spcPts val="400"/>
              </a:spcAft>
              <a:buSzPct val="100000"/>
              <a:buChar char="•"/>
            </a:pPr>
            <a:r>
              <a:rPr lang="en-US" sz="850" dirty="0">
                <a:solidFill>
                  <a:srgbClr val="1B2A41"/>
                </a:solidFill>
                <a:latin typeface="Calibri" pitchFamily="34" charset="0"/>
                <a:ea typeface="Calibri" pitchFamily="34" charset="-122"/>
                <a:cs typeface="Calibri" pitchFamily="34" charset="-120"/>
              </a:rPr>
              <a:t>Tenant isolation for multi-firm deployments</a:t>
            </a:r>
            <a:endParaRPr lang="en-US" sz="850" dirty="0"/>
          </a:p>
          <a:p>
            <a:pPr marL="342900" indent="-342900">
              <a:spcAft>
                <a:spcPts val="400"/>
              </a:spcAft>
              <a:buSzPct val="100000"/>
              <a:buChar char="•"/>
            </a:pPr>
            <a:r>
              <a:rPr lang="en-US" sz="850" dirty="0">
                <a:solidFill>
                  <a:srgbClr val="1B2A41"/>
                </a:solidFill>
                <a:latin typeface="Calibri" pitchFamily="34" charset="0"/>
                <a:ea typeface="Calibri" pitchFamily="34" charset="-122"/>
                <a:cs typeface="Calibri" pitchFamily="34" charset="-120"/>
              </a:rPr>
              <a:t>Durable async ingestion workers for larger corpora</a:t>
            </a:r>
            <a:endParaRPr lang="en-US" sz="850" dirty="0"/>
          </a:p>
        </p:txBody>
      </p:sp>
      <p:sp>
        <p:nvSpPr>
          <p:cNvPr id="13" name="Shape 11"/>
          <p:cNvSpPr/>
          <p:nvPr/>
        </p:nvSpPr>
        <p:spPr>
          <a:xfrm>
            <a:off x="4663440" y="1188720"/>
            <a:ext cx="1965960" cy="3200400"/>
          </a:xfrm>
          <a:prstGeom prst="roundRect">
            <a:avLst>
              <a:gd name="adj" fmla="val 2791"/>
            </a:avLst>
          </a:prstGeom>
          <a:solidFill>
            <a:srgbClr val="F3F6FA"/>
          </a:solidFill>
          <a:ln w="9525">
            <a:solidFill>
              <a:srgbClr val="C9D3E0"/>
            </a:solidFill>
            <a:prstDash val="solid"/>
          </a:ln>
        </p:spPr>
      </p:sp>
      <p:sp>
        <p:nvSpPr>
          <p:cNvPr id="14" name="Text 12"/>
          <p:cNvSpPr txBox="1"/>
          <p:nvPr/>
        </p:nvSpPr>
        <p:spPr>
          <a:xfrm>
            <a:off x="4773168" y="1243584"/>
            <a:ext cx="1737360" cy="256032"/>
          </a:xfrm>
          <a:prstGeom prst="rect">
            <a:avLst/>
          </a:prstGeom>
          <a:noFill/>
          <a:ln/>
        </p:spPr>
        <p:txBody>
          <a:bodyPr wrap="square" lIns="0" tIns="0" rIns="0" bIns="0" rtlCol="0" anchor="ctr"/>
          <a:lstStyle/>
          <a:p>
            <a:pPr indent="0" marL="0">
              <a:buNone/>
            </a:pPr>
            <a:r>
              <a:rPr lang="en-US" sz="900" b="1" spc="100" kern="0" dirty="0">
                <a:solidFill>
                  <a:srgbClr val="2EC4B6"/>
                </a:solidFill>
                <a:latin typeface="Calibri" pitchFamily="34" charset="0"/>
                <a:ea typeface="Calibri" pitchFamily="34" charset="-122"/>
                <a:cs typeface="Calibri" pitchFamily="34" charset="-120"/>
              </a:rPr>
              <a:t>Weeks 5–6</a:t>
            </a:r>
            <a:endParaRPr lang="en-US" sz="900" dirty="0"/>
          </a:p>
        </p:txBody>
      </p:sp>
      <p:sp>
        <p:nvSpPr>
          <p:cNvPr id="15" name="Text 13"/>
          <p:cNvSpPr txBox="1"/>
          <p:nvPr/>
        </p:nvSpPr>
        <p:spPr>
          <a:xfrm>
            <a:off x="4773168" y="1481328"/>
            <a:ext cx="1737360" cy="320040"/>
          </a:xfrm>
          <a:prstGeom prst="rect">
            <a:avLst/>
          </a:prstGeom>
          <a:noFill/>
          <a:ln/>
        </p:spPr>
        <p:txBody>
          <a:bodyPr wrap="square" lIns="0" tIns="0" rIns="0" bIns="0" rtlCol="0" anchor="ctr"/>
          <a:lstStyle/>
          <a:p>
            <a:pPr indent="0" marL="0">
              <a:buNone/>
            </a:pPr>
            <a:r>
              <a:rPr lang="en-US" sz="1400" b="1" dirty="0">
                <a:solidFill>
                  <a:srgbClr val="14213D"/>
                </a:solidFill>
                <a:latin typeface="Cambria" pitchFamily="34" charset="0"/>
                <a:ea typeface="Cambria" pitchFamily="34" charset="-122"/>
                <a:cs typeface="Cambria" pitchFamily="34" charset="-120"/>
              </a:rPr>
              <a:t>Measure on live</a:t>
            </a:r>
            <a:endParaRPr lang="en-US" sz="1400" dirty="0"/>
          </a:p>
        </p:txBody>
      </p:sp>
      <p:sp>
        <p:nvSpPr>
          <p:cNvPr id="16" name="Text 14"/>
          <p:cNvSpPr txBox="1"/>
          <p:nvPr/>
        </p:nvSpPr>
        <p:spPr>
          <a:xfrm>
            <a:off x="4773168" y="1874520"/>
            <a:ext cx="1737360" cy="2468880"/>
          </a:xfrm>
          <a:prstGeom prst="rect">
            <a:avLst/>
          </a:prstGeom>
          <a:noFill/>
          <a:ln/>
        </p:spPr>
        <p:txBody>
          <a:bodyPr wrap="square" lIns="0" tIns="0" rIns="0" bIns="0" rtlCol="0" anchor="t"/>
          <a:lstStyle/>
          <a:p>
            <a:pPr marL="342900" indent="-342900">
              <a:spcAft>
                <a:spcPts val="400"/>
              </a:spcAft>
              <a:buSzPct val="100000"/>
              <a:buChar char="•"/>
            </a:pPr>
            <a:r>
              <a:rPr lang="en-US" sz="850" dirty="0">
                <a:solidFill>
                  <a:srgbClr val="1B2A41"/>
                </a:solidFill>
                <a:latin typeface="Calibri" pitchFamily="34" charset="0"/>
                <a:ea typeface="Calibri" pitchFamily="34" charset="-122"/>
                <a:cs typeface="Calibri" pitchFamily="34" charset="-120"/>
              </a:rPr>
              <a:t>A live OpenAI cost and quality run to replace the pending figures</a:t>
            </a:r>
            <a:endParaRPr lang="en-US" sz="850" dirty="0"/>
          </a:p>
          <a:p>
            <a:pPr marL="342900" indent="-342900">
              <a:spcAft>
                <a:spcPts val="400"/>
              </a:spcAft>
              <a:buSzPct val="100000"/>
              <a:buChar char="•"/>
            </a:pPr>
            <a:r>
              <a:rPr lang="en-US" sz="850" dirty="0">
                <a:solidFill>
                  <a:srgbClr val="1B2A41"/>
                </a:solidFill>
                <a:latin typeface="Calibri" pitchFamily="34" charset="0"/>
                <a:ea typeface="Calibri" pitchFamily="34" charset="-122"/>
                <a:cs typeface="Calibri" pitchFamily="34" charset="-120"/>
              </a:rPr>
              <a:t>Cross-encoder reranker evaluated on a non-synthetic corpus</a:t>
            </a:r>
            <a:endParaRPr lang="en-US" sz="850" dirty="0"/>
          </a:p>
          <a:p>
            <a:pPr marL="342900" indent="-342900">
              <a:spcAft>
                <a:spcPts val="400"/>
              </a:spcAft>
              <a:buSzPct val="100000"/>
              <a:buChar char="•"/>
            </a:pPr>
            <a:r>
              <a:rPr lang="en-US" sz="850" dirty="0">
                <a:solidFill>
                  <a:srgbClr val="1B2A41"/>
                </a:solidFill>
                <a:latin typeface="Calibri" pitchFamily="34" charset="0"/>
                <a:ea typeface="Calibri" pitchFamily="34" charset="-122"/>
                <a:cs typeface="Calibri" pitchFamily="34" charset="-120"/>
              </a:rPr>
              <a:t>Source-page citation highlighting in the UI</a:t>
            </a:r>
            <a:endParaRPr lang="en-US" sz="850" dirty="0"/>
          </a:p>
        </p:txBody>
      </p:sp>
      <p:sp>
        <p:nvSpPr>
          <p:cNvPr id="17" name="Shape 15"/>
          <p:cNvSpPr/>
          <p:nvPr/>
        </p:nvSpPr>
        <p:spPr>
          <a:xfrm>
            <a:off x="6766560" y="1188720"/>
            <a:ext cx="1965960" cy="3200400"/>
          </a:xfrm>
          <a:prstGeom prst="roundRect">
            <a:avLst>
              <a:gd name="adj" fmla="val 2791"/>
            </a:avLst>
          </a:prstGeom>
          <a:solidFill>
            <a:srgbClr val="F3F6FA"/>
          </a:solidFill>
          <a:ln w="9525">
            <a:solidFill>
              <a:srgbClr val="C9D3E0"/>
            </a:solidFill>
            <a:prstDash val="solid"/>
          </a:ln>
        </p:spPr>
      </p:sp>
      <p:sp>
        <p:nvSpPr>
          <p:cNvPr id="18" name="Text 16"/>
          <p:cNvSpPr txBox="1"/>
          <p:nvPr/>
        </p:nvSpPr>
        <p:spPr>
          <a:xfrm>
            <a:off x="6876288" y="1243584"/>
            <a:ext cx="1737360" cy="256032"/>
          </a:xfrm>
          <a:prstGeom prst="rect">
            <a:avLst/>
          </a:prstGeom>
          <a:noFill/>
          <a:ln/>
        </p:spPr>
        <p:txBody>
          <a:bodyPr wrap="square" lIns="0" tIns="0" rIns="0" bIns="0" rtlCol="0" anchor="ctr"/>
          <a:lstStyle/>
          <a:p>
            <a:pPr indent="0" marL="0">
              <a:buNone/>
            </a:pPr>
            <a:r>
              <a:rPr lang="en-US" sz="900" b="1" spc="100" kern="0" dirty="0">
                <a:solidFill>
                  <a:srgbClr val="2EC4B6"/>
                </a:solidFill>
                <a:latin typeface="Calibri" pitchFamily="34" charset="0"/>
                <a:ea typeface="Calibri" pitchFamily="34" charset="-122"/>
                <a:cs typeface="Calibri" pitchFamily="34" charset="-120"/>
              </a:rPr>
              <a:t>Week 7+</a:t>
            </a:r>
            <a:endParaRPr lang="en-US" sz="900" dirty="0"/>
          </a:p>
        </p:txBody>
      </p:sp>
      <p:sp>
        <p:nvSpPr>
          <p:cNvPr id="19" name="Text 17"/>
          <p:cNvSpPr txBox="1"/>
          <p:nvPr/>
        </p:nvSpPr>
        <p:spPr>
          <a:xfrm>
            <a:off x="6876288" y="1481328"/>
            <a:ext cx="1737360" cy="320040"/>
          </a:xfrm>
          <a:prstGeom prst="rect">
            <a:avLst/>
          </a:prstGeom>
          <a:noFill/>
          <a:ln/>
        </p:spPr>
        <p:txBody>
          <a:bodyPr wrap="square" lIns="0" tIns="0" rIns="0" bIns="0" rtlCol="0" anchor="ctr"/>
          <a:lstStyle/>
          <a:p>
            <a:pPr indent="0" marL="0">
              <a:buNone/>
            </a:pPr>
            <a:r>
              <a:rPr lang="en-US" sz="1400" b="1" dirty="0">
                <a:solidFill>
                  <a:srgbClr val="14213D"/>
                </a:solidFill>
                <a:latin typeface="Cambria" pitchFamily="34" charset="0"/>
                <a:ea typeface="Cambria" pitchFamily="34" charset="-122"/>
                <a:cs typeface="Cambria" pitchFamily="34" charset="-120"/>
              </a:rPr>
              <a:t>Operate</a:t>
            </a:r>
            <a:endParaRPr lang="en-US" sz="1400" dirty="0"/>
          </a:p>
        </p:txBody>
      </p:sp>
      <p:sp>
        <p:nvSpPr>
          <p:cNvPr id="20" name="Text 18"/>
          <p:cNvSpPr txBox="1"/>
          <p:nvPr/>
        </p:nvSpPr>
        <p:spPr>
          <a:xfrm>
            <a:off x="6876288" y="1874520"/>
            <a:ext cx="1737360" cy="2468880"/>
          </a:xfrm>
          <a:prstGeom prst="rect">
            <a:avLst/>
          </a:prstGeom>
          <a:noFill/>
          <a:ln/>
        </p:spPr>
        <p:txBody>
          <a:bodyPr wrap="square" lIns="0" tIns="0" rIns="0" bIns="0" rtlCol="0" anchor="t"/>
          <a:lstStyle/>
          <a:p>
            <a:pPr marL="342900" indent="-342900">
              <a:spcAft>
                <a:spcPts val="400"/>
              </a:spcAft>
              <a:buSzPct val="100000"/>
              <a:buChar char="•"/>
            </a:pPr>
            <a:r>
              <a:rPr lang="en-US" sz="850" dirty="0">
                <a:solidFill>
                  <a:srgbClr val="1B2A41"/>
                </a:solidFill>
                <a:latin typeface="Calibri" pitchFamily="34" charset="0"/>
                <a:ea typeface="Calibri" pitchFamily="34" charset="-122"/>
                <a:cs typeface="Calibri" pitchFamily="34" charset="-120"/>
              </a:rPr>
              <a:t>OpenTelemetry / Prometheus-style observability</a:t>
            </a:r>
            <a:endParaRPr lang="en-US" sz="850" dirty="0"/>
          </a:p>
          <a:p>
            <a:pPr marL="342900" indent="-342900">
              <a:spcAft>
                <a:spcPts val="400"/>
              </a:spcAft>
              <a:buSzPct val="100000"/>
              <a:buChar char="•"/>
            </a:pPr>
            <a:r>
              <a:rPr lang="en-US" sz="850" dirty="0">
                <a:solidFill>
                  <a:srgbClr val="1B2A41"/>
                </a:solidFill>
                <a:latin typeface="Calibri" pitchFamily="34" charset="0"/>
                <a:ea typeface="Calibri" pitchFamily="34" charset="-122"/>
                <a:cs typeface="Calibri" pitchFamily="34" charset="-120"/>
              </a:rPr>
              <a:t>A tamper-evident audit sink (external anchor for the hash chain)</a:t>
            </a:r>
            <a:endParaRPr lang="en-US" sz="850" dirty="0"/>
          </a:p>
          <a:p>
            <a:pPr marL="342900" indent="-342900">
              <a:spcAft>
                <a:spcPts val="400"/>
              </a:spcAft>
              <a:buSzPct val="100000"/>
              <a:buChar char="•"/>
            </a:pPr>
            <a:r>
              <a:rPr lang="en-US" sz="850" dirty="0">
                <a:solidFill>
                  <a:srgbClr val="1B2A41"/>
                </a:solidFill>
                <a:latin typeface="Calibri" pitchFamily="34" charset="0"/>
                <a:ea typeface="Calibri" pitchFamily="34" charset="-122"/>
                <a:cs typeface="Calibri" pitchFamily="34" charset="-120"/>
              </a:rPr>
              <a:t>Managed deployment path for client infrastructure</a:t>
            </a:r>
            <a:endParaRPr lang="en-US" sz="850" dirty="0"/>
          </a:p>
        </p:txBody>
      </p:sp>
      <p:sp>
        <p:nvSpPr>
          <p:cNvPr id="21" name="Text 19"/>
          <p:cNvSpPr txBox="1"/>
          <p:nvPr/>
        </p:nvSpPr>
        <p:spPr>
          <a:xfrm>
            <a:off x="457200" y="4526280"/>
            <a:ext cx="8229600" cy="274320"/>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Everything above is additive: the verifier, the abstention rule and the audit-chain contract do not change.</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5486400" cy="228600"/>
          </a:xfrm>
          <a:prstGeom prst="rect">
            <a:avLst/>
          </a:prstGeom>
          <a:noFill/>
          <a:ln/>
        </p:spPr>
        <p:txBody>
          <a:bodyPr wrap="square" lIns="0" tIns="0" rIns="0" bIns="0" rtlCol="0" anchor="ctr"/>
          <a:lstStyle/>
          <a:p>
            <a:pPr indent="0" marL="0">
              <a:buNone/>
            </a:pPr>
            <a:r>
              <a:rPr lang="en-US" sz="1000" b="1" spc="200" kern="0" dirty="0">
                <a:solidFill>
                  <a:srgbClr val="2EC4B6"/>
                </a:solidFill>
                <a:latin typeface="Calibri" pitchFamily="34" charset="0"/>
                <a:ea typeface="Calibri" pitchFamily="34" charset="-122"/>
                <a:cs typeface="Calibri" pitchFamily="34" charset="-120"/>
              </a:rPr>
              <a:t>APPENDIX</a:t>
            </a:r>
            <a:endParaRPr lang="en-US" sz="1000" dirty="0"/>
          </a:p>
        </p:txBody>
      </p:sp>
      <p:sp>
        <p:nvSpPr>
          <p:cNvPr id="3" name="Text 1"/>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600" b="1" dirty="0">
                <a:solidFill>
                  <a:srgbClr val="14213D"/>
                </a:solidFill>
                <a:latin typeface="Cambria" pitchFamily="34" charset="0"/>
                <a:ea typeface="Cambria" pitchFamily="34" charset="-122"/>
                <a:cs typeface="Cambria" pitchFamily="34" charset="-120"/>
              </a:rPr>
              <a:t>Appendix A — Decision log (abridged)</a:t>
            </a:r>
            <a:endParaRPr lang="en-US" sz="2600" dirty="0"/>
          </a:p>
        </p:txBody>
      </p:sp>
      <p:sp>
        <p:nvSpPr>
          <p:cNvPr id="4" name="Text 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6B7A90"/>
                </a:solidFill>
                <a:latin typeface="Calibri" pitchFamily="34" charset="0"/>
                <a:ea typeface="Calibri" pitchFamily="34" charset="-122"/>
                <a:cs typeface="Calibri" pitchFamily="34" charset="-120"/>
              </a:rPr>
              <a:t>RegLens · AI Systems Architecture Review · 23</a:t>
            </a:r>
            <a:endParaRPr lang="en-US" sz="8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005840"/>
                <a:gridCol w="4206240"/>
                <a:gridCol w="3017520"/>
              </a:tblGrid>
              <a:tr h="0">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Area</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Decision</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Consequence</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14213D"/>
                    </a:solidFill>
                  </a:tcPr>
                </a:tc>
              </a:tr>
              <a:tr h="0">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Grounding</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Citations and quotes verified in code after generation, not asserted by the prompt</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citations.py / quote_verifier.py; four rejection tests; citation faithfulness is a measured KPI</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Refusal</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Only a refusal may carry zero citations; any other answer without one is rejected</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Weak evidence produces an honest abstention instead of a confident guess</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Providers</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Fake embeddings/LLM/reranker are real implementations bound by default</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275 tests + eval + UI run with no key, no Qdrant, no model download</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Providers</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Live providers fail closed: a key alone never enables them</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test_openai_api_key_env_does_not_enable_live_providers_by_itself</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Retrieval</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Hybrid BM25 + dense via RRF; exact-citation queries are pinned before fusion</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A question naming a rule number always sees that rule's chunks first</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Ingestion</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Remote ingestion is HTTPS-only and allowlisted to FINRA domains, with a local snapshot</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Provenance for remote sources does not depend on the live page staying reachable</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Audit</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Query audit rows are append-only; re-saving an existing query_id is rejected</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The audit trail cannot be silently edited by a retry or a bug</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Scope</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OCR is a documented, deferred decision; scanned PDFs fail closed</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No uncertain OCR text can enter a compliance answer without an explicit policy</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5486400" cy="228600"/>
          </a:xfrm>
          <a:prstGeom prst="rect">
            <a:avLst/>
          </a:prstGeom>
          <a:noFill/>
          <a:ln/>
        </p:spPr>
        <p:txBody>
          <a:bodyPr wrap="square" lIns="0" tIns="0" rIns="0" bIns="0" rtlCol="0" anchor="ctr"/>
          <a:lstStyle/>
          <a:p>
            <a:pPr indent="0" marL="0">
              <a:buNone/>
            </a:pPr>
            <a:r>
              <a:rPr lang="en-US" sz="1000" b="1" spc="200" kern="0" dirty="0">
                <a:solidFill>
                  <a:srgbClr val="2EC4B6"/>
                </a:solidFill>
                <a:latin typeface="Calibri" pitchFamily="34" charset="0"/>
                <a:ea typeface="Calibri" pitchFamily="34" charset="-122"/>
                <a:cs typeface="Calibri" pitchFamily="34" charset="-120"/>
              </a:rPr>
              <a:t>APPENDIX</a:t>
            </a:r>
            <a:endParaRPr lang="en-US" sz="1000" dirty="0"/>
          </a:p>
        </p:txBody>
      </p:sp>
      <p:sp>
        <p:nvSpPr>
          <p:cNvPr id="3" name="Text 1"/>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600" b="1" dirty="0">
                <a:solidFill>
                  <a:srgbClr val="14213D"/>
                </a:solidFill>
                <a:latin typeface="Cambria" pitchFamily="34" charset="0"/>
                <a:ea typeface="Cambria" pitchFamily="34" charset="-122"/>
                <a:cs typeface="Cambria" pitchFamily="34" charset="-120"/>
              </a:rPr>
              <a:t>Appendix B — Build statistics and lessons</a:t>
            </a:r>
            <a:endParaRPr lang="en-US" sz="2600" dirty="0"/>
          </a:p>
        </p:txBody>
      </p:sp>
      <p:sp>
        <p:nvSpPr>
          <p:cNvPr id="4" name="Text 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6B7A90"/>
                </a:solidFill>
                <a:latin typeface="Calibri" pitchFamily="34" charset="0"/>
                <a:ea typeface="Calibri" pitchFamily="34" charset="-122"/>
                <a:cs typeface="Calibri" pitchFamily="34" charset="-120"/>
              </a:rPr>
              <a:t>RegLens · AI Systems Architecture Review · 24</a:t>
            </a:r>
            <a:endParaRPr lang="en-US" sz="8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926080"/>
                <a:gridCol w="5303520"/>
              </a:tblGrid>
              <a:tr h="0">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Item</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Value</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14213D"/>
                    </a:solidFill>
                  </a:tcPr>
                </a:tc>
              </a:tr>
              <a:tr h="0">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Build waves (docs/CHANGELOG.md)</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13, Wave 1 (foundation) through Wave 13 (production hardening)</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Tests, default marker set</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275 passed, 5 deselected (live_openai, requires_browser, requires_qdrant, requires_model_download)</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Eval fixture</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21 cases (14 answerable, 3 out-of-scope, 4 adversarial source-instruction safety) over 2 corpora</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CI jobs</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default-verify (lint, mypy, tests, eval, README card drift) and container-verify, on every push/PR</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Optional profiles</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test-browser, test-qdrant, test-models, test-container, verify-openai, verify-full-local</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Lines of code (app/ + tests/)</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 19,600 across 123 files</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bl>
          </a:graphicData>
        </a:graphic>
      </p:graphicFrame>
      <p:sp>
        <p:nvSpPr>
          <p:cNvPr id="6" name="Shape 3"/>
          <p:cNvSpPr/>
          <p:nvPr/>
        </p:nvSpPr>
        <p:spPr>
          <a:xfrm>
            <a:off x="457200" y="3246120"/>
            <a:ext cx="8229600" cy="1234440"/>
          </a:xfrm>
          <a:prstGeom prst="roundRect">
            <a:avLst>
              <a:gd name="adj" fmla="val 4444"/>
            </a:avLst>
          </a:prstGeom>
          <a:solidFill>
            <a:srgbClr val="F3F6FA"/>
          </a:solidFill>
          <a:ln w="9525">
            <a:solidFill>
              <a:srgbClr val="C9D3E0"/>
            </a:solidFill>
            <a:prstDash val="solid"/>
          </a:ln>
        </p:spPr>
      </p:sp>
      <p:sp>
        <p:nvSpPr>
          <p:cNvPr id="7" name="Text 4"/>
          <p:cNvSpPr txBox="1"/>
          <p:nvPr/>
        </p:nvSpPr>
        <p:spPr>
          <a:xfrm>
            <a:off x="548640" y="3300984"/>
            <a:ext cx="804672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Lessons the design carries forward</a:t>
            </a:r>
            <a:endParaRPr lang="en-US" sz="1100" dirty="0"/>
          </a:p>
        </p:txBody>
      </p:sp>
      <p:sp>
        <p:nvSpPr>
          <p:cNvPr id="8" name="Text 5"/>
          <p:cNvSpPr txBox="1"/>
          <p:nvPr/>
        </p:nvSpPr>
        <p:spPr>
          <a:xfrm>
            <a:off x="548640" y="3557016"/>
            <a:ext cx="8046720" cy="868680"/>
          </a:xfrm>
          <a:prstGeom prst="rect">
            <a:avLst/>
          </a:prstGeom>
          <a:noFill/>
          <a:ln/>
        </p:spPr>
        <p:txBody>
          <a:bodyPr wrap="square" lIns="0" tIns="0" rIns="0" bIns="0" rtlCol="0" anchor="t"/>
          <a:lstStyle/>
          <a:p>
            <a:pPr indent="0" marL="0">
              <a:buNone/>
            </a:pPr>
            <a:r>
              <a:rPr lang="en-US" sz="900" dirty="0">
                <a:solidFill>
                  <a:srgbClr val="1B2A41"/>
                </a:solidFill>
                <a:latin typeface="Calibri" pitchFamily="34" charset="0"/>
                <a:ea typeface="Calibri" pitchFamily="34" charset="-122"/>
                <a:cs typeface="Calibri" pitchFamily="34" charset="-120"/>
              </a:rPr>
              <a:t>• Verification belongs in code that runs after generation, not in prompt instructions the model can drift away from.</a:t>
            </a:r>
            <a:endParaRPr lang="en-US" sz="900" dirty="0"/>
          </a:p>
          <a:p>
            <a:pPr indent="0" marL="0">
              <a:buNone/>
            </a:pPr>
            <a:r>
              <a:rPr lang="en-US" sz="900" dirty="0">
                <a:solidFill>
                  <a:srgbClr val="1B2A41"/>
                </a:solidFill>
                <a:latin typeface="Calibri" pitchFamily="34" charset="0"/>
                <a:ea typeface="Calibri" pitchFamily="34" charset="-122"/>
                <a:cs typeface="Calibri" pitchFamily="34" charset="-120"/>
              </a:rPr>
              <a:t>• A fake provider must satisfy the real interface, or the tests it enables are not proving anything about production.</a:t>
            </a:r>
            <a:endParaRPr lang="en-US" sz="900" dirty="0"/>
          </a:p>
          <a:p>
            <a:pPr indent="0" marL="0">
              <a:buNone/>
            </a:pPr>
            <a:r>
              <a:rPr lang="en-US" sz="900" dirty="0">
                <a:solidFill>
                  <a:srgbClr val="1B2A41"/>
                </a:solidFill>
                <a:latin typeface="Calibri" pitchFamily="34" charset="0"/>
                <a:ea typeface="Calibri" pitchFamily="34" charset="-122"/>
                <a:cs typeface="Calibri" pitchFamily="34" charset="-120"/>
              </a:rPr>
              <a:t>• An audit trail is only trustworthy if the store rejects edits at the boundary (append-only), not by convention.</a:t>
            </a:r>
            <a:endParaRPr lang="en-US" sz="900" dirty="0"/>
          </a:p>
          <a:p>
            <a:pPr indent="0" marL="0">
              <a:buNone/>
            </a:pPr>
            <a:r>
              <a:rPr lang="en-US" sz="900" dirty="0">
                <a:solidFill>
                  <a:srgbClr val="1B2A41"/>
                </a:solidFill>
                <a:latin typeface="Calibri" pitchFamily="34" charset="0"/>
                <a:ea typeface="Calibri" pitchFamily="34" charset="-122"/>
                <a:cs typeface="Calibri" pitchFamily="34" charset="-120"/>
              </a:rPr>
              <a:t>• Optional heavy dependencies (Qdrant, OpenAI, cross-encoder) should fail closed with a structured error, never a crash.</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5486400" cy="228600"/>
          </a:xfrm>
          <a:prstGeom prst="rect">
            <a:avLst/>
          </a:prstGeom>
          <a:noFill/>
          <a:ln/>
        </p:spPr>
        <p:txBody>
          <a:bodyPr wrap="square" lIns="0" tIns="0" rIns="0" bIns="0" rtlCol="0" anchor="ctr"/>
          <a:lstStyle/>
          <a:p>
            <a:pPr indent="0" marL="0">
              <a:buNone/>
            </a:pPr>
            <a:r>
              <a:rPr lang="en-US" sz="1000" b="1" spc="200" kern="0" dirty="0">
                <a:solidFill>
                  <a:srgbClr val="2EC4B6"/>
                </a:solidFill>
                <a:latin typeface="Calibri" pitchFamily="34" charset="0"/>
                <a:ea typeface="Calibri" pitchFamily="34" charset="-122"/>
                <a:cs typeface="Calibri" pitchFamily="34" charset="-120"/>
              </a:rPr>
              <a:t>APPENDIX</a:t>
            </a:r>
            <a:endParaRPr lang="en-US" sz="1000" dirty="0"/>
          </a:p>
        </p:txBody>
      </p:sp>
      <p:sp>
        <p:nvSpPr>
          <p:cNvPr id="3" name="Text 1"/>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600" b="1" dirty="0">
                <a:solidFill>
                  <a:srgbClr val="14213D"/>
                </a:solidFill>
                <a:latin typeface="Cambria" pitchFamily="34" charset="0"/>
                <a:ea typeface="Cambria" pitchFamily="34" charset="-122"/>
                <a:cs typeface="Cambria" pitchFamily="34" charset="-120"/>
              </a:rPr>
              <a:t>Appendix C — Repository map and how to run</a:t>
            </a:r>
            <a:endParaRPr lang="en-US" sz="2600" dirty="0"/>
          </a:p>
        </p:txBody>
      </p:sp>
      <p:sp>
        <p:nvSpPr>
          <p:cNvPr id="4" name="Text 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6B7A90"/>
                </a:solidFill>
                <a:latin typeface="Calibri" pitchFamily="34" charset="0"/>
                <a:ea typeface="Calibri" pitchFamily="34" charset="-122"/>
                <a:cs typeface="Calibri" pitchFamily="34" charset="-120"/>
              </a:rPr>
              <a:t>RegLens · AI Systems Architecture Review · 25</a:t>
            </a:r>
            <a:endParaRPr lang="en-US" sz="800" dirty="0"/>
          </a:p>
        </p:txBody>
      </p:sp>
      <p:sp>
        <p:nvSpPr>
          <p:cNvPr id="5" name="Text 3"/>
          <p:cNvSpPr txBox="1"/>
          <p:nvPr/>
        </p:nvSpPr>
        <p:spPr>
          <a:xfrm>
            <a:off x="457200" y="1188720"/>
            <a:ext cx="5120640" cy="3017520"/>
          </a:xfrm>
          <a:prstGeom prst="rect">
            <a:avLst/>
          </a:prstGeom>
          <a:noFill/>
          <a:ln/>
        </p:spPr>
        <p:txBody>
          <a:bodyPr wrap="square" lIns="0" tIns="0" rIns="0" bIns="0" rtlCol="0" anchor="t"/>
          <a:lstStyle/>
          <a:p>
            <a:pPr indent="0" marL="0">
              <a:buNone/>
            </a:pPr>
            <a:r>
              <a:rPr lang="en-US" sz="750" dirty="0">
                <a:solidFill>
                  <a:srgbClr val="1B2A41"/>
                </a:solidFill>
                <a:latin typeface="Courier New" pitchFamily="34" charset="0"/>
                <a:ea typeface="Courier New" pitchFamily="34" charset="-122"/>
                <a:cs typeface="Courier New" pitchFamily="34" charset="-120"/>
              </a:rPr>
              <a:t>app/                FastAPI app: main.py, core (config, security,</a:t>
            </a:r>
            <a:endParaRPr lang="en-US" sz="750" dirty="0"/>
          </a:p>
          <a:p>
            <a:pPr indent="0" marL="0">
              <a:buNone/>
            </a:pPr>
            <a:r>
              <a:rPr lang="en-US" sz="750" dirty="0">
                <a:solidFill>
                  <a:srgbClr val="1B2A41"/>
                </a:solidFill>
                <a:latin typeface="Courier New" pitchFamily="34" charset="0"/>
                <a:ea typeface="Courier New" pitchFamily="34" charset="-122"/>
                <a:cs typeface="Courier New" pitchFamily="34" charset="-120"/>
              </a:rPr>
              <a:t>                    costing, errors), domain (ids, models)</a:t>
            </a:r>
            <a:endParaRPr lang="en-US" sz="750" dirty="0"/>
          </a:p>
          <a:p>
            <a:pPr indent="0" marL="0">
              <a:buNone/>
            </a:pPr>
            <a:r>
              <a:rPr lang="en-US" sz="750" dirty="0">
                <a:solidFill>
                  <a:srgbClr val="1B2A41"/>
                </a:solidFill>
                <a:latin typeface="Courier New" pitchFamily="34" charset="0"/>
                <a:ea typeface="Courier New" pitchFamily="34" charset="-122"/>
                <a:cs typeface="Courier New" pitchFamily="34" charset="-120"/>
              </a:rPr>
              <a:t>app/api/            routes_ui, routes_query, routes_admin, routes_audit</a:t>
            </a:r>
            <a:endParaRPr lang="en-US" sz="750" dirty="0"/>
          </a:p>
          <a:p>
            <a:pPr indent="0" marL="0">
              <a:buNone/>
            </a:pPr>
            <a:r>
              <a:rPr lang="en-US" sz="750" dirty="0">
                <a:solidFill>
                  <a:srgbClr val="1B2A41"/>
                </a:solidFill>
                <a:latin typeface="Courier New" pitchFamily="34" charset="0"/>
                <a:ea typeface="Courier New" pitchFamily="34" charset="-122"/>
                <a:cs typeface="Courier New" pitchFamily="34" charset="-120"/>
              </a:rPr>
              <a:t>app/ingestion/      loaders, chunking, normalizers</a:t>
            </a:r>
            <a:endParaRPr lang="en-US" sz="750" dirty="0"/>
          </a:p>
          <a:p>
            <a:pPr indent="0" marL="0">
              <a:buNone/>
            </a:pPr>
            <a:r>
              <a:rPr lang="en-US" sz="750" dirty="0">
                <a:solidFill>
                  <a:srgbClr val="1B2A41"/>
                </a:solidFill>
                <a:latin typeface="Courier New" pitchFamily="34" charset="0"/>
                <a:ea typeface="Courier New" pitchFamily="34" charset="-122"/>
                <a:cs typeface="Courier New" pitchFamily="34" charset="-120"/>
              </a:rPr>
              <a:t>app/retrieval/      keyword (BM25), embeddings, qdrant_store, fusion,</a:t>
            </a:r>
            <a:endParaRPr lang="en-US" sz="750" dirty="0"/>
          </a:p>
          <a:p>
            <a:pPr indent="0" marL="0">
              <a:buNone/>
            </a:pPr>
            <a:r>
              <a:rPr lang="en-US" sz="750" dirty="0">
                <a:solidFill>
                  <a:srgbClr val="1B2A41"/>
                </a:solidFill>
                <a:latin typeface="Courier New" pitchFamily="34" charset="0"/>
                <a:ea typeface="Courier New" pitchFamily="34" charset="-122"/>
                <a:cs typeface="Courier New" pitchFamily="34" charset="-120"/>
              </a:rPr>
              <a:t>                    rerank, cross_encoder_reranker, service</a:t>
            </a:r>
            <a:endParaRPr lang="en-US" sz="750" dirty="0"/>
          </a:p>
          <a:p>
            <a:pPr indent="0" marL="0">
              <a:buNone/>
            </a:pPr>
            <a:r>
              <a:rPr lang="en-US" sz="750" dirty="0">
                <a:solidFill>
                  <a:srgbClr val="1B2A41"/>
                </a:solidFill>
                <a:latin typeface="Courier New" pitchFamily="34" charset="0"/>
                <a:ea typeface="Courier New" pitchFamily="34" charset="-122"/>
                <a:cs typeface="Courier New" pitchFamily="34" charset="-120"/>
              </a:rPr>
              <a:t>app/generation/     prompts, llm, openai_llm, citations, quote_verifier,</a:t>
            </a:r>
            <a:endParaRPr lang="en-US" sz="750" dirty="0"/>
          </a:p>
          <a:p>
            <a:pPr indent="0" marL="0">
              <a:buNone/>
            </a:pPr>
            <a:r>
              <a:rPr lang="en-US" sz="750" dirty="0">
                <a:solidFill>
                  <a:srgbClr val="1B2A41"/>
                </a:solidFill>
                <a:latin typeface="Courier New" pitchFamily="34" charset="0"/>
                <a:ea typeface="Courier New" pitchFamily="34" charset="-122"/>
                <a:cs typeface="Courier New" pitchFamily="34" charset="-120"/>
              </a:rPr>
              <a:t>                    warnings, service</a:t>
            </a:r>
            <a:endParaRPr lang="en-US" sz="750" dirty="0"/>
          </a:p>
          <a:p>
            <a:pPr indent="0" marL="0">
              <a:buNone/>
            </a:pPr>
            <a:r>
              <a:rPr lang="en-US" sz="750" dirty="0">
                <a:solidFill>
                  <a:srgbClr val="1B2A41"/>
                </a:solidFill>
                <a:latin typeface="Courier New" pitchFamily="34" charset="0"/>
                <a:ea typeface="Courier New" pitchFamily="34" charset="-122"/>
                <a:cs typeface="Courier New" pitchFamily="34" charset="-120"/>
              </a:rPr>
              <a:t>app/persistence/    db, repositories (SQLite: sources, audits, chat)</a:t>
            </a:r>
            <a:endParaRPr lang="en-US" sz="750" dirty="0"/>
          </a:p>
          <a:p>
            <a:pPr indent="0" marL="0">
              <a:buNone/>
            </a:pPr>
            <a:r>
              <a:rPr lang="en-US" sz="750" dirty="0">
                <a:solidFill>
                  <a:srgbClr val="1B2A41"/>
                </a:solidFill>
                <a:latin typeface="Courier New" pitchFamily="34" charset="0"/>
                <a:ea typeface="Courier New" pitchFamily="34" charset="-122"/>
                <a:cs typeface="Courier New" pitchFamily="34" charset="-120"/>
              </a:rPr>
              <a:t>app/evals/          fixtures/, metrics.py, headline.py</a:t>
            </a:r>
            <a:endParaRPr lang="en-US" sz="750" dirty="0"/>
          </a:p>
          <a:p>
            <a:pPr indent="0" marL="0">
              <a:buNone/>
            </a:pPr>
            <a:r>
              <a:rPr lang="en-US" sz="750" dirty="0">
                <a:solidFill>
                  <a:srgbClr val="1B2A41"/>
                </a:solidFill>
                <a:latin typeface="Courier New" pitchFamily="34" charset="0"/>
                <a:ea typeface="Courier New" pitchFamily="34" charset="-122"/>
                <a:cs typeface="Courier New" pitchFamily="34" charset="-120"/>
              </a:rPr>
              <a:t>tests/              275 default tests (unit, integration, e2e)</a:t>
            </a:r>
            <a:endParaRPr lang="en-US" sz="750" dirty="0"/>
          </a:p>
          <a:p>
            <a:pPr indent="0" marL="0">
              <a:buNone/>
            </a:pPr>
            <a:r>
              <a:rPr lang="en-US" sz="750" dirty="0">
                <a:solidFill>
                  <a:srgbClr val="1B2A41"/>
                </a:solidFill>
                <a:latin typeface="Courier New" pitchFamily="34" charset="0"/>
                <a:ea typeface="Courier New" pitchFamily="34" charset="-122"/>
                <a:cs typeface="Courier New" pitchFamily="34" charset="-120"/>
              </a:rPr>
              <a:t>scripts/            run_evals.py, verify.py</a:t>
            </a:r>
            <a:endParaRPr lang="en-US" sz="750" dirty="0"/>
          </a:p>
          <a:p>
            <a:pPr indent="0" marL="0">
              <a:buNone/>
            </a:pPr>
            <a:r>
              <a:rPr lang="en-US" sz="750" dirty="0">
                <a:solidFill>
                  <a:srgbClr val="1B2A41"/>
                </a:solidFill>
                <a:latin typeface="Courier New" pitchFamily="34" charset="0"/>
                <a:ea typeface="Courier New" pitchFamily="34" charset="-122"/>
                <a:cs typeface="Courier New" pitchFamily="34" charset="-120"/>
              </a:rPr>
              <a:t>metrics/            headline.json, render.py (README card, drift-checked)</a:t>
            </a:r>
            <a:endParaRPr lang="en-US" sz="750" dirty="0"/>
          </a:p>
          <a:p>
            <a:pPr indent="0" marL="0">
              <a:buNone/>
            </a:pPr>
            <a:r>
              <a:rPr lang="en-US" sz="750" dirty="0">
                <a:solidFill>
                  <a:srgbClr val="1B2A41"/>
                </a:solidFill>
                <a:latin typeface="Courier New" pitchFamily="34" charset="0"/>
                <a:ea typeface="Courier New" pitchFamily="34" charset="-122"/>
                <a:cs typeface="Courier New" pitchFamily="34" charset="-120"/>
              </a:rPr>
              <a:t>docs/                OVERVIEW, SHOWCASE, OPERATIONS, CHANGELOG,</a:t>
            </a:r>
            <a:endParaRPr lang="en-US" sz="750" dirty="0"/>
          </a:p>
          <a:p>
            <a:pPr indent="0" marL="0">
              <a:buNone/>
            </a:pPr>
            <a:r>
              <a:rPr lang="en-US" sz="750" dirty="0">
                <a:solidFill>
                  <a:srgbClr val="1B2A41"/>
                </a:solidFill>
                <a:latin typeface="Courier New" pitchFamily="34" charset="0"/>
                <a:ea typeface="Courier New" pitchFamily="34" charset="-122"/>
                <a:cs typeface="Courier New" pitchFamily="34" charset="-120"/>
              </a:rPr>
              <a:t>                    ocr-strategy, project brief, this deck</a:t>
            </a:r>
            <a:endParaRPr lang="en-US" sz="750" dirty="0"/>
          </a:p>
        </p:txBody>
      </p:sp>
      <p:sp>
        <p:nvSpPr>
          <p:cNvPr id="6" name="Shape 4"/>
          <p:cNvSpPr/>
          <p:nvPr/>
        </p:nvSpPr>
        <p:spPr>
          <a:xfrm>
            <a:off x="5760720" y="1188720"/>
            <a:ext cx="2926080" cy="3246120"/>
          </a:xfrm>
          <a:prstGeom prst="roundRect">
            <a:avLst>
              <a:gd name="adj" fmla="val 1875"/>
            </a:avLst>
          </a:prstGeom>
          <a:solidFill>
            <a:srgbClr val="1C2B4F"/>
          </a:solidFill>
          <a:ln w="9525">
            <a:solidFill>
              <a:srgbClr val="1C2B4F"/>
            </a:solidFill>
            <a:prstDash val="solid"/>
          </a:ln>
        </p:spPr>
      </p:sp>
      <p:sp>
        <p:nvSpPr>
          <p:cNvPr id="7" name="Text 5"/>
          <p:cNvSpPr txBox="1"/>
          <p:nvPr/>
        </p:nvSpPr>
        <p:spPr>
          <a:xfrm>
            <a:off x="5897880" y="1261872"/>
            <a:ext cx="2743200" cy="274320"/>
          </a:xfrm>
          <a:prstGeom prst="rect">
            <a:avLst/>
          </a:prstGeom>
          <a:noFill/>
          <a:ln/>
        </p:spPr>
        <p:txBody>
          <a:bodyPr wrap="square" lIns="0" tIns="0" rIns="0" bIns="0" rtlCol="0" anchor="ctr"/>
          <a:lstStyle/>
          <a:p>
            <a:pPr indent="0" marL="0">
              <a:buNone/>
            </a:pPr>
            <a:r>
              <a:rPr lang="en-US" sz="1100" b="1" dirty="0">
                <a:solidFill>
                  <a:srgbClr val="2EC4B6"/>
                </a:solidFill>
                <a:latin typeface="Calibri" pitchFamily="34" charset="0"/>
                <a:ea typeface="Calibri" pitchFamily="34" charset="-122"/>
                <a:cs typeface="Calibri" pitchFamily="34" charset="-120"/>
              </a:rPr>
              <a:t>Run it</a:t>
            </a:r>
            <a:endParaRPr lang="en-US" sz="1100" dirty="0"/>
          </a:p>
        </p:txBody>
      </p:sp>
      <p:sp>
        <p:nvSpPr>
          <p:cNvPr id="8" name="Text 6"/>
          <p:cNvSpPr txBox="1"/>
          <p:nvPr/>
        </p:nvSpPr>
        <p:spPr>
          <a:xfrm>
            <a:off x="5897880" y="1572768"/>
            <a:ext cx="2743200" cy="2788920"/>
          </a:xfrm>
          <a:prstGeom prst="rect">
            <a:avLst/>
          </a:prstGeom>
          <a:noFill/>
          <a:ln/>
        </p:spPr>
        <p:txBody>
          <a:bodyPr wrap="square" lIns="0" tIns="0" rIns="0" bIns="0" rtlCol="0" anchor="t"/>
          <a:lstStyle/>
          <a:p>
            <a:pPr indent="0" marL="0">
              <a:buNone/>
            </a:pPr>
            <a:r>
              <a:rPr lang="en-US" sz="800" dirty="0">
                <a:solidFill>
                  <a:srgbClr val="FFFFFF"/>
                </a:solidFill>
                <a:latin typeface="Courier New" pitchFamily="34" charset="0"/>
                <a:ea typeface="Courier New" pitchFamily="34" charset="-122"/>
                <a:cs typeface="Courier New" pitchFamily="34" charset="-120"/>
              </a:rPr>
              <a:t>python -m venv .venv</a:t>
            </a:r>
            <a:endParaRPr lang="en-US" sz="800" dirty="0"/>
          </a:p>
          <a:p>
            <a:pPr indent="0" marL="0">
              <a:buNone/>
            </a:pPr>
            <a:r>
              <a:rPr lang="en-US" sz="800" dirty="0">
                <a:solidFill>
                  <a:srgbClr val="FFFFFF"/>
                </a:solidFill>
                <a:latin typeface="Courier New" pitchFamily="34" charset="0"/>
                <a:ea typeface="Courier New" pitchFamily="34" charset="-122"/>
                <a:cs typeface="Courier New" pitchFamily="34" charset="-120"/>
              </a:rPr>
              <a:t>make install</a:t>
            </a:r>
            <a:endParaRPr lang="en-US" sz="800" dirty="0"/>
          </a:p>
          <a:p>
            <a:pPr indent="0" marL="0">
              <a:buNone/>
            </a:pPr>
            <a:r>
              <a:rPr lang="en-US" sz="800" dirty="0">
                <a:solidFill>
                  <a:srgbClr val="FFFFFF"/>
                </a:solidFill>
                <a:latin typeface="Courier New" pitchFamily="34" charset="0"/>
                <a:ea typeface="Courier New" pitchFamily="34" charset="-122"/>
                <a:cs typeface="Courier New" pitchFamily="34" charset="-120"/>
              </a:rPr>
              <a:t>make verify</a:t>
            </a:r>
            <a:endParaRPr lang="en-US" sz="800" dirty="0"/>
          </a:p>
          <a:p>
            <a:pPr indent="0" marL="0">
              <a:buNone/>
            </a:pPr>
            <a:r>
              <a:rPr lang="en-US" sz="800" dirty="0">
                <a:solidFill>
                  <a:srgbClr val="FFFFFF"/>
                </a:solidFill>
                <a:latin typeface="Courier New" pitchFamily="34" charset="0"/>
                <a:ea typeface="Courier New" pitchFamily="34" charset="-122"/>
                <a:cs typeface="Courier New" pitchFamily="34" charset="-120"/>
              </a:rPr>
              <a:t>python -m uvicorn app.main:app --reload</a:t>
            </a:r>
            <a:endParaRPr lang="en-US" sz="800" dirty="0"/>
          </a:p>
          <a:p>
            <a:pPr indent="0" marL="0">
              <a:buNone/>
            </a:pPr>
            <a:endParaRPr lang="en-US" sz="800" dirty="0"/>
          </a:p>
          <a:p>
            <a:pPr indent="0" marL="0">
              <a:buNone/>
            </a:pPr>
            <a:r>
              <a:rPr lang="en-US" sz="800" dirty="0">
                <a:solidFill>
                  <a:srgbClr val="FFFFFF"/>
                </a:solidFill>
                <a:latin typeface="Courier New" pitchFamily="34" charset="0"/>
                <a:ea typeface="Courier New" pitchFamily="34" charset="-122"/>
                <a:cs typeface="Courier New" pitchFamily="34" charset="-120"/>
              </a:rPr>
              <a:t># ingest the bundled fixture</a:t>
            </a:r>
            <a:endParaRPr lang="en-US" sz="800" dirty="0"/>
          </a:p>
          <a:p>
            <a:pPr indent="0" marL="0">
              <a:buNone/>
            </a:pPr>
            <a:r>
              <a:rPr lang="en-US" sz="800" dirty="0">
                <a:solidFill>
                  <a:srgbClr val="FFFFFF"/>
                </a:solidFill>
                <a:latin typeface="Courier New" pitchFamily="34" charset="0"/>
                <a:ea typeface="Courier New" pitchFamily="34" charset="-122"/>
                <a:cs typeface="Courier New" pitchFamily="34" charset="-120"/>
              </a:rPr>
              <a:t>curl -X POST :8000/admin/ingest \</a:t>
            </a:r>
            <a:endParaRPr lang="en-US" sz="800" dirty="0"/>
          </a:p>
          <a:p>
            <a:pPr indent="0" marL="0">
              <a:buNone/>
            </a:pPr>
            <a:r>
              <a:rPr lang="en-US" sz="800" dirty="0">
                <a:solidFill>
                  <a:srgbClr val="FFFFFF"/>
                </a:solidFill>
                <a:latin typeface="Courier New" pitchFamily="34" charset="0"/>
                <a:ea typeface="Courier New" pitchFamily="34" charset="-122"/>
                <a:cs typeface="Courier New" pitchFamily="34" charset="-120"/>
              </a:rPr>
              <a:t>  -d '{"path":"app/evals/fixtures/..."}'</a:t>
            </a:r>
            <a:endParaRPr lang="en-US" sz="800" dirty="0"/>
          </a:p>
          <a:p>
            <a:pPr indent="0" marL="0">
              <a:buNone/>
            </a:pPr>
            <a:endParaRPr lang="en-US" sz="800" dirty="0"/>
          </a:p>
          <a:p>
            <a:pPr indent="0" marL="0">
              <a:buNone/>
            </a:pPr>
            <a:r>
              <a:rPr lang="en-US" sz="800" dirty="0">
                <a:solidFill>
                  <a:srgbClr val="FFFFFF"/>
                </a:solidFill>
                <a:latin typeface="Courier New" pitchFamily="34" charset="0"/>
                <a:ea typeface="Courier New" pitchFamily="34" charset="-122"/>
                <a:cs typeface="Courier New" pitchFamily="34" charset="-120"/>
              </a:rPr>
              <a:t># optional: local mode with Qdrant</a:t>
            </a:r>
            <a:endParaRPr lang="en-US" sz="800" dirty="0"/>
          </a:p>
          <a:p>
            <a:pPr indent="0" marL="0">
              <a:buNone/>
            </a:pPr>
            <a:r>
              <a:rPr lang="en-US" sz="800" dirty="0">
                <a:solidFill>
                  <a:srgbClr val="FFFFFF"/>
                </a:solidFill>
                <a:latin typeface="Courier New" pitchFamily="34" charset="0"/>
                <a:ea typeface="Courier New" pitchFamily="34" charset="-122"/>
                <a:cs typeface="Courier New" pitchFamily="34" charset="-120"/>
              </a:rPr>
              <a:t>export REGLENS_RAG_MODE=local</a:t>
            </a:r>
            <a:endParaRPr lang="en-US" sz="800" dirty="0"/>
          </a:p>
          <a:p>
            <a:pPr indent="0" marL="0">
              <a:buNone/>
            </a:pPr>
            <a:r>
              <a:rPr lang="en-US" sz="800" dirty="0">
                <a:solidFill>
                  <a:srgbClr val="FFFFFF"/>
                </a:solidFill>
                <a:latin typeface="Courier New" pitchFamily="34" charset="0"/>
                <a:ea typeface="Courier New" pitchFamily="34" charset="-122"/>
                <a:cs typeface="Courier New" pitchFamily="34" charset="-120"/>
              </a:rPr>
              <a:t>make qdrant-up</a:t>
            </a:r>
            <a:endParaRPr lang="en-US" sz="800" dirty="0"/>
          </a:p>
          <a:p>
            <a:pPr indent="0" marL="0">
              <a:buNone/>
            </a:pPr>
            <a:endParaRPr lang="en-US" sz="800" dirty="0"/>
          </a:p>
          <a:p>
            <a:pPr indent="0" marL="0">
              <a:buNone/>
            </a:pPr>
            <a:r>
              <a:rPr lang="en-US" sz="800" dirty="0">
                <a:solidFill>
                  <a:srgbClr val="FFFFFF"/>
                </a:solidFill>
                <a:latin typeface="Courier New" pitchFamily="34" charset="0"/>
                <a:ea typeface="Courier New" pitchFamily="34" charset="-122"/>
                <a:cs typeface="Courier New" pitchFamily="34" charset="-120"/>
              </a:rPr>
              <a:t># optional: live OpenAI</a:t>
            </a:r>
            <a:endParaRPr lang="en-US" sz="800" dirty="0"/>
          </a:p>
          <a:p>
            <a:pPr indent="0" marL="0">
              <a:buNone/>
            </a:pPr>
            <a:r>
              <a:rPr lang="en-US" sz="800" dirty="0">
                <a:solidFill>
                  <a:srgbClr val="FFFFFF"/>
                </a:solidFill>
                <a:latin typeface="Courier New" pitchFamily="34" charset="0"/>
                <a:ea typeface="Courier New" pitchFamily="34" charset="-122"/>
                <a:cs typeface="Courier New" pitchFamily="34" charset="-120"/>
              </a:rPr>
              <a:t>export OPENAI_API_KEY=&lt;key&gt;</a:t>
            </a:r>
            <a:endParaRPr lang="en-US" sz="800" dirty="0"/>
          </a:p>
          <a:p>
            <a:pPr indent="0" marL="0">
              <a:buNone/>
            </a:pPr>
            <a:r>
              <a:rPr lang="en-US" sz="800" dirty="0">
                <a:solidFill>
                  <a:srgbClr val="FFFFFF"/>
                </a:solidFill>
                <a:latin typeface="Courier New" pitchFamily="34" charset="0"/>
                <a:ea typeface="Courier New" pitchFamily="34" charset="-122"/>
                <a:cs typeface="Courier New" pitchFamily="34" charset="-120"/>
              </a:rPr>
              <a:t>make verify-openai</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1737360"/>
            <a:ext cx="804672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Questions</a:t>
            </a:r>
            <a:endParaRPr lang="en-US" sz="3400" dirty="0"/>
          </a:p>
        </p:txBody>
      </p:sp>
      <p:sp>
        <p:nvSpPr>
          <p:cNvPr id="3" name="Text 1"/>
          <p:cNvSpPr txBox="1"/>
          <p:nvPr/>
        </p:nvSpPr>
        <p:spPr>
          <a:xfrm>
            <a:off x="548640" y="2606040"/>
            <a:ext cx="8046720" cy="548640"/>
          </a:xfrm>
          <a:prstGeom prst="rect">
            <a:avLst/>
          </a:prstGeom>
          <a:noFill/>
          <a:ln/>
        </p:spPr>
        <p:txBody>
          <a:bodyPr wrap="square" lIns="0" tIns="0" rIns="0" bIns="0" rtlCol="0" anchor="ctr"/>
          <a:lstStyle/>
          <a:p>
            <a:pPr indent="0" marL="0">
              <a:buNone/>
            </a:pPr>
            <a:r>
              <a:rPr lang="en-US" sz="1500" i="1" dirty="0">
                <a:solidFill>
                  <a:srgbClr val="DCE7F5"/>
                </a:solidFill>
                <a:latin typeface="Calibri" pitchFamily="34" charset="0"/>
                <a:ea typeface="Calibri" pitchFamily="34" charset="-122"/>
                <a:cs typeface="Calibri" pitchFamily="34" charset="-120"/>
              </a:rPr>
              <a:t>RegLens · roshanrana/RegLens · main branch · README, OVERVIEW, SHOWCASE and OPERATIONS in the repository</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RegLens — AI Systems Architecture Review</dc:title>
  <dc:subject>PptxGenJS Presentation</dc:subject>
  <dc:creator>Roshan Rana</dc:creator>
  <cp:lastModifiedBy>Roshan Rana</cp:lastModifiedBy>
  <cp:revision>1</cp:revision>
  <dcterms:created xsi:type="dcterms:W3CDTF">2026-09-13T00:02:43Z</dcterms:created>
  <dcterms:modified xsi:type="dcterms:W3CDTF">2026-09-13T00:02:43Z</dcterms:modified>
</cp:coreProperties>
</file>